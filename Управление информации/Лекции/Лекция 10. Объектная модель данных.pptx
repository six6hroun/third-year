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652" r:id="rId3"/>
  </p:sldMasterIdLst>
  <p:notesMasterIdLst>
    <p:notesMasterId r:id="rId50"/>
  </p:notesMasterIdLst>
  <p:handoutMasterIdLst>
    <p:handoutMasterId r:id="rId51"/>
  </p:handoutMasterIdLst>
  <p:sldIdLst>
    <p:sldId id="330" r:id="rId4"/>
    <p:sldId id="552" r:id="rId5"/>
    <p:sldId id="591" r:id="rId6"/>
    <p:sldId id="592" r:id="rId7"/>
    <p:sldId id="593" r:id="rId8"/>
    <p:sldId id="595" r:id="rId9"/>
    <p:sldId id="596" r:id="rId10"/>
    <p:sldId id="597" r:id="rId11"/>
    <p:sldId id="598" r:id="rId12"/>
    <p:sldId id="600" r:id="rId13"/>
    <p:sldId id="601" r:id="rId14"/>
    <p:sldId id="599" r:id="rId15"/>
    <p:sldId id="602" r:id="rId16"/>
    <p:sldId id="603" r:id="rId17"/>
    <p:sldId id="604" r:id="rId18"/>
    <p:sldId id="605" r:id="rId19"/>
    <p:sldId id="606" r:id="rId20"/>
    <p:sldId id="607" r:id="rId21"/>
    <p:sldId id="646" r:id="rId22"/>
    <p:sldId id="608" r:id="rId23"/>
    <p:sldId id="609" r:id="rId24"/>
    <p:sldId id="610" r:id="rId25"/>
    <p:sldId id="511" r:id="rId26"/>
    <p:sldId id="512" r:id="rId27"/>
    <p:sldId id="611" r:id="rId28"/>
    <p:sldId id="612" r:id="rId29"/>
    <p:sldId id="620" r:id="rId30"/>
    <p:sldId id="647" r:id="rId31"/>
    <p:sldId id="648" r:id="rId32"/>
    <p:sldId id="649" r:id="rId33"/>
    <p:sldId id="650" r:id="rId34"/>
    <p:sldId id="651" r:id="rId35"/>
    <p:sldId id="652" r:id="rId36"/>
    <p:sldId id="654" r:id="rId37"/>
    <p:sldId id="655" r:id="rId38"/>
    <p:sldId id="656" r:id="rId39"/>
    <p:sldId id="657" r:id="rId40"/>
    <p:sldId id="658" r:id="rId41"/>
    <p:sldId id="659" r:id="rId42"/>
    <p:sldId id="660" r:id="rId43"/>
    <p:sldId id="661" r:id="rId44"/>
    <p:sldId id="662" r:id="rId45"/>
    <p:sldId id="663" r:id="rId46"/>
    <p:sldId id="664" r:id="rId47"/>
    <p:sldId id="665" r:id="rId48"/>
    <p:sldId id="550" r:id="rId49"/>
  </p:sldIdLst>
  <p:sldSz cx="9144000" cy="5143500" type="screen16x9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ABDB77"/>
    <a:srgbClr val="F1F3F1"/>
    <a:srgbClr val="33CC33"/>
    <a:srgbClr val="9681AB"/>
    <a:srgbClr val="FFCD2D"/>
    <a:srgbClr val="EAD9B4"/>
    <a:srgbClr val="C89800"/>
    <a:srgbClr val="CC33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Средний стиль 3 -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968" autoAdjust="0"/>
  </p:normalViewPr>
  <p:slideViewPr>
    <p:cSldViewPr>
      <p:cViewPr varScale="1">
        <p:scale>
          <a:sx n="110" d="100"/>
          <a:sy n="110" d="100"/>
        </p:scale>
        <p:origin x="686" y="77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326" y="77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A5047A-564B-4049-B33E-ABAAD6DCDEC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5731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00A0A8-AB5C-4C32-B4F6-5DC54282A0F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6280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A0A8-AB5C-4C32-B4F6-5DC54282A0FB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703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A0A8-AB5C-4C32-B4F6-5DC54282A0FB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74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altLang="ru-RU" sz="1200" dirty="0">
              <a:latin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A0A8-AB5C-4C32-B4F6-5DC54282A0FB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72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951310"/>
            <a:ext cx="4267200" cy="3849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951310"/>
            <a:ext cx="4267200" cy="3849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41685"/>
            <a:ext cx="2171700" cy="465891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41685"/>
            <a:ext cx="6362700" cy="465891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41685"/>
            <a:ext cx="8686800" cy="756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51310"/>
            <a:ext cx="8686800" cy="3849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, um Master-</a:t>
            </a:r>
            <a:r>
              <a:rPr lang="en-US" dirty="0" err="1"/>
              <a:t>Textformat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411654" name="Text Box 6"/>
          <p:cNvSpPr txBox="1">
            <a:spLocks noChangeArrowheads="1"/>
          </p:cNvSpPr>
          <p:nvPr userDrawn="1"/>
        </p:nvSpPr>
        <p:spPr bwMode="auto">
          <a:xfrm>
            <a:off x="956923" y="4747632"/>
            <a:ext cx="68226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Языки </a:t>
            </a:r>
            <a:r>
              <a:rPr lang="en-US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</a:t>
            </a:r>
            <a:r>
              <a:rPr lang="ru-RU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en-US" sz="1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QBE</a:t>
            </a:r>
            <a:endParaRPr lang="ru-RU" sz="14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71406" y="4643826"/>
            <a:ext cx="900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71406" y="465535"/>
            <a:ext cx="900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58148" y="4747632"/>
            <a:ext cx="92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4EDDE1-E9E6-49D4-91C2-19A774C0723D}" type="slidenum">
              <a:rPr lang="ru-RU" sz="1400" b="1" i="1" baseline="0" smtClean="0">
                <a:solidFill>
                  <a:srgbClr val="C00000"/>
                </a:solidFill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ru-RU" sz="1400" b="1" i="1" baseline="0" dirty="0">
                <a:solidFill>
                  <a:srgbClr val="C00000"/>
                </a:solidFill>
              </a:rPr>
              <a:t>  / </a:t>
            </a:r>
            <a:r>
              <a:rPr lang="en-US" sz="1400" b="1" i="1" baseline="0" dirty="0">
                <a:solidFill>
                  <a:srgbClr val="C00000"/>
                </a:solidFill>
              </a:rPr>
              <a:t>45</a:t>
            </a:r>
            <a:endParaRPr lang="ru-RU" sz="1400" b="1" i="1" dirty="0">
              <a:solidFill>
                <a:srgbClr val="C00000"/>
              </a:solidFill>
            </a:endParaRPr>
          </a:p>
        </p:txBody>
      </p:sp>
      <p:pic>
        <p:nvPicPr>
          <p:cNvPr id="11" name="Picture 4" descr="logotre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79512" y="4687186"/>
            <a:ext cx="574553" cy="42866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171450"/>
            <a:ext cx="77724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1943100"/>
            <a:ext cx="64008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endParaRPr lang="de-DE" sz="320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1723729" y="4374576"/>
            <a:ext cx="604867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0099"/>
                </a:solidFill>
              </a:rPr>
              <a:t>Кубанский</a:t>
            </a:r>
            <a:r>
              <a:rPr lang="ru-RU" sz="1400" b="1" baseline="0" dirty="0">
                <a:solidFill>
                  <a:srgbClr val="000099"/>
                </a:solidFill>
              </a:rPr>
              <a:t> государственный университет</a:t>
            </a:r>
            <a:endParaRPr lang="ru-RU" sz="1400" b="1" dirty="0">
              <a:solidFill>
                <a:srgbClr val="000099"/>
              </a:solidFill>
            </a:endParaRPr>
          </a:p>
          <a:p>
            <a:pPr algn="ctr" eaLnBrk="0" hangingPunct="0"/>
            <a:r>
              <a:rPr lang="ru-RU" sz="1400" b="1" dirty="0">
                <a:solidFill>
                  <a:srgbClr val="000099"/>
                </a:solidFill>
              </a:rPr>
              <a:t>Кафедра математического моделирования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0099"/>
                </a:solidFill>
              </a:rPr>
              <a:t>Факультет компьютерных</a:t>
            </a:r>
            <a:r>
              <a:rPr lang="ru-RU" sz="1400" b="1" baseline="0" dirty="0">
                <a:solidFill>
                  <a:srgbClr val="000099"/>
                </a:solidFill>
              </a:rPr>
              <a:t> технологий и прикладной математики</a:t>
            </a:r>
            <a:endParaRPr lang="de-DE" sz="1400" b="1" dirty="0">
              <a:solidFill>
                <a:srgbClr val="000099"/>
              </a:solidFill>
            </a:endParaRPr>
          </a:p>
        </p:txBody>
      </p:sp>
      <p:pic>
        <p:nvPicPr>
          <p:cNvPr id="10" name="Picture 4" descr="logotre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77843" y="4421563"/>
            <a:ext cx="864096" cy="64469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685800" y="171450"/>
            <a:ext cx="77724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506883" name="Rectangle 3"/>
          <p:cNvSpPr>
            <a:spLocks noChangeArrowheads="1"/>
          </p:cNvSpPr>
          <p:nvPr/>
        </p:nvSpPr>
        <p:spPr bwMode="auto">
          <a:xfrm>
            <a:off x="1371600" y="1943100"/>
            <a:ext cx="64008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ailto:1@User.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211" y="2515867"/>
            <a:ext cx="9144000" cy="1568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/>
          <a:lstStyle/>
          <a:p>
            <a:pPr algn="ctr"/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Лекция </a:t>
            </a:r>
            <a:r>
              <a:rPr lang="en-US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Объектная модель данных</a:t>
            </a:r>
          </a:p>
          <a:p>
            <a:pPr algn="ctr"/>
            <a:endParaRPr lang="ru-RU" sz="20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Евдокимов А.А., </a:t>
            </a:r>
            <a:r>
              <a:rPr lang="en-US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e-mail: evdokimovmail27@gmail.com</a:t>
            </a:r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sz="20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3" y="140887"/>
            <a:ext cx="4248473" cy="14227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Прямоугольник 1"/>
          <p:cNvSpPr/>
          <p:nvPr/>
        </p:nvSpPr>
        <p:spPr>
          <a:xfrm>
            <a:off x="0" y="170765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Базы данных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00000"/>
                </a:solidFill>
              </a:rPr>
              <a:t>Цели лекции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5AD3A4-90A0-4FC4-A347-0A87F9BD94A1}"/>
              </a:ext>
            </a:extLst>
          </p:cNvPr>
          <p:cNvSpPr/>
          <p:nvPr/>
        </p:nvSpPr>
        <p:spPr>
          <a:xfrm>
            <a:off x="1043608" y="461651"/>
            <a:ext cx="7056784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</a:rPr>
              <a:t>Существует два основных варианта реализации объектной парадигмы в базах данных – объектное расширение модели данных </a:t>
            </a:r>
            <a:r>
              <a:rPr lang="en-US" sz="1400" dirty="0">
                <a:solidFill>
                  <a:srgbClr val="000099"/>
                </a:solidFill>
              </a:rPr>
              <a:t>SQL</a:t>
            </a:r>
            <a:r>
              <a:rPr lang="ru-RU" sz="1400" dirty="0">
                <a:solidFill>
                  <a:srgbClr val="000099"/>
                </a:solidFill>
              </a:rPr>
              <a:t> 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объектная модель </a:t>
            </a:r>
            <a:r>
              <a:rPr lang="en-US" sz="1400" dirty="0">
                <a:solidFill>
                  <a:srgbClr val="000099"/>
                </a:solidFill>
              </a:rPr>
              <a:t>ODMG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  <a:p>
            <a:pPr indent="360000" algn="just">
              <a:spcAft>
                <a:spcPts val="600"/>
              </a:spcAft>
            </a:pPr>
            <a:endParaRPr lang="ru-RU" sz="1400" dirty="0">
              <a:solidFill>
                <a:srgbClr val="000099"/>
              </a:solidFill>
            </a:endParaRPr>
          </a:p>
          <a:p>
            <a:pPr indent="360000" algn="just"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</a:rPr>
              <a:t>Заметим, что в этом курсе мы будем говорить только о моделях стандартов   </a:t>
            </a:r>
            <a:r>
              <a:rPr lang="en-US" sz="1400" dirty="0">
                <a:solidFill>
                  <a:srgbClr val="000099"/>
                </a:solidFill>
              </a:rPr>
              <a:t>ODMG 3.0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en-US" sz="1400" dirty="0">
                <a:solidFill>
                  <a:srgbClr val="000099"/>
                </a:solidFill>
              </a:rPr>
              <a:t>SQL:2003</a:t>
            </a:r>
            <a:r>
              <a:rPr lang="ru-RU" sz="1400" dirty="0">
                <a:solidFill>
                  <a:srgbClr val="000099"/>
                </a:solidFill>
              </a:rPr>
              <a:t> и то довольно неявно и без выяснения подробностей.  </a:t>
            </a:r>
          </a:p>
          <a:p>
            <a:pPr indent="360000" algn="just">
              <a:spcAft>
                <a:spcPts val="600"/>
              </a:spcAft>
            </a:pPr>
            <a:endParaRPr lang="ru-RU" sz="1400" dirty="0">
              <a:solidFill>
                <a:srgbClr val="000099"/>
              </a:solidFill>
            </a:endParaRPr>
          </a:p>
          <a:p>
            <a:pPr indent="360000" algn="just"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</a:rPr>
              <a:t>В настоящей лекции рассмотрим один из возможных вариантов реализации объектной модели </a:t>
            </a:r>
            <a:r>
              <a:rPr lang="en-US" sz="1400" dirty="0">
                <a:solidFill>
                  <a:srgbClr val="000099"/>
                </a:solidFill>
              </a:rPr>
              <a:t>ODMG</a:t>
            </a:r>
            <a:r>
              <a:rPr lang="ru-RU" sz="1400" dirty="0">
                <a:solidFill>
                  <a:srgbClr val="000099"/>
                </a:solidFill>
              </a:rPr>
              <a:t> в СУБД </a:t>
            </a:r>
            <a:r>
              <a:rPr lang="en-US" sz="1400" dirty="0" err="1">
                <a:solidFill>
                  <a:srgbClr val="000099"/>
                </a:solidFill>
              </a:rPr>
              <a:t>Caché</a:t>
            </a:r>
            <a:r>
              <a:rPr lang="en-US" sz="1400" dirty="0">
                <a:solidFill>
                  <a:srgbClr val="000099"/>
                </a:solidFill>
              </a:rPr>
              <a:t> .</a:t>
            </a:r>
            <a:r>
              <a:rPr lang="ru-RU" sz="1400" dirty="0">
                <a:solidFill>
                  <a:srgbClr val="000099"/>
                </a:solidFill>
              </a:rPr>
              <a:t> Выбор этой СУБД для курса введения в базы данных сделан потому, что только в </a:t>
            </a:r>
            <a:r>
              <a:rPr lang="en-US" sz="1400" dirty="0" err="1">
                <a:solidFill>
                  <a:srgbClr val="000099"/>
                </a:solidFill>
              </a:rPr>
              <a:t>Caché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можно изучать объектную, реляционную и иерархическую модели данных и, самое главное, без дополнительных усилий наблюдать их взаимодействия. </a:t>
            </a:r>
          </a:p>
          <a:p>
            <a:pPr indent="360000" algn="just">
              <a:spcAft>
                <a:spcPts val="600"/>
              </a:spcAft>
            </a:pPr>
            <a:endParaRPr lang="ru-RU" sz="1400" dirty="0">
              <a:solidFill>
                <a:srgbClr val="000099"/>
              </a:solidFill>
            </a:endParaRPr>
          </a:p>
          <a:p>
            <a:pPr indent="360000" algn="just"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</a:rPr>
              <a:t>Сравнения объектных моделей будут проведены после изучения объектной (в </a:t>
            </a:r>
            <a:r>
              <a:rPr lang="en-US" sz="1400" dirty="0" err="1">
                <a:solidFill>
                  <a:srgbClr val="000099"/>
                </a:solidFill>
              </a:rPr>
              <a:t>Caché</a:t>
            </a:r>
            <a:r>
              <a:rPr lang="ru-RU" sz="1400" dirty="0">
                <a:solidFill>
                  <a:srgbClr val="000099"/>
                </a:solidFill>
              </a:rPr>
              <a:t>) и объектно-реляционной (объектное расширение </a:t>
            </a:r>
            <a:r>
              <a:rPr lang="en-US" sz="1400" dirty="0">
                <a:solidFill>
                  <a:srgbClr val="000099"/>
                </a:solidFill>
              </a:rPr>
              <a:t>SQL</a:t>
            </a:r>
            <a:r>
              <a:rPr lang="ru-RU" sz="1400" dirty="0">
                <a:solidFill>
                  <a:srgbClr val="000099"/>
                </a:solidFill>
              </a:rPr>
              <a:t> в </a:t>
            </a:r>
            <a:r>
              <a:rPr lang="en-US" sz="1400" dirty="0">
                <a:solidFill>
                  <a:srgbClr val="000099"/>
                </a:solidFill>
              </a:rPr>
              <a:t>Oracle</a:t>
            </a:r>
            <a:r>
              <a:rPr lang="ru-RU" sz="1400" dirty="0">
                <a:solidFill>
                  <a:srgbClr val="000099"/>
                </a:solidFill>
              </a:rPr>
              <a:t>)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моделей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75756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Зачем нужны объекты в базах данных?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07A36A2-6C3D-4345-930E-1DCAA8721A43}"/>
              </a:ext>
            </a:extLst>
          </p:cNvPr>
          <p:cNvSpPr/>
          <p:nvPr/>
        </p:nvSpPr>
        <p:spPr>
          <a:xfrm>
            <a:off x="971600" y="461651"/>
            <a:ext cx="6912768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buNone/>
            </a:pPr>
            <a:r>
              <a:rPr lang="ru-RU" sz="1400" dirty="0">
                <a:solidFill>
                  <a:srgbClr val="000099"/>
                </a:solidFill>
              </a:rPr>
              <a:t>Реально существующие объекты характеризуются </a:t>
            </a:r>
            <a:r>
              <a:rPr lang="ru-RU" sz="1400" b="1" dirty="0">
                <a:solidFill>
                  <a:srgbClr val="000099"/>
                </a:solidFill>
              </a:rPr>
              <a:t>состояниями</a:t>
            </a:r>
            <a:r>
              <a:rPr lang="ru-RU" sz="1400" dirty="0">
                <a:solidFill>
                  <a:srgbClr val="000099"/>
                </a:solidFill>
              </a:rPr>
              <a:t>, которые могут изменяться после наступления некоторых </a:t>
            </a:r>
            <a:r>
              <a:rPr lang="ru-RU" sz="1400" b="1" dirty="0">
                <a:solidFill>
                  <a:srgbClr val="000099"/>
                </a:solidFill>
              </a:rPr>
              <a:t>событий.</a:t>
            </a:r>
          </a:p>
          <a:p>
            <a:pPr indent="360000" algn="just">
              <a:buNone/>
            </a:pPr>
            <a:r>
              <a:rPr lang="ru-RU" sz="1400" dirty="0">
                <a:solidFill>
                  <a:srgbClr val="000099"/>
                </a:solidFill>
              </a:rPr>
              <a:t>Для реляционной и </a:t>
            </a:r>
            <a:r>
              <a:rPr lang="en-US" sz="1400" dirty="0">
                <a:solidFill>
                  <a:srgbClr val="000099"/>
                </a:solidFill>
              </a:rPr>
              <a:t>ER-</a:t>
            </a:r>
            <a:r>
              <a:rPr lang="ru-RU" sz="1400" dirty="0">
                <a:solidFill>
                  <a:srgbClr val="000099"/>
                </a:solidFill>
              </a:rPr>
              <a:t>моделей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описание </a:t>
            </a:r>
            <a:r>
              <a:rPr lang="ru-RU" sz="1400" b="1" dirty="0">
                <a:solidFill>
                  <a:srgbClr val="000099"/>
                </a:solidFill>
              </a:rPr>
              <a:t>жизненных циклов  </a:t>
            </a:r>
            <a:r>
              <a:rPr lang="ru-RU" sz="1400" dirty="0">
                <a:solidFill>
                  <a:srgbClr val="000099"/>
                </a:solidFill>
              </a:rPr>
              <a:t>(т.е. последовательностей состояний) и самих состояний возможны, но связаны с определёнными трудностями. </a:t>
            </a:r>
          </a:p>
          <a:p>
            <a:pPr indent="360000" algn="just">
              <a:buNone/>
            </a:pPr>
            <a:r>
              <a:rPr lang="ru-RU" sz="1400" dirty="0">
                <a:solidFill>
                  <a:srgbClr val="000099"/>
                </a:solidFill>
              </a:rPr>
              <a:t>Моделирование</a:t>
            </a:r>
            <a:r>
              <a:rPr lang="en-US" sz="1400" dirty="0">
                <a:solidFill>
                  <a:srgbClr val="000099"/>
                </a:solidFill>
              </a:rPr>
              <a:t>:</a:t>
            </a:r>
            <a:endParaRPr lang="ru-RU" sz="1400" dirty="0">
              <a:solidFill>
                <a:srgbClr val="000099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динамических связей </a:t>
            </a:r>
            <a:r>
              <a:rPr lang="ru-RU" sz="1400" dirty="0">
                <a:solidFill>
                  <a:srgbClr val="000099"/>
                </a:solidFill>
              </a:rPr>
              <a:t>между объектами (связь имеет состояния, может создаваться, изменяться, уничтожаться),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сообщений</a:t>
            </a:r>
            <a:r>
              <a:rPr lang="ru-RU" sz="1400" dirty="0">
                <a:solidFill>
                  <a:srgbClr val="000099"/>
                </a:solidFill>
              </a:rPr>
              <a:t>, которыми могут обмениваться объекты в модели,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выполнения объектами </a:t>
            </a:r>
            <a:r>
              <a:rPr lang="ru-RU" sz="1400" b="1" dirty="0">
                <a:solidFill>
                  <a:srgbClr val="000099"/>
                </a:solidFill>
              </a:rPr>
              <a:t>действий.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</a:p>
          <a:p>
            <a:pPr indent="360000" algn="just">
              <a:buNone/>
            </a:pPr>
            <a:r>
              <a:rPr lang="ru-RU" sz="1400" dirty="0">
                <a:solidFill>
                  <a:srgbClr val="000099"/>
                </a:solidFill>
              </a:rPr>
              <a:t>не предусмотрены базовой семантикой этих моделей и потому или невозможны, или требуют дополнительных усилий.</a:t>
            </a:r>
          </a:p>
          <a:p>
            <a:pPr indent="360000" algn="just">
              <a:buNone/>
            </a:pPr>
            <a:r>
              <a:rPr lang="ru-RU" sz="1400" b="1" u="sng" dirty="0">
                <a:solidFill>
                  <a:srgbClr val="000099"/>
                </a:solidFill>
              </a:rPr>
              <a:t>Пример</a:t>
            </a:r>
            <a:r>
              <a:rPr lang="ru-RU" sz="1400" b="1" dirty="0">
                <a:solidFill>
                  <a:srgbClr val="000099"/>
                </a:solidFill>
              </a:rPr>
              <a:t>: </a:t>
            </a:r>
            <a:r>
              <a:rPr lang="ru-RU" sz="1400" dirty="0">
                <a:solidFill>
                  <a:srgbClr val="000099"/>
                </a:solidFill>
              </a:rPr>
              <a:t>состояния сущности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ru-RU" sz="1400" dirty="0">
                <a:solidFill>
                  <a:srgbClr val="000099"/>
                </a:solidFill>
              </a:rPr>
              <a:t>Заказ</a:t>
            </a:r>
            <a:r>
              <a:rPr lang="en-US" sz="1400" dirty="0">
                <a:solidFill>
                  <a:srgbClr val="000099"/>
                </a:solidFill>
              </a:rPr>
              <a:t>”</a:t>
            </a:r>
            <a:r>
              <a:rPr lang="ru-RU" sz="1400" dirty="0">
                <a:solidFill>
                  <a:srgbClr val="000099"/>
                </a:solidFill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авансирован,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выполняется,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приостановлен,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оплачен,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завершён,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принят.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A90D76-042E-424D-81E6-3FE517A920C0}"/>
              </a:ext>
            </a:extLst>
          </p:cNvPr>
          <p:cNvSpPr/>
          <p:nvPr/>
        </p:nvSpPr>
        <p:spPr bwMode="auto">
          <a:xfrm>
            <a:off x="4644008" y="3075806"/>
            <a:ext cx="3528392" cy="1440160"/>
          </a:xfrm>
          <a:prstGeom prst="rect">
            <a:avLst/>
          </a:prstGeom>
          <a:solidFill>
            <a:schemeClr val="bg2">
              <a:lumMod val="40000"/>
              <a:lumOff val="60000"/>
              <a:alpha val="23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indent="36000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Что делать, если необходимо </a:t>
            </a:r>
            <a:r>
              <a:rPr kumimoji="0" lang="ru-RU" sz="1400" b="0" i="0" u="none" strike="noStrike" cap="none" normalizeH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описывать действия и сообщения?</a:t>
            </a:r>
            <a:endParaRPr lang="ru-RU" sz="1400" baseline="0" dirty="0">
              <a:solidFill>
                <a:schemeClr val="accent1">
                  <a:lumMod val="50000"/>
                </a:schemeClr>
              </a:solidFill>
              <a:latin typeface="Arial" charset="0"/>
            </a:endParaRP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1400" b="0" i="0" u="none" strike="noStrike" cap="none" normalizeH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Использовать процедурные языки в дополнение к</a:t>
            </a:r>
            <a:r>
              <a:rPr kumimoji="0" lang="en-US" sz="1400" b="0" i="0" u="none" strike="noStrike" cap="none" normalizeH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 SQL</a:t>
            </a:r>
            <a:r>
              <a:rPr kumimoji="0" lang="ru-RU" sz="1400" b="0" i="0" u="none" strike="noStrike" cap="none" normalizeH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charset="0"/>
              </a:rPr>
              <a:t>, но это не решает всех проблем.</a:t>
            </a:r>
            <a:endParaRPr kumimoji="0" lang="en-US" sz="1400" b="0" i="0" u="none" strike="noStrike" cap="none" normalizeH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charset="0"/>
            </a:endParaRPr>
          </a:p>
          <a:p>
            <a:pPr marL="342900" marR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rgbClr val="BBE0E3">
                    <a:lumMod val="50000"/>
                  </a:srgbClr>
                </a:solidFill>
                <a:latin typeface="Arial" charset="0"/>
              </a:rPr>
              <a:t>Переходить к объектным моделям.</a:t>
            </a:r>
          </a:p>
        </p:txBody>
      </p:sp>
    </p:spTree>
    <p:extLst>
      <p:ext uri="{BB962C8B-B14F-4D97-AF65-F5344CB8AC3E}">
        <p14:creationId xmlns:p14="http://schemas.microsoft.com/office/powerpoint/2010/main" val="222385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1800" b="1" dirty="0">
                <a:solidFill>
                  <a:srgbClr val="CE2816"/>
                </a:solidFill>
              </a:rPr>
              <a:t>Особенности архитектуры </a:t>
            </a:r>
            <a:r>
              <a:rPr lang="en-US" sz="1800" b="1" dirty="0" err="1">
                <a:solidFill>
                  <a:srgbClr val="CE2816"/>
                </a:solidFill>
              </a:rPr>
              <a:t>Caché</a:t>
            </a:r>
            <a:endParaRPr lang="ru-RU" sz="1800" b="1" dirty="0">
              <a:solidFill>
                <a:srgbClr val="C00000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8D94511-6E3D-4E35-B9CF-B12E822C5500}"/>
              </a:ext>
            </a:extLst>
          </p:cNvPr>
          <p:cNvSpPr/>
          <p:nvPr/>
        </p:nvSpPr>
        <p:spPr>
          <a:xfrm>
            <a:off x="1079612" y="458081"/>
            <a:ext cx="6984776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Объектная система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é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построена на объектном расширении персистентного языка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ObjectScript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 Уникальная особенность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é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в том, что она позволяет работать с данными одновременно в объектной, реляционной и иерархической моделях, не программируя никаких отображений (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mappings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). Легко получаемые в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é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дедуктивная,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полуструктурированная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и другие модели, включая так называемые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NoSQL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позволяют считать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é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полимодельной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СУБД.</a:t>
            </a:r>
          </a:p>
          <a:p>
            <a:pPr indent="360000" algn="ctr">
              <a:spcAft>
                <a:spcPts val="600"/>
              </a:spcAft>
              <a:buNone/>
            </a:pPr>
            <a:r>
              <a:rPr lang="ru-RU" sz="1400" u="sng" dirty="0">
                <a:solidFill>
                  <a:srgbClr val="000099"/>
                </a:solidFill>
                <a:latin typeface="+mn-lt"/>
              </a:rPr>
              <a:t>Универсальная архитектура </a:t>
            </a:r>
            <a:r>
              <a:rPr lang="ru-RU" sz="1400" u="sng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u="sng" dirty="0">
                <a:solidFill>
                  <a:srgbClr val="000099"/>
                </a:solidFill>
                <a:latin typeface="+mn-lt"/>
              </a:rPr>
              <a:t>é </a:t>
            </a:r>
          </a:p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В универсальной архитектуре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é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(см. след. слайд) данные и объектов и таблиц отображаются в многомерные структуры в виде разреженных массивов, хранением которых заведует механизм многомерной памяти.</a:t>
            </a:r>
            <a:endParaRPr lang="en-US" sz="1400" dirty="0">
              <a:solidFill>
                <a:srgbClr val="000099"/>
              </a:solidFill>
              <a:latin typeface="+mn-lt"/>
            </a:endParaRPr>
          </a:p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Унифицированные структуры данных доступны и серверу объектов и SQL-серверу. Программное обеспечение промежуточного уровня может обращаться к одному из этих серверов. Шлюз SQL позволяет обмениваться данными с другими базами реляционного типа.</a:t>
            </a:r>
          </a:p>
        </p:txBody>
      </p:sp>
    </p:spTree>
    <p:extLst>
      <p:ext uri="{BB962C8B-B14F-4D97-AF65-F5344CB8AC3E}">
        <p14:creationId xmlns:p14="http://schemas.microsoft.com/office/powerpoint/2010/main" val="134153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Универсальная архитектура </a:t>
            </a:r>
            <a:r>
              <a:rPr lang="en-US" sz="2000" b="1" dirty="0" err="1">
                <a:solidFill>
                  <a:srgbClr val="CE2816"/>
                </a:solidFill>
              </a:rPr>
              <a:t>Caché</a:t>
            </a:r>
            <a:endParaRPr lang="ru-RU" sz="2000" b="1" dirty="0">
              <a:solidFill>
                <a:srgbClr val="000099"/>
              </a:solidFill>
            </a:endParaRP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A4A17DD7-B2C0-4F57-B38F-760A7328B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942651"/>
            <a:ext cx="5616624" cy="1729809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0DF39EE-5A62-45C5-AE5F-BC6159202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425" y="537928"/>
            <a:ext cx="4877150" cy="2328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880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Система классов </a:t>
            </a:r>
            <a:r>
              <a:rPr lang="en-US" sz="2000" b="1" dirty="0" err="1">
                <a:solidFill>
                  <a:srgbClr val="CE2816"/>
                </a:solidFill>
              </a:rPr>
              <a:t>Caché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7E2E6-A054-4EEE-A5A3-667D1490D169}"/>
              </a:ext>
            </a:extLst>
          </p:cNvPr>
          <p:cNvSpPr txBox="1"/>
          <p:nvPr/>
        </p:nvSpPr>
        <p:spPr>
          <a:xfrm>
            <a:off x="1259632" y="461651"/>
            <a:ext cx="6624736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Как всегда, класс задаёт шаблон, по которому создаются объекты определённого им типа. Объект — это экземпляр класса. Метод это  функции или процедуры класса или объекта, определяющие его поведение. </a:t>
            </a:r>
            <a:r>
              <a:rPr lang="ru-RU" sz="1400" b="1" dirty="0">
                <a:solidFill>
                  <a:srgbClr val="000099"/>
                </a:solidFill>
                <a:latin typeface="+mn-lt"/>
              </a:rPr>
              <a:t>Свойства класса не используются для идентификации объектов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как в реляционной модели. Эту роль играют два идентификатора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OID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и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OREF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аналоги суррогатных ключей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.</a:t>
            </a:r>
            <a:endParaRPr lang="ru-RU" sz="1400" dirty="0">
              <a:solidFill>
                <a:srgbClr val="000099"/>
              </a:solidFill>
              <a:latin typeface="+mn-lt"/>
            </a:endParaRPr>
          </a:p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Немного о классах и типах.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С некоторой натяжкой можно считать понятия класса и типа синонимами. (Учтём, что как и в естественных языках, объёмы понятий-синонимов перекрываются, но не совпадают).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Классы выстраиваются в иерархию через наследование, а типы через отношение тип - подтип.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Предопределённые типы данных инкапсулированы, то есть их определения не доступны для изменения. Однако,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пользовательские типы открыты. Для типов данных не существуют экземпляры типа.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В текущем разделе мы рассматриваем объектную систему построенную на классах. А в объектно-реляционной модели начнём с типов.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2C8E543-3917-4BA3-B576-5546C7659D35}"/>
              </a:ext>
            </a:extLst>
          </p:cNvPr>
          <p:cNvSpPr/>
          <p:nvPr/>
        </p:nvSpPr>
        <p:spPr bwMode="auto">
          <a:xfrm>
            <a:off x="4692533" y="1635646"/>
            <a:ext cx="3168352" cy="36004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kumimoji="0" lang="ru-RU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О странностях терминологии </a:t>
            </a:r>
            <a:r>
              <a:rPr lang="ru-RU" sz="1400" kern="0" dirty="0">
                <a:solidFill>
                  <a:schemeClr val="accent1">
                    <a:lumMod val="75000"/>
                  </a:schemeClr>
                </a:solidFill>
              </a:rPr>
              <a:t>Cach</a:t>
            </a:r>
            <a:r>
              <a:rPr lang="en-US" sz="1400" kern="0" dirty="0">
                <a:solidFill>
                  <a:schemeClr val="accent1">
                    <a:lumMod val="75000"/>
                  </a:schemeClr>
                </a:solidFill>
              </a:rPr>
              <a:t>é</a:t>
            </a:r>
            <a:r>
              <a:rPr lang="ru-RU" sz="14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kumimoji="0" lang="ru-RU" sz="1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9493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Система классов </a:t>
            </a:r>
            <a:r>
              <a:rPr lang="en-US" sz="2000" b="1" dirty="0" err="1">
                <a:solidFill>
                  <a:srgbClr val="CE2816"/>
                </a:solidFill>
              </a:rPr>
              <a:t>Caché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FB962-DFA4-4047-A90E-74E8EA20B25C}"/>
              </a:ext>
            </a:extLst>
          </p:cNvPr>
          <p:cNvSpPr txBox="1"/>
          <p:nvPr/>
        </p:nvSpPr>
        <p:spPr>
          <a:xfrm>
            <a:off x="1115615" y="2774900"/>
            <a:ext cx="6912769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В </a:t>
            </a:r>
            <a:r>
              <a:rPr lang="ru-RU" sz="1400" dirty="0" err="1">
                <a:solidFill>
                  <a:srgbClr val="000099"/>
                </a:solidFill>
                <a:latin typeface="+mj-lt"/>
              </a:rPr>
              <a:t>Cache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 принята следующая </a:t>
            </a:r>
            <a:r>
              <a:rPr lang="ru-RU" sz="1400" b="1" dirty="0">
                <a:solidFill>
                  <a:srgbClr val="000099"/>
                </a:solidFill>
                <a:latin typeface="+mj-lt"/>
              </a:rPr>
              <a:t>нестандартная терминология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. Классы вообще подразделяются на классы типов данных и классы объектов. Классы типов данных определяют допустимые значения констант (литералов), операции над ними и отношения между ними. Классы типов данных содержат предопределённые наборы методов проверки и приведения значений атрибутов к другим типам.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Незарегистрированные классы (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Non-registered Classes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)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предназначены для создания пользовательской объектной системы. Мы с ними работать не будем.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72A76B8-B8DA-4E90-820E-171A49564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149" y="475774"/>
            <a:ext cx="6047699" cy="229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F31961-75FB-4B9D-BEE4-551CB943F09B}"/>
              </a:ext>
            </a:extLst>
          </p:cNvPr>
          <p:cNvSpPr/>
          <p:nvPr/>
        </p:nvSpPr>
        <p:spPr>
          <a:xfrm>
            <a:off x="6299948" y="534136"/>
            <a:ext cx="1512168" cy="695876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Аналог классов языков общего назначения</a:t>
            </a: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76C8D59F-1FB7-4AC7-96E0-0592BC2B728B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5724128" y="882074"/>
            <a:ext cx="575820" cy="825580"/>
          </a:xfrm>
          <a:prstGeom prst="bentConnector2">
            <a:avLst/>
          </a:prstGeom>
          <a:ln w="28575"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09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Система классов </a:t>
            </a:r>
            <a:r>
              <a:rPr lang="en-US" sz="2000" b="1" dirty="0" err="1">
                <a:solidFill>
                  <a:srgbClr val="CE2816"/>
                </a:solidFill>
              </a:rPr>
              <a:t>Caché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FA77280-451F-41D5-9DDC-A0B781B9C03C}"/>
              </a:ext>
            </a:extLst>
          </p:cNvPr>
          <p:cNvSpPr/>
          <p:nvPr/>
        </p:nvSpPr>
        <p:spPr>
          <a:xfrm>
            <a:off x="1331640" y="461651"/>
            <a:ext cx="648072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Зарегистрированные классы обладают предопределенным поведением, задаваемым набором встроенных функций, наследуемых из системного класса %</a:t>
            </a:r>
            <a:r>
              <a:rPr lang="en-US" sz="1400" dirty="0" err="1">
                <a:solidFill>
                  <a:srgbClr val="000099"/>
                </a:solidFill>
                <a:latin typeface="+mn-lt"/>
                <a:ea typeface="Times New Roman"/>
              </a:rPr>
              <a:t>RegisteredObject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Times New Roman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(знак процента определяет системность класса или метода) и отвечающих за создание новых объектов и за управление размещением объектов в памяти. В постоянной памяти не сохраняются.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Зарегистрированные классы делятся на хранимые и встраиваемые. Хранимые классы это потомки класса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Times New Roman"/>
              </a:rPr>
              <a:t>%Persistent. 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Они хранятся независимо и потому имеют уникальную и неизменяемую объектную ссылку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Times New Roman"/>
              </a:rPr>
              <a:t>OID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, по которой объект может быть найден на диске, и ссылку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Times New Roman"/>
              </a:rPr>
              <a:t>OREF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 для обращения к ним в памяти. Хранимые классы используют весь набор методов класса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Times New Roman"/>
              </a:rPr>
              <a:t>%Persistent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Times New Roman"/>
              </a:rPr>
              <a:t>. Здесь конструкторы, методы подкачки объектов, удаления объектов и т.д. 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Встраиваемые, они же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сериализируемые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классы наследуют своё поведение от класса </a:t>
            </a:r>
            <a:r>
              <a:rPr lang="en-US" sz="1400" kern="1200" dirty="0">
                <a:solidFill>
                  <a:srgbClr val="000099"/>
                </a:solidFill>
                <a:latin typeface="+mn-lt"/>
              </a:rPr>
              <a:t>%</a:t>
            </a:r>
            <a:r>
              <a:rPr lang="en-US" sz="1400" kern="1200" dirty="0" err="1">
                <a:solidFill>
                  <a:srgbClr val="000099"/>
                </a:solidFill>
                <a:latin typeface="+mn-lt"/>
              </a:rPr>
              <a:t>Library.SerialObject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.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Они могут попасть на диск в виде последовательности и только в составе хранимого класса и потому имеют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OREF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но не имеют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OID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455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D2C6643-4CBE-4751-9712-415B1FD030C3}"/>
              </a:ext>
            </a:extLst>
          </p:cNvPr>
          <p:cNvSpPr/>
          <p:nvPr/>
        </p:nvSpPr>
        <p:spPr>
          <a:xfrm>
            <a:off x="755576" y="1995686"/>
            <a:ext cx="6336704" cy="1233530"/>
          </a:xfrm>
          <a:prstGeom prst="rect">
            <a:avLst/>
          </a:prstGeom>
          <a:solidFill>
            <a:srgbClr val="ABDB77"/>
          </a:solidFill>
          <a:ln>
            <a:solidFill>
              <a:schemeClr val="accent6">
                <a:alpha val="98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623D4C-C9C8-4D7C-8B7F-92254679E155}"/>
              </a:ext>
            </a:extLst>
          </p:cNvPr>
          <p:cNvSpPr/>
          <p:nvPr/>
        </p:nvSpPr>
        <p:spPr>
          <a:xfrm>
            <a:off x="755576" y="483518"/>
            <a:ext cx="6336704" cy="137754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6">
                <a:alpha val="98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Структура класса </a:t>
            </a:r>
            <a:r>
              <a:rPr lang="en-US" sz="2000" b="1" dirty="0" err="1">
                <a:solidFill>
                  <a:srgbClr val="CE2816"/>
                </a:solidFill>
              </a:rPr>
              <a:t>Caché</a:t>
            </a:r>
            <a:endParaRPr lang="ru-RU" sz="2000" b="1" dirty="0">
              <a:solidFill>
                <a:srgbClr val="000099"/>
              </a:solidFill>
            </a:endParaRPr>
          </a:p>
        </p:txBody>
      </p:sp>
      <p:pic>
        <p:nvPicPr>
          <p:cNvPr id="13" name="table">
            <a:extLst>
              <a:ext uri="{FF2B5EF4-FFF2-40B4-BE49-F238E27FC236}">
                <a16:creationId xmlns:a16="http://schemas.microsoft.com/office/drawing/2014/main" id="{255C576A-FE97-4609-B672-583B31D2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619" y="1157392"/>
            <a:ext cx="1265312" cy="2071824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E5C6333-CD4A-4DFE-BA4E-2646E82FD3C6}"/>
              </a:ext>
            </a:extLst>
          </p:cNvPr>
          <p:cNvSpPr/>
          <p:nvPr/>
        </p:nvSpPr>
        <p:spPr>
          <a:xfrm>
            <a:off x="755576" y="461651"/>
            <a:ext cx="6480720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fontAlgn="t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Имя класса. </a:t>
            </a:r>
            <a:r>
              <a:rPr lang="ru-RU" sz="1400" dirty="0">
                <a:solidFill>
                  <a:srgbClr val="000099"/>
                </a:solidFill>
              </a:rPr>
              <a:t>Понимается в обычном для ООП смысле.</a:t>
            </a:r>
          </a:p>
          <a:p>
            <a:pPr marL="285750" indent="-285750" eaLnBrk="1" fontAlgn="t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Параметры. </a:t>
            </a:r>
            <a:r>
              <a:rPr lang="ru-RU" sz="1400" dirty="0">
                <a:solidFill>
                  <a:srgbClr val="000099"/>
                </a:solidFill>
              </a:rPr>
              <a:t>Изменяют возможности класса во время его компиляции</a:t>
            </a:r>
            <a:r>
              <a:rPr lang="ru-RU" sz="1400" b="1" dirty="0">
                <a:solidFill>
                  <a:srgbClr val="000099"/>
                </a:solidFill>
              </a:rPr>
              <a:t>. </a:t>
            </a:r>
            <a:r>
              <a:rPr lang="ru-RU" sz="1400" dirty="0">
                <a:solidFill>
                  <a:srgbClr val="000099"/>
                </a:solidFill>
              </a:rPr>
              <a:t>Обычно для ООП</a:t>
            </a:r>
          </a:p>
          <a:p>
            <a:pPr marL="285750" lvl="0" indent="-285750" eaLnBrk="1" fontAlgn="t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Свойства.</a:t>
            </a:r>
            <a:r>
              <a:rPr lang="ru-RU" sz="1400" dirty="0">
                <a:solidFill>
                  <a:srgbClr val="000099"/>
                </a:solidFill>
              </a:rPr>
              <a:t> В обычном для ООП смысле.</a:t>
            </a:r>
          </a:p>
          <a:p>
            <a:pPr marL="285750" lvl="0" indent="-285750" eaLnBrk="1" fontAlgn="t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Методы. </a:t>
            </a:r>
            <a:r>
              <a:rPr lang="ru-RU" sz="1400" dirty="0">
                <a:solidFill>
                  <a:srgbClr val="000099"/>
                </a:solidFill>
              </a:rPr>
              <a:t>Понимаются в обычном для ООП смысле.</a:t>
            </a:r>
          </a:p>
          <a:p>
            <a:pPr lvl="0" eaLnBrk="1" fontAlgn="t" hangingPunct="1">
              <a:spcAft>
                <a:spcPts val="600"/>
              </a:spcAft>
            </a:pPr>
            <a:endParaRPr lang="ru-RU" sz="1400" dirty="0">
              <a:solidFill>
                <a:srgbClr val="000099"/>
              </a:solidFill>
            </a:endParaRPr>
          </a:p>
          <a:p>
            <a:pPr marL="285750" indent="-285750" eaLnBrk="1" fontAlgn="t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Запросы</a:t>
            </a:r>
            <a:r>
              <a:rPr lang="ru-RU" sz="1400" dirty="0">
                <a:solidFill>
                  <a:srgbClr val="000099"/>
                </a:solidFill>
              </a:rPr>
              <a:t>. Операции с объектами класса, играющие роль фильтров.</a:t>
            </a:r>
          </a:p>
          <a:p>
            <a:pPr marL="285750" indent="-285750" eaLnBrk="1" fontAlgn="t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Индексы.</a:t>
            </a:r>
            <a:r>
              <a:rPr lang="ru-RU" sz="1400" dirty="0">
                <a:solidFill>
                  <a:srgbClr val="000099"/>
                </a:solidFill>
              </a:rPr>
              <a:t> Необычные для ООП элементы, используются для ускорения доступа. </a:t>
            </a:r>
          </a:p>
          <a:p>
            <a:pPr marL="285750" indent="-285750" eaLnBrk="1" fontAlgn="t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Триггеры. </a:t>
            </a:r>
            <a:r>
              <a:rPr lang="ru-RU" sz="1400" dirty="0">
                <a:solidFill>
                  <a:srgbClr val="000099"/>
                </a:solidFill>
              </a:rPr>
              <a:t>Используются только в табл. модели.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ru-RU" sz="1400" u="sng" dirty="0">
                <a:solidFill>
                  <a:srgbClr val="000099"/>
                </a:solidFill>
              </a:rPr>
              <a:t>Заметим</a:t>
            </a:r>
            <a:r>
              <a:rPr lang="ru-RU" sz="1400" dirty="0">
                <a:solidFill>
                  <a:srgbClr val="000099"/>
                </a:solidFill>
              </a:rPr>
              <a:t>, что свойства это константы предопределённых типов, ссылки на объекты, встроенные объекты, потоки данных (</a:t>
            </a:r>
            <a:r>
              <a:rPr lang="en-US" sz="1400" dirty="0">
                <a:solidFill>
                  <a:srgbClr val="000099"/>
                </a:solidFill>
              </a:rPr>
              <a:t>BLOB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en-US" sz="1400" dirty="0">
                <a:solidFill>
                  <a:srgbClr val="000099"/>
                </a:solidFill>
              </a:rPr>
              <a:t>CLOB)</a:t>
            </a:r>
            <a:r>
              <a:rPr lang="ru-RU" sz="1400" dirty="0">
                <a:solidFill>
                  <a:srgbClr val="000099"/>
                </a:solidFill>
              </a:rPr>
              <a:t>, коллекции (массивы и списки), отношения.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Вспомним, что в языке </a:t>
            </a:r>
            <a:r>
              <a:rPr lang="en-US" sz="1400" dirty="0">
                <a:solidFill>
                  <a:srgbClr val="000099"/>
                </a:solidFill>
              </a:rPr>
              <a:t>UML </a:t>
            </a:r>
            <a:r>
              <a:rPr lang="ru-RU" sz="1400" dirty="0">
                <a:solidFill>
                  <a:srgbClr val="000099"/>
                </a:solidFill>
              </a:rPr>
              <a:t>в структуре класса предусмотрено его имя, атрибуты, операции, сигналы. (Здесь аналогов сигналов нет.)</a:t>
            </a:r>
          </a:p>
        </p:txBody>
      </p:sp>
      <p:sp>
        <p:nvSpPr>
          <p:cNvPr id="18" name="Скругленная прямоугольная выноска 10">
            <a:extLst>
              <a:ext uri="{FF2B5EF4-FFF2-40B4-BE49-F238E27FC236}">
                <a16:creationId xmlns:a16="http://schemas.microsoft.com/office/drawing/2014/main" id="{3C72BEDE-4717-44B0-A5F7-FEF52409256F}"/>
              </a:ext>
            </a:extLst>
          </p:cNvPr>
          <p:cNvSpPr/>
          <p:nvPr/>
        </p:nvSpPr>
        <p:spPr bwMode="auto">
          <a:xfrm>
            <a:off x="7301190" y="3345908"/>
            <a:ext cx="954106" cy="547804"/>
          </a:xfrm>
          <a:prstGeom prst="wedgeRoundRectCallout">
            <a:avLst>
              <a:gd name="adj1" fmla="val -86732"/>
              <a:gd name="adj2" fmla="val -90408"/>
              <a:gd name="adj3" fmla="val 16667"/>
            </a:avLst>
          </a:prstGeom>
          <a:solidFill>
            <a:schemeClr val="accent1">
              <a:lumMod val="90000"/>
              <a:alpha val="21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Только в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Caché</a:t>
            </a:r>
            <a:endParaRPr kumimoji="0" lang="ru-RU" sz="1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charset="0"/>
            </a:endParaRPr>
          </a:p>
        </p:txBody>
      </p:sp>
      <p:sp>
        <p:nvSpPr>
          <p:cNvPr id="19" name="Скругленная прямоугольная выноска 11">
            <a:extLst>
              <a:ext uri="{FF2B5EF4-FFF2-40B4-BE49-F238E27FC236}">
                <a16:creationId xmlns:a16="http://schemas.microsoft.com/office/drawing/2014/main" id="{0A88DFFB-9062-4AC4-BFA5-82488C8949C8}"/>
              </a:ext>
            </a:extLst>
          </p:cNvPr>
          <p:cNvSpPr/>
          <p:nvPr/>
        </p:nvSpPr>
        <p:spPr bwMode="auto">
          <a:xfrm>
            <a:off x="7301190" y="519751"/>
            <a:ext cx="1062118" cy="579541"/>
          </a:xfrm>
          <a:prstGeom prst="wedgeRoundRectCallout">
            <a:avLst>
              <a:gd name="adj1" fmla="val -85711"/>
              <a:gd name="adj2" fmla="val 50632"/>
              <a:gd name="adj3" fmla="val 16667"/>
            </a:avLst>
          </a:prstGeom>
          <a:solidFill>
            <a:schemeClr val="accent3">
              <a:lumMod val="85000"/>
              <a:alpha val="21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latin typeface="Arial" charset="0"/>
              </a:rPr>
              <a:t>Всегда в</a:t>
            </a:r>
            <a:r>
              <a:rPr lang="en-US" sz="1400" dirty="0">
                <a:latin typeface="Arial" charset="0"/>
              </a:rPr>
              <a:t> 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latin typeface="Arial" charset="0"/>
              </a:rPr>
              <a:t>ООП</a:t>
            </a:r>
            <a:endParaRPr kumimoji="0" 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527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Форматы данных и их преобразования</a:t>
            </a:r>
            <a:endParaRPr lang="ru-RU" sz="2000" b="1" dirty="0">
              <a:solidFill>
                <a:srgbClr val="C00000"/>
              </a:solidFill>
            </a:endParaRPr>
          </a:p>
        </p:txBody>
      </p:sp>
      <p:grpSp>
        <p:nvGrpSpPr>
          <p:cNvPr id="5" name="Group 20">
            <a:extLst>
              <a:ext uri="{FF2B5EF4-FFF2-40B4-BE49-F238E27FC236}">
                <a16:creationId xmlns:a16="http://schemas.microsoft.com/office/drawing/2014/main" id="{176CC436-C8C5-4D76-AD50-D46F6E27AE0C}"/>
              </a:ext>
            </a:extLst>
          </p:cNvPr>
          <p:cNvGrpSpPr>
            <a:grpSpLocks/>
          </p:cNvGrpSpPr>
          <p:nvPr/>
        </p:nvGrpSpPr>
        <p:grpSpPr bwMode="auto">
          <a:xfrm>
            <a:off x="602455" y="573683"/>
            <a:ext cx="7543800" cy="3995735"/>
            <a:chOff x="356" y="963"/>
            <a:chExt cx="4752" cy="2517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C6661519-C59F-40B3-879A-1E85483C1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" y="966"/>
              <a:ext cx="1217" cy="317"/>
            </a:xfrm>
            <a:prstGeom prst="rightArrow">
              <a:avLst>
                <a:gd name="adj1" fmla="val 50000"/>
                <a:gd name="adj2" fmla="val 9338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 err="1">
                  <a:solidFill>
                    <a:srgbClr val="000000"/>
                  </a:solidFill>
                </a:rPr>
                <a:t>DisplayToLogical</a:t>
              </a:r>
              <a:r>
                <a:rPr lang="ru-RU" sz="1400" dirty="0">
                  <a:solidFill>
                    <a:srgbClr val="000000"/>
                  </a:solidFill>
                </a:rPr>
                <a:t>()</a:t>
              </a: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3CA198F-6944-489D-98BA-F9349D4E6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" y="963"/>
              <a:ext cx="702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Формат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 err="1">
                  <a:solidFill>
                    <a:srgbClr val="000000"/>
                  </a:solidFill>
                </a:rPr>
                <a:t>отображе</a:t>
              </a:r>
              <a:r>
                <a:rPr lang="ru-RU" sz="1400" dirty="0">
                  <a:solidFill>
                    <a:srgbClr val="000000"/>
                  </a:solidFill>
                </a:rPr>
                <a:t>-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 err="1">
                  <a:solidFill>
                    <a:srgbClr val="000000"/>
                  </a:solidFill>
                </a:rPr>
                <a:t>ния</a:t>
              </a:r>
              <a:endParaRPr lang="ru-RU" sz="1400" dirty="0">
                <a:solidFill>
                  <a:srgbClr val="000000"/>
                </a:solidFill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B4B59211-1E72-4736-843C-FD13DF157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963"/>
              <a:ext cx="731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Внутренний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формат 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96582546-2E20-444B-BF24-1CD1A80EB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2928"/>
              <a:ext cx="731" cy="55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Формат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400" dirty="0">
                  <a:solidFill>
                    <a:srgbClr val="000000"/>
                  </a:solidFill>
                </a:rPr>
                <a:t>хранения</a:t>
              </a: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CE93FCA2-AC8F-447C-BF63-79247BA86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967"/>
              <a:ext cx="731" cy="6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ODBC</a:t>
              </a:r>
              <a:endParaRPr lang="ru-RU" sz="1400" dirty="0">
                <a:solidFill>
                  <a:srgbClr val="000000"/>
                </a:solidFill>
              </a:endParaRPr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DFD7F529-A03C-4B59-B3C9-3768480D1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" y="967"/>
              <a:ext cx="1019" cy="318"/>
            </a:xfrm>
            <a:prstGeom prst="rightArrow">
              <a:avLst>
                <a:gd name="adj1" fmla="val 50000"/>
                <a:gd name="adj2" fmla="val 8453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 err="1">
                  <a:solidFill>
                    <a:srgbClr val="000000"/>
                  </a:solidFill>
                </a:rPr>
                <a:t>LogicalToOdbc</a:t>
              </a:r>
              <a:r>
                <a:rPr lang="en-US" sz="1400" dirty="0">
                  <a:solidFill>
                    <a:srgbClr val="000000"/>
                  </a:solidFill>
                </a:rPr>
                <a:t>()</a:t>
              </a:r>
              <a:endParaRPr lang="ru-RU" sz="1400" dirty="0">
                <a:solidFill>
                  <a:srgbClr val="000000"/>
                </a:solidFill>
              </a:endParaRPr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B3341DF0-785B-473D-800C-A7E8B09E3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" y="1356"/>
              <a:ext cx="1217" cy="321"/>
            </a:xfrm>
            <a:prstGeom prst="leftArrow">
              <a:avLst>
                <a:gd name="adj1" fmla="val 50000"/>
                <a:gd name="adj2" fmla="val 10290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 err="1">
                  <a:solidFill>
                    <a:srgbClr val="000000"/>
                  </a:solidFill>
                </a:rPr>
                <a:t>LogicalToDisplay</a:t>
              </a:r>
              <a:r>
                <a:rPr lang="ru-RU" sz="1400" dirty="0">
                  <a:solidFill>
                    <a:srgbClr val="000000"/>
                  </a:solidFill>
                </a:rPr>
                <a:t>()</a:t>
              </a:r>
            </a:p>
          </p:txBody>
        </p:sp>
        <p:sp>
          <p:nvSpPr>
            <p:cNvPr id="14" name="AutoShape 15">
              <a:extLst>
                <a:ext uri="{FF2B5EF4-FFF2-40B4-BE49-F238E27FC236}">
                  <a16:creationId xmlns:a16="http://schemas.microsoft.com/office/drawing/2014/main" id="{C230CA83-F9B2-4272-B26E-93C520DA5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1329"/>
              <a:ext cx="1039" cy="318"/>
            </a:xfrm>
            <a:prstGeom prst="leftArrow">
              <a:avLst>
                <a:gd name="adj1" fmla="val 50000"/>
                <a:gd name="adj2" fmla="val 9268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 err="1">
                  <a:solidFill>
                    <a:srgbClr val="000000"/>
                  </a:solidFill>
                </a:rPr>
                <a:t>OdbcToLogical</a:t>
              </a:r>
              <a:r>
                <a:rPr lang="en-US" sz="1400" dirty="0">
                  <a:solidFill>
                    <a:srgbClr val="000000"/>
                  </a:solidFill>
                </a:rPr>
                <a:t>()</a:t>
              </a:r>
              <a:endParaRPr lang="ru-RU" sz="1400" dirty="0">
                <a:solidFill>
                  <a:srgbClr val="000000"/>
                </a:solidFill>
              </a:endParaRPr>
            </a:p>
          </p:txBody>
        </p:sp>
        <p:sp>
          <p:nvSpPr>
            <p:cNvPr id="15" name="AutoShape 16">
              <a:extLst>
                <a:ext uri="{FF2B5EF4-FFF2-40B4-BE49-F238E27FC236}">
                  <a16:creationId xmlns:a16="http://schemas.microsoft.com/office/drawing/2014/main" id="{8794D5EE-26B2-4FE3-8ADA-F3D896D2F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7" y="1669"/>
              <a:ext cx="339" cy="1133"/>
            </a:xfrm>
            <a:prstGeom prst="upArrow">
              <a:avLst>
                <a:gd name="adj1" fmla="val 50000"/>
                <a:gd name="adj2" fmla="val 7898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 err="1">
                  <a:solidFill>
                    <a:srgbClr val="000000"/>
                  </a:solidFill>
                </a:rPr>
                <a:t>StorageToLogical</a:t>
              </a:r>
              <a:r>
                <a:rPr lang="ru-RU" sz="1400" dirty="0">
                  <a:solidFill>
                    <a:srgbClr val="000000"/>
                  </a:solidFill>
                </a:rPr>
                <a:t>()</a:t>
              </a:r>
            </a:p>
          </p:txBody>
        </p:sp>
        <p:sp>
          <p:nvSpPr>
            <p:cNvPr id="16" name="AutoShape 17">
              <a:extLst>
                <a:ext uri="{FF2B5EF4-FFF2-40B4-BE49-F238E27FC236}">
                  <a16:creationId xmlns:a16="http://schemas.microsoft.com/office/drawing/2014/main" id="{2E0B90FC-E716-4274-BB7E-10CD2CE3B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680"/>
              <a:ext cx="339" cy="1133"/>
            </a:xfrm>
            <a:prstGeom prst="downArrow">
              <a:avLst>
                <a:gd name="adj1" fmla="val 50000"/>
                <a:gd name="adj2" fmla="val 767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 err="1">
                  <a:solidFill>
                    <a:srgbClr val="000000"/>
                  </a:solidFill>
                </a:rPr>
                <a:t>LogicalToStorage</a:t>
              </a:r>
              <a:r>
                <a:rPr lang="ru-RU" sz="1400" dirty="0">
                  <a:solidFill>
                    <a:srgbClr val="000000"/>
                  </a:solidFill>
                </a:rPr>
                <a:t>()</a:t>
              </a:r>
            </a:p>
          </p:txBody>
        </p:sp>
      </p:grpSp>
      <p:sp>
        <p:nvSpPr>
          <p:cNvPr id="6" name="Rectangle 23">
            <a:extLst>
              <a:ext uri="{FF2B5EF4-FFF2-40B4-BE49-F238E27FC236}">
                <a16:creationId xmlns:a16="http://schemas.microsoft.com/office/drawing/2014/main" id="{BA8B127E-0750-464B-81C0-8EE201099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409231"/>
            <a:ext cx="2698998" cy="115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Все шесть методов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генерируются автоматически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>
                <a:solidFill>
                  <a:srgbClr val="000000"/>
                </a:solidFill>
              </a:rPr>
              <a:t>при создании класса</a:t>
            </a:r>
          </a:p>
        </p:txBody>
      </p:sp>
    </p:spTree>
    <p:extLst>
      <p:ext uri="{BB962C8B-B14F-4D97-AF65-F5344CB8AC3E}">
        <p14:creationId xmlns:p14="http://schemas.microsoft.com/office/powerpoint/2010/main" val="839172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1800" b="1" dirty="0">
                <a:solidFill>
                  <a:srgbClr val="CE2816"/>
                </a:solidFill>
              </a:rPr>
              <a:t>Методы преобразования типов</a:t>
            </a:r>
            <a:endParaRPr lang="ru-RU" sz="1800" b="1" dirty="0">
              <a:solidFill>
                <a:srgbClr val="000099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D55C09-66B4-4EBB-A749-CDF1B03C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99542"/>
            <a:ext cx="8280920" cy="362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64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Предопределенные типы данных</a:t>
            </a:r>
            <a:endParaRPr lang="ru-RU" sz="20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814C0-1724-4A2F-92AA-CA91341F2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771550"/>
            <a:ext cx="7546042" cy="32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17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Свойства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65C9B40-F887-4CB2-9CEB-3ABE649CBD95}"/>
              </a:ext>
            </a:extLst>
          </p:cNvPr>
          <p:cNvSpPr/>
          <p:nvPr/>
        </p:nvSpPr>
        <p:spPr>
          <a:xfrm>
            <a:off x="1223628" y="486564"/>
            <a:ext cx="6696744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Свойства представляют собой константы предопределенных типов, ссылки на объекты, встроенные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объекты, потоки данных (</a:t>
            </a:r>
            <a:r>
              <a:rPr lang="en-US" sz="1400" dirty="0">
                <a:solidFill>
                  <a:srgbClr val="000099"/>
                </a:solidFill>
              </a:rPr>
              <a:t>BLOB, CLOB</a:t>
            </a:r>
            <a:r>
              <a:rPr lang="ru-RU" sz="1400" dirty="0">
                <a:solidFill>
                  <a:srgbClr val="000099"/>
                </a:solidFill>
              </a:rPr>
              <a:t>), коллекции, древесные значения и отношения: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Константы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u="sng" dirty="0">
                <a:solidFill>
                  <a:srgbClr val="000099"/>
                </a:solidFill>
              </a:rPr>
              <a:t>Пример</a:t>
            </a:r>
            <a:r>
              <a:rPr lang="ru-RU" sz="1400" dirty="0">
                <a:solidFill>
                  <a:srgbClr val="000099"/>
                </a:solidFill>
              </a:rPr>
              <a:t>: </a:t>
            </a:r>
            <a:r>
              <a:rPr lang="en-US" sz="1400" dirty="0">
                <a:solidFill>
                  <a:srgbClr val="000099"/>
                </a:solidFill>
              </a:rPr>
              <a:t>Property Name As %String(MAXLEN = 20);</a:t>
            </a:r>
            <a:endParaRPr lang="ru-RU" sz="14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Ссылки на объекты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Каждый класс задаёт тип данных. 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u="sng" dirty="0">
                <a:solidFill>
                  <a:srgbClr val="000099"/>
                </a:solidFill>
              </a:rPr>
              <a:t>Пример</a:t>
            </a:r>
            <a:r>
              <a:rPr lang="ru-RU" sz="1400" dirty="0">
                <a:solidFill>
                  <a:srgbClr val="000099"/>
                </a:solidFill>
              </a:rPr>
              <a:t>: Пусть имеется хранимый класс </a:t>
            </a:r>
            <a:r>
              <a:rPr lang="en-US" sz="1400" dirty="0">
                <a:solidFill>
                  <a:srgbClr val="000099"/>
                </a:solidFill>
              </a:rPr>
              <a:t>Address.</a:t>
            </a:r>
            <a:r>
              <a:rPr lang="ru-RU" sz="1400" dirty="0">
                <a:solidFill>
                  <a:srgbClr val="000099"/>
                </a:solidFill>
              </a:rPr>
              <a:t> Тогда свойство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Addr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можно описать так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Property </a:t>
            </a:r>
            <a:r>
              <a:rPr lang="en-US" sz="1400" dirty="0" err="1">
                <a:solidFill>
                  <a:srgbClr val="000099"/>
                </a:solidFill>
              </a:rPr>
              <a:t>Addr</a:t>
            </a:r>
            <a:r>
              <a:rPr lang="en-US" sz="1400" dirty="0">
                <a:solidFill>
                  <a:srgbClr val="000099"/>
                </a:solidFill>
              </a:rPr>
              <a:t> As Address</a:t>
            </a:r>
            <a:r>
              <a:rPr lang="ru-RU" sz="1400" dirty="0">
                <a:solidFill>
                  <a:srgbClr val="000099"/>
                </a:solidFill>
              </a:rPr>
              <a:t>;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000099"/>
                </a:solidFill>
              </a:rPr>
              <a:t>Встроенные объекты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u="sng" dirty="0">
                <a:solidFill>
                  <a:srgbClr val="000099"/>
                </a:solidFill>
              </a:rPr>
              <a:t>Пример</a:t>
            </a:r>
            <a:r>
              <a:rPr lang="ru-RU" sz="1400" dirty="0">
                <a:solidFill>
                  <a:srgbClr val="000099"/>
                </a:solidFill>
              </a:rPr>
              <a:t>: Пусть имеется встраиваемый класс </a:t>
            </a:r>
            <a:r>
              <a:rPr lang="en-US" sz="1400" dirty="0">
                <a:solidFill>
                  <a:srgbClr val="000099"/>
                </a:solidFill>
              </a:rPr>
              <a:t>Address.</a:t>
            </a:r>
            <a:r>
              <a:rPr lang="ru-RU" sz="1400" dirty="0">
                <a:solidFill>
                  <a:srgbClr val="000099"/>
                </a:solidFill>
              </a:rPr>
              <a:t> Свойство </a:t>
            </a:r>
            <a:r>
              <a:rPr lang="en-US" sz="1400" dirty="0" err="1">
                <a:solidFill>
                  <a:srgbClr val="000099"/>
                </a:solidFill>
              </a:rPr>
              <a:t>Addr</a:t>
            </a:r>
            <a:r>
              <a:rPr lang="ru-RU" sz="1400" dirty="0">
                <a:solidFill>
                  <a:srgbClr val="000099"/>
                </a:solidFill>
              </a:rPr>
              <a:t> записывается точно так же как в предыдущем варианте,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Property </a:t>
            </a:r>
            <a:r>
              <a:rPr lang="en-US" sz="1400" dirty="0" err="1">
                <a:solidFill>
                  <a:srgbClr val="000099"/>
                </a:solidFill>
              </a:rPr>
              <a:t>Addr</a:t>
            </a:r>
            <a:r>
              <a:rPr lang="en-US" sz="1400" dirty="0">
                <a:solidFill>
                  <a:srgbClr val="000099"/>
                </a:solidFill>
              </a:rPr>
              <a:t> As Address</a:t>
            </a:r>
            <a:r>
              <a:rPr lang="ru-RU" sz="1400" dirty="0">
                <a:solidFill>
                  <a:srgbClr val="000099"/>
                </a:solidFill>
              </a:rPr>
              <a:t>;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но речь идет не о ссылке, а о встраивании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2837317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Пять способов создания класса в </a:t>
            </a:r>
            <a:r>
              <a:rPr lang="en-US" sz="2000" b="1" dirty="0">
                <a:solidFill>
                  <a:srgbClr val="CE2816"/>
                </a:solidFill>
              </a:rPr>
              <a:t>Cache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AC1A6-B4C0-4351-8C61-4C6DF1CB4C7D}"/>
              </a:ext>
            </a:extLst>
          </p:cNvPr>
          <p:cNvSpPr txBox="1"/>
          <p:nvPr/>
        </p:nvSpPr>
        <p:spPr>
          <a:xfrm>
            <a:off x="2286000" y="49562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Создание таблицы, то есть класса без методов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Использование мастера </a:t>
            </a:r>
            <a:r>
              <a:rPr lang="en-US" sz="1400" dirty="0">
                <a:solidFill>
                  <a:srgbClr val="000099"/>
                </a:solidFill>
              </a:rPr>
              <a:t>Studio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Написание текста в </a:t>
            </a:r>
            <a:r>
              <a:rPr lang="en-US" sz="1400" dirty="0">
                <a:solidFill>
                  <a:srgbClr val="000099"/>
                </a:solidFill>
              </a:rPr>
              <a:t>Studio</a:t>
            </a:r>
            <a:endParaRPr lang="ru-RU" sz="14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Задание из терминала в </a:t>
            </a:r>
            <a:r>
              <a:rPr lang="en-US" sz="1400" dirty="0">
                <a:solidFill>
                  <a:srgbClr val="000099"/>
                </a:solidFill>
              </a:rPr>
              <a:t>COS</a:t>
            </a:r>
            <a:endParaRPr lang="ru-RU" sz="14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Импорт из </a:t>
            </a:r>
            <a:r>
              <a:rPr lang="en-US" sz="1400" dirty="0">
                <a:solidFill>
                  <a:srgbClr val="000099"/>
                </a:solidFill>
              </a:rPr>
              <a:t>UML</a:t>
            </a:r>
          </a:p>
        </p:txBody>
      </p:sp>
    </p:spTree>
    <p:extLst>
      <p:ext uri="{BB962C8B-B14F-4D97-AF65-F5344CB8AC3E}">
        <p14:creationId xmlns:p14="http://schemas.microsoft.com/office/powerpoint/2010/main" val="14282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1: Задание таблицы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2DDCE2F-78E6-44CA-8194-1B380E896477}"/>
              </a:ext>
            </a:extLst>
          </p:cNvPr>
          <p:cNvSpPr txBox="1">
            <a:spLocks noChangeArrowheads="1"/>
          </p:cNvSpPr>
          <p:nvPr/>
        </p:nvSpPr>
        <p:spPr>
          <a:xfrm>
            <a:off x="935596" y="481528"/>
            <a:ext cx="7380820" cy="417845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rgbClr val="000099"/>
                </a:solidFill>
              </a:rPr>
              <a:t>Предварительно проверяем в портале, не существует ли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^QQD </a:t>
            </a:r>
            <a:r>
              <a:rPr lang="ru-RU" sz="1400" dirty="0">
                <a:solidFill>
                  <a:srgbClr val="000099"/>
                </a:solidFill>
              </a:rPr>
              <a:t> и класс </a:t>
            </a:r>
            <a:r>
              <a:rPr lang="en-US" sz="1400" dirty="0">
                <a:solidFill>
                  <a:srgbClr val="000099"/>
                </a:solidFill>
              </a:rPr>
              <a:t>^</a:t>
            </a:r>
            <a:r>
              <a:rPr lang="en-US" sz="1400" dirty="0" err="1">
                <a:solidFill>
                  <a:srgbClr val="000099"/>
                </a:solidFill>
              </a:rPr>
              <a:t>User.QQ.cls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в области имён 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 Если существуют, удаляем их. Смысл этих действий будет понятен далее.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rgbClr val="000099"/>
                </a:solidFill>
              </a:rPr>
              <a:t>Исполняем в </a:t>
            </a:r>
            <a:r>
              <a:rPr lang="en-US" sz="1400" dirty="0">
                <a:solidFill>
                  <a:srgbClr val="000099"/>
                </a:solidFill>
              </a:rPr>
              <a:t>SQL-</a:t>
            </a:r>
            <a:r>
              <a:rPr lang="ru-RU" sz="1400" dirty="0">
                <a:solidFill>
                  <a:srgbClr val="000099"/>
                </a:solidFill>
              </a:rPr>
              <a:t>менеджере портала в области </a:t>
            </a:r>
            <a:r>
              <a:rPr lang="en-US" sz="1400" dirty="0">
                <a:solidFill>
                  <a:srgbClr val="000099"/>
                </a:solidFill>
              </a:rPr>
              <a:t>User </a:t>
            </a:r>
            <a:r>
              <a:rPr lang="ru-RU" sz="1400" dirty="0">
                <a:solidFill>
                  <a:srgbClr val="000099"/>
                </a:solidFill>
              </a:rPr>
              <a:t>команду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	</a:t>
            </a:r>
            <a:r>
              <a:rPr lang="en-US" sz="1400" dirty="0">
                <a:solidFill>
                  <a:srgbClr val="000099"/>
                </a:solidFill>
              </a:rPr>
              <a:t>create table QQ (c1 char(3), c2 number(4))</a:t>
            </a:r>
            <a:endParaRPr lang="ru-RU" sz="1400" dirty="0">
              <a:solidFill>
                <a:srgbClr val="000099"/>
              </a:solidFill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rgbClr val="000099"/>
                </a:solidFill>
              </a:rPr>
              <a:t>В разделе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ru-RU" sz="1400" dirty="0">
                <a:solidFill>
                  <a:srgbClr val="000099"/>
                </a:solidFill>
              </a:rPr>
              <a:t>Классы</a:t>
            </a:r>
            <a:r>
              <a:rPr lang="en-US" sz="1400" dirty="0">
                <a:solidFill>
                  <a:srgbClr val="000099"/>
                </a:solidFill>
              </a:rPr>
              <a:t>”</a:t>
            </a:r>
            <a:r>
              <a:rPr lang="ru-RU" sz="1400" dirty="0">
                <a:solidFill>
                  <a:srgbClr val="000099"/>
                </a:solidFill>
              </a:rPr>
              <a:t> портала обнаруживаем класс </a:t>
            </a:r>
            <a:r>
              <a:rPr lang="en-US" sz="1400" dirty="0">
                <a:solidFill>
                  <a:srgbClr val="000099"/>
                </a:solidFill>
              </a:rPr>
              <a:t>^</a:t>
            </a:r>
            <a:r>
              <a:rPr lang="en-US" sz="1400" dirty="0" err="1">
                <a:solidFill>
                  <a:srgbClr val="000099"/>
                </a:solidFill>
              </a:rPr>
              <a:t>User.QQ.cls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ru-RU" sz="1400" dirty="0">
                <a:solidFill>
                  <a:srgbClr val="000099"/>
                </a:solidFill>
              </a:rPr>
              <a:t>щелкнув по позиции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ru-RU" sz="1400" dirty="0">
                <a:solidFill>
                  <a:srgbClr val="000099"/>
                </a:solidFill>
              </a:rPr>
              <a:t>Документация</a:t>
            </a:r>
            <a:r>
              <a:rPr lang="en-US" sz="1400" dirty="0">
                <a:solidFill>
                  <a:srgbClr val="000099"/>
                </a:solidFill>
              </a:rPr>
              <a:t>”</a:t>
            </a:r>
            <a:r>
              <a:rPr lang="ru-RU" sz="1400" dirty="0">
                <a:solidFill>
                  <a:srgbClr val="000099"/>
                </a:solidFill>
              </a:rPr>
              <a:t> получаем его описание.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endParaRPr lang="ru-RU" sz="1400" dirty="0">
              <a:solidFill>
                <a:srgbClr val="000099"/>
              </a:solidFill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rgbClr val="000099"/>
                </a:solidFill>
              </a:rPr>
              <a:t>В </a:t>
            </a:r>
            <a:r>
              <a:rPr lang="en-US" sz="1400" dirty="0">
                <a:solidFill>
                  <a:srgbClr val="000099"/>
                </a:solidFill>
              </a:rPr>
              <a:t>Studio </a:t>
            </a:r>
            <a:r>
              <a:rPr lang="ru-RU" sz="1400" dirty="0">
                <a:solidFill>
                  <a:srgbClr val="000099"/>
                </a:solidFill>
              </a:rPr>
              <a:t>для той же области </a:t>
            </a:r>
            <a:r>
              <a:rPr lang="en-US" sz="1400" dirty="0">
                <a:solidFill>
                  <a:srgbClr val="000099"/>
                </a:solidFill>
              </a:rPr>
              <a:t>User </a:t>
            </a:r>
            <a:r>
              <a:rPr lang="ru-RU" sz="1400" dirty="0">
                <a:solidFill>
                  <a:srgbClr val="000099"/>
                </a:solidFill>
              </a:rPr>
              <a:t>вызываем (Файл – Открыть ..) описание класса </a:t>
            </a:r>
            <a:r>
              <a:rPr lang="en-US" sz="1400" dirty="0" err="1">
                <a:solidFill>
                  <a:srgbClr val="000099"/>
                </a:solidFill>
              </a:rPr>
              <a:t>User.QQ.cls</a:t>
            </a:r>
            <a:r>
              <a:rPr lang="en-US" sz="1400" dirty="0">
                <a:solidFill>
                  <a:srgbClr val="000099"/>
                </a:solidFill>
              </a:rPr>
              <a:t> :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Class User.</a:t>
            </a:r>
            <a:r>
              <a:rPr lang="en-US" sz="1400" dirty="0" err="1">
                <a:solidFill>
                  <a:srgbClr val="000099"/>
                </a:solidFill>
              </a:rPr>
              <a:t>qq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 err="1">
                <a:solidFill>
                  <a:srgbClr val="000099"/>
                </a:solidFill>
              </a:rPr>
              <a:t>Extends</a:t>
            </a:r>
            <a:r>
              <a:rPr lang="ru-RU" sz="1400" dirty="0">
                <a:solidFill>
                  <a:srgbClr val="000099"/>
                </a:solidFill>
              </a:rPr>
              <a:t> %</a:t>
            </a:r>
            <a:r>
              <a:rPr lang="ru-RU" sz="1400" dirty="0" err="1">
                <a:solidFill>
                  <a:srgbClr val="000099"/>
                </a:solidFill>
              </a:rPr>
              <a:t>Persistent</a:t>
            </a:r>
            <a:r>
              <a:rPr lang="ru-RU" sz="1400" dirty="0">
                <a:solidFill>
                  <a:srgbClr val="000099"/>
                </a:solidFill>
              </a:rPr>
              <a:t> [ </a:t>
            </a:r>
            <a:r>
              <a:rPr lang="ru-RU" sz="1400" dirty="0" err="1">
                <a:solidFill>
                  <a:srgbClr val="000099"/>
                </a:solidFill>
              </a:rPr>
              <a:t>ClassType</a:t>
            </a:r>
            <a:r>
              <a:rPr lang="ru-RU" sz="1400" dirty="0">
                <a:solidFill>
                  <a:srgbClr val="000099"/>
                </a:solidFill>
              </a:rPr>
              <a:t> = </a:t>
            </a:r>
            <a:r>
              <a:rPr lang="ru-RU" sz="1400" dirty="0" err="1">
                <a:solidFill>
                  <a:srgbClr val="000099"/>
                </a:solidFill>
              </a:rPr>
              <a:t>persistent</a:t>
            </a:r>
            <a:r>
              <a:rPr lang="ru-RU" sz="1400" dirty="0">
                <a:solidFill>
                  <a:srgbClr val="000099"/>
                </a:solidFill>
              </a:rPr>
              <a:t>, </a:t>
            </a:r>
            <a:r>
              <a:rPr lang="ru-RU" sz="1400" dirty="0" err="1">
                <a:solidFill>
                  <a:srgbClr val="000099"/>
                </a:solidFill>
              </a:rPr>
              <a:t>DdlAllowed</a:t>
            </a:r>
            <a:r>
              <a:rPr lang="ru-RU" sz="1400" dirty="0">
                <a:solidFill>
                  <a:srgbClr val="000099"/>
                </a:solidFill>
              </a:rPr>
              <a:t>, </a:t>
            </a:r>
            <a:r>
              <a:rPr lang="ru-RU" sz="1400" dirty="0" err="1">
                <a:solidFill>
                  <a:srgbClr val="000099"/>
                </a:solidFill>
              </a:rPr>
              <a:t>Owner</a:t>
            </a:r>
            <a:r>
              <a:rPr lang="ru-RU" sz="1400" dirty="0">
                <a:solidFill>
                  <a:srgbClr val="000099"/>
                </a:solidFill>
              </a:rPr>
              <a:t> = "", </a:t>
            </a:r>
            <a:r>
              <a:rPr lang="ru-RU" sz="1400" dirty="0" err="1">
                <a:solidFill>
                  <a:srgbClr val="000099"/>
                </a:solidFill>
              </a:rPr>
              <a:t>SqlRowIdPrivate</a:t>
            </a:r>
            <a:r>
              <a:rPr lang="ru-RU" sz="1400" dirty="0">
                <a:solidFill>
                  <a:srgbClr val="000099"/>
                </a:solidFill>
              </a:rPr>
              <a:t>, </a:t>
            </a:r>
            <a:r>
              <a:rPr lang="ru-RU" sz="1400" dirty="0" err="1">
                <a:solidFill>
                  <a:srgbClr val="000099"/>
                </a:solidFill>
              </a:rPr>
              <a:t>SqlTableName</a:t>
            </a:r>
            <a:r>
              <a:rPr lang="ru-RU" sz="1400" dirty="0">
                <a:solidFill>
                  <a:srgbClr val="000099"/>
                </a:solidFill>
              </a:rPr>
              <a:t> =QQ, </a:t>
            </a:r>
            <a:r>
              <a:rPr lang="ru-RU" sz="1400" dirty="0" err="1">
                <a:solidFill>
                  <a:srgbClr val="000099"/>
                </a:solidFill>
              </a:rPr>
              <a:t>StorageStrategy</a:t>
            </a:r>
            <a:r>
              <a:rPr lang="ru-RU" sz="1400" dirty="0">
                <a:solidFill>
                  <a:srgbClr val="000099"/>
                </a:solidFill>
              </a:rPr>
              <a:t> = ]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{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Property c1 As %</a:t>
            </a:r>
            <a:r>
              <a:rPr lang="ru-RU" sz="1400" dirty="0" err="1">
                <a:solidFill>
                  <a:srgbClr val="000099"/>
                </a:solidFill>
              </a:rPr>
              <a:t>Library.String</a:t>
            </a:r>
            <a:r>
              <a:rPr lang="ru-RU" sz="1400" dirty="0">
                <a:solidFill>
                  <a:srgbClr val="000099"/>
                </a:solidFill>
              </a:rPr>
              <a:t>(MAXLEN = 3) [ </a:t>
            </a:r>
            <a:r>
              <a:rPr lang="ru-RU" sz="1400" dirty="0" err="1">
                <a:solidFill>
                  <a:srgbClr val="000099"/>
                </a:solidFill>
              </a:rPr>
              <a:t>SqlColumnNumber</a:t>
            </a:r>
            <a:r>
              <a:rPr lang="ru-RU" sz="1400" dirty="0">
                <a:solidFill>
                  <a:srgbClr val="000099"/>
                </a:solidFill>
              </a:rPr>
              <a:t> = 2 ];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Property c2 As %</a:t>
            </a:r>
            <a:r>
              <a:rPr lang="ru-RU" sz="1400" dirty="0" err="1">
                <a:solidFill>
                  <a:srgbClr val="000099"/>
                </a:solidFill>
              </a:rPr>
              <a:t>Library.Numeric</a:t>
            </a:r>
            <a:r>
              <a:rPr lang="ru-RU" sz="1400" dirty="0">
                <a:solidFill>
                  <a:srgbClr val="000099"/>
                </a:solidFill>
              </a:rPr>
              <a:t>(MAXVAL = 9999, MINVAL = -9999, SCALE = 0) [ </a:t>
            </a:r>
            <a:r>
              <a:rPr lang="ru-RU" sz="1400" dirty="0" err="1">
                <a:solidFill>
                  <a:srgbClr val="000099"/>
                </a:solidFill>
              </a:rPr>
              <a:t>SqlColumnNumber</a:t>
            </a:r>
            <a:r>
              <a:rPr lang="ru-RU" sz="1400" dirty="0">
                <a:solidFill>
                  <a:srgbClr val="000099"/>
                </a:solidFill>
              </a:rPr>
              <a:t> = 3 ];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}</a:t>
            </a:r>
            <a:r>
              <a:rPr lang="en-US" sz="1400" dirty="0">
                <a:solidFill>
                  <a:srgbClr val="000099"/>
                </a:solidFill>
              </a:rPr>
              <a:t>””</a:t>
            </a:r>
            <a:endParaRPr lang="ru-RU" sz="1400" dirty="0">
              <a:solidFill>
                <a:srgbClr val="000099"/>
              </a:solidFill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rgbClr val="000099"/>
                </a:solidFill>
              </a:rPr>
              <a:t>Проверяем, появился ли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^QQD </a:t>
            </a:r>
            <a:r>
              <a:rPr lang="ru-RU" sz="1400" dirty="0">
                <a:solidFill>
                  <a:srgbClr val="000099"/>
                </a:solidFill>
              </a:rPr>
              <a:t> в области имён 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u="sng" dirty="0">
                <a:solidFill>
                  <a:srgbClr val="000099"/>
                </a:solidFill>
              </a:rPr>
              <a:t>Вывод</a:t>
            </a:r>
            <a:r>
              <a:rPr lang="ru-RU" sz="1400" dirty="0">
                <a:solidFill>
                  <a:srgbClr val="000099"/>
                </a:solidFill>
              </a:rPr>
              <a:t>: При создании таблицы появляется соответствующий класс. </a:t>
            </a:r>
            <a:endParaRPr lang="ru-RU" altLang="ru-RU" sz="1400" dirty="0">
              <a:solidFill>
                <a:srgbClr val="000099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65A63F2-6C4A-45A9-B7D8-F606B22709FA}"/>
              </a:ext>
            </a:extLst>
          </p:cNvPr>
          <p:cNvSpPr/>
          <p:nvPr/>
        </p:nvSpPr>
        <p:spPr>
          <a:xfrm>
            <a:off x="6372200" y="2787774"/>
            <a:ext cx="1576778" cy="306109"/>
          </a:xfrm>
          <a:prstGeom prst="rect">
            <a:avLst/>
          </a:prstGeom>
          <a:solidFill>
            <a:schemeClr val="accent1">
              <a:lumMod val="90000"/>
            </a:schemeClr>
          </a:solidFill>
          <a:ln w="12700"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a typeface="Calibri" panose="020F0502020204030204" pitchFamily="34" charset="0"/>
                <a:cs typeface="Times New Roman" panose="02020603050405020304" pitchFamily="18" charset="0"/>
              </a:rPr>
              <a:t>А где колонка 1?</a:t>
            </a:r>
            <a:endParaRPr lang="ru-R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691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DC07166D-B17B-4E19-AF1F-FEC4C0E0F392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0"/>
            <a:ext cx="7920880" cy="419833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1. Проверяем в портале, не существует ли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^</a:t>
            </a:r>
            <a:r>
              <a:rPr lang="en-US" sz="1400" dirty="0" err="1">
                <a:solidFill>
                  <a:srgbClr val="000099"/>
                </a:solidFill>
              </a:rPr>
              <a:t>HumanD</a:t>
            </a:r>
            <a:r>
              <a:rPr lang="ru-RU" sz="1400" dirty="0">
                <a:solidFill>
                  <a:srgbClr val="000099"/>
                </a:solidFill>
              </a:rPr>
              <a:t>, класс </a:t>
            </a:r>
            <a:r>
              <a:rPr lang="en-US" sz="1400" dirty="0">
                <a:solidFill>
                  <a:srgbClr val="000099"/>
                </a:solidFill>
              </a:rPr>
              <a:t>^</a:t>
            </a:r>
            <a:r>
              <a:rPr lang="en-US" sz="1400" dirty="0" err="1">
                <a:solidFill>
                  <a:srgbClr val="000099"/>
                </a:solidFill>
              </a:rPr>
              <a:t>User.Human.cls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 таблица </a:t>
            </a:r>
            <a:r>
              <a:rPr lang="en-US" sz="1400" dirty="0">
                <a:solidFill>
                  <a:srgbClr val="000099"/>
                </a:solidFill>
              </a:rPr>
              <a:t>Human </a:t>
            </a:r>
            <a:r>
              <a:rPr lang="ru-RU" sz="1400" dirty="0">
                <a:solidFill>
                  <a:srgbClr val="000099"/>
                </a:solidFill>
              </a:rPr>
              <a:t>в области имён 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 В </a:t>
            </a:r>
            <a:r>
              <a:rPr lang="en-US" sz="1400" dirty="0">
                <a:solidFill>
                  <a:srgbClr val="000099"/>
                </a:solidFill>
              </a:rPr>
              <a:t>Studio </a:t>
            </a:r>
            <a:r>
              <a:rPr lang="ru-RU" sz="1400" dirty="0">
                <a:solidFill>
                  <a:srgbClr val="000099"/>
                </a:solidFill>
              </a:rPr>
              <a:t>вызываем мастера, задаём область имен 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, имя класса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 комментарий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300CC-D47A-4543-8420-BC8A34E8A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353" y="1203598"/>
            <a:ext cx="4536504" cy="3419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7B1F95-F4BF-45E0-9C0A-A7B611B6A39D}"/>
              </a:ext>
            </a:extLst>
          </p:cNvPr>
          <p:cNvSpPr/>
          <p:nvPr/>
        </p:nvSpPr>
        <p:spPr>
          <a:xfrm>
            <a:off x="971600" y="2211710"/>
            <a:ext cx="2196244" cy="410181"/>
          </a:xfrm>
          <a:prstGeom prst="rect">
            <a:avLst/>
          </a:prstGeom>
          <a:solidFill>
            <a:schemeClr val="accent1">
              <a:alpha val="9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dirty="0">
                <a:solidFill>
                  <a:schemeClr val="tx1"/>
                </a:solidFill>
              </a:rPr>
              <a:t>Что изменится, если не задавать имя пакета?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014469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 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796DE6A-CD4E-4F0E-B2C8-90B2A5F32CA9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1"/>
            <a:ext cx="7920880" cy="3099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2. Выбор вида класса 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9A12F2A3-635B-422A-94A9-82C514B45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692" y="771551"/>
            <a:ext cx="5544616" cy="385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Выноска 2 1">
            <a:extLst>
              <a:ext uri="{FF2B5EF4-FFF2-40B4-BE49-F238E27FC236}">
                <a16:creationId xmlns:a16="http://schemas.microsoft.com/office/drawing/2014/main" id="{A3F51823-1916-4880-8DE3-1C7E15C96EE5}"/>
              </a:ext>
            </a:extLst>
          </p:cNvPr>
          <p:cNvSpPr/>
          <p:nvPr/>
        </p:nvSpPr>
        <p:spPr>
          <a:xfrm>
            <a:off x="6372200" y="2859782"/>
            <a:ext cx="2088492" cy="539874"/>
          </a:xfrm>
          <a:prstGeom prst="borderCallout2">
            <a:avLst>
              <a:gd name="adj1" fmla="val 50496"/>
              <a:gd name="adj2" fmla="val -2454"/>
              <a:gd name="adj3" fmla="val 50496"/>
              <a:gd name="adj4" fmla="val -16247"/>
              <a:gd name="adj5" fmla="val 151301"/>
              <a:gd name="adj6" fmla="val -45827"/>
            </a:avLst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dirty="0">
                <a:solidFill>
                  <a:schemeClr val="tx1"/>
                </a:solidFill>
              </a:rPr>
              <a:t>Множественное наследование !!</a:t>
            </a:r>
          </a:p>
        </p:txBody>
      </p:sp>
    </p:spTree>
    <p:extLst>
      <p:ext uri="{BB962C8B-B14F-4D97-AF65-F5344CB8AC3E}">
        <p14:creationId xmlns:p14="http://schemas.microsoft.com/office/powerpoint/2010/main" val="3676310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-180479" y="1329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 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2D99C50-9A72-40A5-972D-B3B74C04F44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11560" y="411510"/>
            <a:ext cx="7559923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3. Выбор владельца, имени таблицы, отличного от имени класса (если это вам нужно), поддержки </a:t>
            </a:r>
            <a:r>
              <a:rPr lang="en-US" sz="1400" dirty="0">
                <a:solidFill>
                  <a:srgbClr val="000099"/>
                </a:solidFill>
              </a:rPr>
              <a:t>XML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ru-RU" sz="1400" dirty="0" err="1">
                <a:solidFill>
                  <a:srgbClr val="000099"/>
                </a:solidFill>
              </a:rPr>
              <a:t>автозаполнения</a:t>
            </a:r>
            <a:r>
              <a:rPr lang="ru-RU" sz="1400" dirty="0">
                <a:solidFill>
                  <a:srgbClr val="000099"/>
                </a:solidFill>
              </a:rPr>
              <a:t> данными</a:t>
            </a:r>
          </a:p>
          <a:p>
            <a:pPr marL="609600" indent="-609600" eaLnBrk="1" hangingPunct="1">
              <a:buFontTx/>
              <a:buNone/>
            </a:pPr>
            <a:endParaRPr lang="ru-RU" sz="2000" dirty="0"/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02565794-1DD0-4F34-A8A5-0273E66FB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724" y="987574"/>
            <a:ext cx="4968552" cy="356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398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 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49B309-1ED9-4C65-8738-AD2BDD06E4E3}"/>
              </a:ext>
            </a:extLst>
          </p:cNvPr>
          <p:cNvSpPr txBox="1">
            <a:spLocks noChangeArrowheads="1"/>
          </p:cNvSpPr>
          <p:nvPr/>
        </p:nvSpPr>
        <p:spPr>
          <a:xfrm>
            <a:off x="935596" y="481528"/>
            <a:ext cx="7380820" cy="417845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4. Смотрим полученный результат в </a:t>
            </a:r>
            <a:r>
              <a:rPr lang="en-US" sz="1400" dirty="0">
                <a:solidFill>
                  <a:srgbClr val="000099"/>
                </a:solidFill>
              </a:rPr>
              <a:t>Studio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/// Это класс первого лекционного примера класса созданного мастером</a:t>
            </a: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Class </a:t>
            </a:r>
            <a:r>
              <a:rPr lang="ru-RU" sz="1400" dirty="0" err="1">
                <a:solidFill>
                  <a:srgbClr val="000099"/>
                </a:solidFill>
              </a:rPr>
              <a:t>User.Human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ru-RU" sz="1400" dirty="0" err="1">
                <a:solidFill>
                  <a:srgbClr val="000099"/>
                </a:solidFill>
              </a:rPr>
              <a:t>Extends</a:t>
            </a:r>
            <a:r>
              <a:rPr lang="ru-RU" sz="1400" dirty="0">
                <a:solidFill>
                  <a:srgbClr val="000099"/>
                </a:solidFill>
              </a:rPr>
              <a:t> %</a:t>
            </a:r>
            <a:r>
              <a:rPr lang="ru-RU" sz="1400" dirty="0" err="1">
                <a:solidFill>
                  <a:srgbClr val="000099"/>
                </a:solidFill>
              </a:rPr>
              <a:t>Persistent</a:t>
            </a:r>
            <a:r>
              <a:rPr lang="ru-RU" sz="1400" dirty="0">
                <a:solidFill>
                  <a:srgbClr val="000099"/>
                </a:solidFill>
              </a:rPr>
              <a:t> [ </a:t>
            </a:r>
            <a:r>
              <a:rPr lang="ru-RU" sz="1400" dirty="0" err="1">
                <a:solidFill>
                  <a:srgbClr val="000099"/>
                </a:solidFill>
              </a:rPr>
              <a:t>ClassType</a:t>
            </a:r>
            <a:r>
              <a:rPr lang="ru-RU" sz="1400" dirty="0">
                <a:solidFill>
                  <a:srgbClr val="000099"/>
                </a:solidFill>
              </a:rPr>
              <a:t> = </a:t>
            </a:r>
            <a:r>
              <a:rPr lang="ru-RU" sz="1400" dirty="0" err="1">
                <a:solidFill>
                  <a:srgbClr val="000099"/>
                </a:solidFill>
              </a:rPr>
              <a:t>persistent</a:t>
            </a:r>
            <a:r>
              <a:rPr lang="ru-RU" sz="1400" dirty="0">
                <a:solidFill>
                  <a:srgbClr val="000099"/>
                </a:solidFill>
              </a:rPr>
              <a:t>, </a:t>
            </a:r>
            <a:r>
              <a:rPr lang="ru-RU" sz="1400" dirty="0" err="1">
                <a:solidFill>
                  <a:srgbClr val="000099"/>
                </a:solidFill>
              </a:rPr>
              <a:t>ProcedureBlock</a:t>
            </a:r>
            <a:r>
              <a:rPr lang="ru-RU" sz="1400" dirty="0">
                <a:solidFill>
                  <a:srgbClr val="000099"/>
                </a:solidFill>
              </a:rPr>
              <a:t> ]</a:t>
            </a: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{</a:t>
            </a: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}</a:t>
            </a: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Заметим, что описание класса передано вручную введённым комментарием. </a:t>
            </a: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Поскольку создавался хранимый класс, то </a:t>
            </a:r>
            <a:r>
              <a:rPr lang="en-US" sz="1400" dirty="0">
                <a:solidFill>
                  <a:srgbClr val="000099"/>
                </a:solidFill>
              </a:rPr>
              <a:t>^</a:t>
            </a:r>
            <a:r>
              <a:rPr lang="ru-RU" sz="1400" dirty="0" err="1">
                <a:solidFill>
                  <a:srgbClr val="000099"/>
                </a:solidFill>
              </a:rPr>
              <a:t>User.Human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наследует (</a:t>
            </a:r>
            <a:r>
              <a:rPr lang="ru-RU" sz="1400" dirty="0" err="1">
                <a:solidFill>
                  <a:srgbClr val="000099"/>
                </a:solidFill>
              </a:rPr>
              <a:t>Extends</a:t>
            </a:r>
            <a:r>
              <a:rPr lang="ru-RU" sz="1400" dirty="0">
                <a:solidFill>
                  <a:srgbClr val="000099"/>
                </a:solidFill>
              </a:rPr>
              <a:t>) системному классу %</a:t>
            </a:r>
            <a:r>
              <a:rPr lang="ru-RU" sz="1400" dirty="0" err="1">
                <a:solidFill>
                  <a:srgbClr val="000099"/>
                </a:solidFill>
              </a:rPr>
              <a:t>Persistent</a:t>
            </a:r>
            <a:r>
              <a:rPr lang="ru-RU" sz="1400" dirty="0">
                <a:solidFill>
                  <a:srgbClr val="000099"/>
                </a:solidFill>
              </a:rPr>
              <a:t> .</a:t>
            </a: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Проверьте, появились ли таблица </a:t>
            </a:r>
            <a:r>
              <a:rPr lang="en-US" sz="1400" dirty="0">
                <a:solidFill>
                  <a:srgbClr val="000099"/>
                </a:solidFill>
              </a:rPr>
              <a:t>Human? </a:t>
            </a:r>
            <a:r>
              <a:rPr lang="ru-RU" sz="1400" dirty="0">
                <a:solidFill>
                  <a:srgbClr val="000099"/>
                </a:solidFill>
              </a:rPr>
              <a:t>В чём её особенности? А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^</a:t>
            </a:r>
            <a:r>
              <a:rPr lang="en-US" sz="1400" dirty="0" err="1">
                <a:solidFill>
                  <a:srgbClr val="000099"/>
                </a:solidFill>
              </a:rPr>
              <a:t>HumanD</a:t>
            </a:r>
            <a:r>
              <a:rPr lang="ru-RU" sz="1400" dirty="0">
                <a:solidFill>
                  <a:srgbClr val="000099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6538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FFE01078-1932-4D0A-90A8-0314BE8B89D8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481012"/>
            <a:ext cx="6768752" cy="410696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5. В </a:t>
            </a:r>
            <a:r>
              <a:rPr lang="en-US" sz="1400" dirty="0">
                <a:solidFill>
                  <a:srgbClr val="000099"/>
                </a:solidFill>
              </a:rPr>
              <a:t>Studio </a:t>
            </a:r>
            <a:r>
              <a:rPr lang="ru-RU" sz="1400" dirty="0">
                <a:solidFill>
                  <a:srgbClr val="000099"/>
                </a:solidFill>
              </a:rPr>
              <a:t>выбираем «Новое свойство» (Правая кнопка мыши – Добавить)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C878D-51D3-4D63-8414-6B62B11D0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804" y="815441"/>
            <a:ext cx="3528392" cy="3772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9019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F92829-6013-4383-9B7A-8205112D4D8D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481012"/>
            <a:ext cx="6768752" cy="41018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6. Добавляем атрибуты используя появившийся мастер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B18A1-9255-4B48-9278-A8AB77397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455" y="770496"/>
            <a:ext cx="5115090" cy="384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127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4609BF0-DA9C-4E5F-A5DE-D158A6D6DDBE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481012"/>
            <a:ext cx="7488832" cy="41018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eaLnBrk="1" hangingPunct="1">
              <a:spcBef>
                <a:spcPts val="0"/>
              </a:spcBef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7. Выбираем тип данных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524D970-FBB0-4B9F-87BB-901F26E89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10" y="771550"/>
            <a:ext cx="5094579" cy="3820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730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39584"/>
            <a:ext cx="9144000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F1968-465D-4F84-9419-1D1383E5CBD8}"/>
              </a:ext>
            </a:extLst>
          </p:cNvPr>
          <p:cNvSpPr txBox="1"/>
          <p:nvPr/>
        </p:nvSpPr>
        <p:spPr>
          <a:xfrm>
            <a:off x="899592" y="483518"/>
            <a:ext cx="7344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600" indent="-609600" eaLnBrk="1" hangingPunct="1"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8. Задаем свойства и переходим к параметрам типа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C3248F4-20B7-42EC-ADDC-F0229F657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724" y="791295"/>
            <a:ext cx="4968552" cy="3830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0662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7504" y="39584"/>
            <a:ext cx="8855968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 </a:t>
            </a:r>
            <a:endParaRPr lang="ru-RU" sz="2000" b="1" dirty="0">
              <a:solidFill>
                <a:srgbClr val="C00000"/>
              </a:solidFill>
              <a:latin typeface="Arial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0255E4-54A1-4BAF-A2AA-A16678C5419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0"/>
            <a:ext cx="7488832" cy="419833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609600" indent="-609600" eaLnBrk="1" hangingPunct="1"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9. Оставляем параметры типа по умолчанию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0B1B0B-2809-490D-A29F-E35DB115D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251" y="754288"/>
            <a:ext cx="4807497" cy="39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20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39584"/>
            <a:ext cx="9144000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000" b="1" dirty="0">
                <a:solidFill>
                  <a:srgbClr val="CE2816"/>
                </a:solidFill>
              </a:rPr>
              <a:t>Способ 2. Использование мастера</a:t>
            </a:r>
            <a:endParaRPr lang="ru-RU" sz="2000" b="1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5272A7-4710-4527-AACA-D469F2B1C9D1}"/>
              </a:ext>
            </a:extLst>
          </p:cNvPr>
          <p:cNvSpPr txBox="1"/>
          <p:nvPr/>
        </p:nvSpPr>
        <p:spPr>
          <a:xfrm>
            <a:off x="827584" y="484862"/>
            <a:ext cx="734481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Шаг </a:t>
            </a:r>
            <a:r>
              <a:rPr lang="en-US" sz="1400" dirty="0">
                <a:solidFill>
                  <a:srgbClr val="000099"/>
                </a:solidFill>
              </a:rPr>
              <a:t>10.</a:t>
            </a:r>
            <a:r>
              <a:rPr lang="ru-RU" sz="1400" dirty="0">
                <a:solidFill>
                  <a:srgbClr val="000099"/>
                </a:solidFill>
              </a:rPr>
              <a:t> В </a:t>
            </a:r>
            <a:r>
              <a:rPr lang="en-US" sz="1400" dirty="0">
                <a:solidFill>
                  <a:srgbClr val="000099"/>
                </a:solidFill>
              </a:rPr>
              <a:t>Studio</a:t>
            </a:r>
            <a:r>
              <a:rPr lang="ru-RU" sz="1400" dirty="0">
                <a:solidFill>
                  <a:srgbClr val="000099"/>
                </a:solidFill>
              </a:rPr>
              <a:t> обнаруживаем текст, определяющий новое свойство: </a:t>
            </a: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{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/// Это имя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Property Name As %</a:t>
            </a:r>
            <a:r>
              <a:rPr lang="ru-RU" sz="1400" dirty="0" err="1">
                <a:solidFill>
                  <a:srgbClr val="000099"/>
                </a:solidFill>
              </a:rPr>
              <a:t>String</a:t>
            </a:r>
            <a:r>
              <a:rPr lang="ru-RU" sz="1400" dirty="0">
                <a:solidFill>
                  <a:srgbClr val="000099"/>
                </a:solidFill>
              </a:rPr>
              <a:t>;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}</a:t>
            </a: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Просмотрите ещё раз таблицу </a:t>
            </a:r>
            <a:r>
              <a:rPr lang="en-US" sz="1400" dirty="0">
                <a:solidFill>
                  <a:srgbClr val="000099"/>
                </a:solidFill>
              </a:rPr>
              <a:t>Human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^</a:t>
            </a:r>
            <a:r>
              <a:rPr lang="en-US" sz="1400" dirty="0" err="1">
                <a:solidFill>
                  <a:srgbClr val="000099"/>
                </a:solidFill>
              </a:rPr>
              <a:t>HumanD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Этот же результат мог быть получен непосредственно вводом текста описывающего свойства в </a:t>
            </a:r>
            <a:r>
              <a:rPr lang="en-US" sz="1400" dirty="0">
                <a:solidFill>
                  <a:srgbClr val="000099"/>
                </a:solidFill>
              </a:rPr>
              <a:t>Studio</a:t>
            </a:r>
            <a:r>
              <a:rPr lang="ru-RU" sz="1400" dirty="0">
                <a:solidFill>
                  <a:srgbClr val="000099"/>
                </a:solidFill>
              </a:rPr>
              <a:t>. Но это уже способ 3 создания класса.</a:t>
            </a: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      </a:t>
            </a: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Способ 4 реализуется из </a:t>
            </a:r>
            <a:r>
              <a:rPr lang="en-US" sz="1400" dirty="0">
                <a:solidFill>
                  <a:srgbClr val="000099"/>
                </a:solidFill>
              </a:rPr>
              <a:t>UML-</a:t>
            </a:r>
            <a:r>
              <a:rPr lang="ru-RU" sz="1400" dirty="0">
                <a:solidFill>
                  <a:srgbClr val="000099"/>
                </a:solidFill>
              </a:rPr>
              <a:t>диаграммы при подключении инструмента </a:t>
            </a:r>
            <a:r>
              <a:rPr lang="en-US" sz="1400" dirty="0">
                <a:solidFill>
                  <a:srgbClr val="000099"/>
                </a:solidFill>
              </a:rPr>
              <a:t>Rational Rose </a:t>
            </a:r>
            <a:endParaRPr 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482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Методы </a:t>
            </a:r>
            <a:r>
              <a:rPr lang="ru-RU" sz="2000" b="1" dirty="0" err="1">
                <a:solidFill>
                  <a:srgbClr val="CE2816"/>
                </a:solidFill>
              </a:rPr>
              <a:t>унаследованые</a:t>
            </a:r>
            <a:r>
              <a:rPr lang="ru-RU" sz="2000" b="1" dirty="0">
                <a:solidFill>
                  <a:srgbClr val="CE2816"/>
                </a:solidFill>
              </a:rPr>
              <a:t> от класса %</a:t>
            </a:r>
            <a:r>
              <a:rPr lang="ru-RU" sz="2000" b="1" dirty="0" err="1">
                <a:solidFill>
                  <a:srgbClr val="CE2816"/>
                </a:solidFill>
              </a:rPr>
              <a:t>Persist</a:t>
            </a:r>
            <a:r>
              <a:rPr lang="en-US" sz="2000" b="1" dirty="0">
                <a:solidFill>
                  <a:srgbClr val="CE2816"/>
                </a:solidFill>
              </a:rPr>
              <a:t>e</a:t>
            </a:r>
            <a:r>
              <a:rPr lang="ru-RU" sz="2000" b="1" dirty="0" err="1">
                <a:solidFill>
                  <a:srgbClr val="CE2816"/>
                </a:solidFill>
              </a:rPr>
              <a:t>nt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FBCAD-27A3-4A8E-BC12-30E3AF12E254}"/>
              </a:ext>
            </a:extLst>
          </p:cNvPr>
          <p:cNvSpPr txBox="1"/>
          <p:nvPr/>
        </p:nvSpPr>
        <p:spPr>
          <a:xfrm>
            <a:off x="755576" y="483518"/>
            <a:ext cx="777686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Прежде, чем мы рассмотрим 5-й способ создания класса – из </a:t>
            </a:r>
            <a:r>
              <a:rPr lang="en-US" sz="1400" dirty="0">
                <a:solidFill>
                  <a:srgbClr val="000099"/>
                </a:solidFill>
              </a:rPr>
              <a:t>COS – </a:t>
            </a:r>
            <a:r>
              <a:rPr lang="ru-RU" sz="1400" dirty="0">
                <a:solidFill>
                  <a:srgbClr val="000099"/>
                </a:solidFill>
              </a:rPr>
              <a:t>перечислим методы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наследуемые от родительского класса </a:t>
            </a:r>
            <a:r>
              <a:rPr lang="en-US" sz="1400" dirty="0">
                <a:solidFill>
                  <a:srgbClr val="000099"/>
                </a:solidFill>
              </a:rPr>
              <a:t>%Persistent:</a:t>
            </a:r>
          </a:p>
          <a:p>
            <a:pPr indent="360000" algn="just" eaLnBrk="1" hangingPunct="1">
              <a:spcAft>
                <a:spcPts val="600"/>
              </a:spcAft>
              <a:buNone/>
            </a:pPr>
            <a:endParaRPr lang="en-US" sz="14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%</a:t>
            </a:r>
            <a:r>
              <a:rPr lang="en-US" sz="1400" dirty="0">
                <a:solidFill>
                  <a:srgbClr val="000099"/>
                </a:solidFill>
              </a:rPr>
              <a:t>New</a:t>
            </a:r>
            <a:r>
              <a:rPr lang="ru-RU" sz="1400" dirty="0">
                <a:solidFill>
                  <a:srgbClr val="000099"/>
                </a:solidFill>
              </a:rPr>
              <a:t>(). Конструктор объекта. Его задача – создать экземпляр класса. 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%</a:t>
            </a:r>
            <a:r>
              <a:rPr lang="en-US" sz="1400" dirty="0">
                <a:solidFill>
                  <a:srgbClr val="000099"/>
                </a:solidFill>
              </a:rPr>
              <a:t>Save</a:t>
            </a:r>
            <a:r>
              <a:rPr lang="ru-RU" sz="1400" dirty="0">
                <a:solidFill>
                  <a:srgbClr val="000099"/>
                </a:solidFill>
              </a:rPr>
              <a:t>(). Сохраняет объект на диске.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%</a:t>
            </a:r>
            <a:r>
              <a:rPr lang="en-US" sz="1400" dirty="0">
                <a:solidFill>
                  <a:srgbClr val="000099"/>
                </a:solidFill>
              </a:rPr>
              <a:t>Close</a:t>
            </a:r>
            <a:r>
              <a:rPr lang="ru-RU" sz="1400" dirty="0">
                <a:solidFill>
                  <a:srgbClr val="000099"/>
                </a:solidFill>
              </a:rPr>
              <a:t>(). Закрывает объект, то есть удаляет его из памяти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%</a:t>
            </a:r>
            <a:r>
              <a:rPr lang="en-US" sz="1400" dirty="0">
                <a:solidFill>
                  <a:srgbClr val="000099"/>
                </a:solidFill>
              </a:rPr>
              <a:t>Open</a:t>
            </a:r>
            <a:r>
              <a:rPr lang="ru-RU" sz="1400" dirty="0">
                <a:solidFill>
                  <a:srgbClr val="000099"/>
                </a:solidFill>
              </a:rPr>
              <a:t>(). Метод класса. Если он находит объект существующий в базе данных, то создает в памяти его копию, содержащую значения всех свойств, и возвращает объект. Если объект уже загружен в память, просто возвращается OREF. Вообще у метода три аргумента. Второй аргумент </a:t>
            </a:r>
            <a:r>
              <a:rPr lang="ru-RU" sz="1400" dirty="0" err="1">
                <a:solidFill>
                  <a:srgbClr val="000099"/>
                </a:solidFill>
              </a:rPr>
              <a:t>Concurrency</a:t>
            </a:r>
            <a:r>
              <a:rPr lang="ru-RU" sz="1400" dirty="0">
                <a:solidFill>
                  <a:srgbClr val="000099"/>
                </a:solidFill>
              </a:rPr>
              <a:t> определяет особенности параллельной работы и принимает значения 0, 1, 2, 3, 4.</a:t>
            </a:r>
            <a:r>
              <a:rPr lang="ru-RU" sz="1400" i="1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По умолчанию установлен в “1”, что означает создание разделяемой блокировки при загрузке объекта в память.  </a:t>
            </a:r>
            <a:r>
              <a:rPr lang="ru-RU" sz="1400" i="1" dirty="0">
                <a:solidFill>
                  <a:srgbClr val="000099"/>
                </a:solidFill>
              </a:rPr>
              <a:t> </a:t>
            </a:r>
            <a:endParaRPr lang="ru-RU" sz="14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%</a:t>
            </a:r>
            <a:r>
              <a:rPr lang="en-US" sz="1400" dirty="0">
                <a:solidFill>
                  <a:srgbClr val="000099"/>
                </a:solidFill>
              </a:rPr>
              <a:t>OpenID</a:t>
            </a:r>
            <a:r>
              <a:rPr lang="ru-RU" sz="1400" dirty="0">
                <a:solidFill>
                  <a:srgbClr val="000099"/>
                </a:solidFill>
              </a:rPr>
              <a:t>().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%</a:t>
            </a:r>
            <a:r>
              <a:rPr lang="en-US" sz="1400" dirty="0">
                <a:solidFill>
                  <a:srgbClr val="000099"/>
                </a:solidFill>
              </a:rPr>
              <a:t>Delete</a:t>
            </a:r>
            <a:r>
              <a:rPr lang="ru-RU" sz="1400" dirty="0">
                <a:solidFill>
                  <a:srgbClr val="000099"/>
                </a:solidFill>
              </a:rPr>
              <a:t>().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%</a:t>
            </a:r>
            <a:r>
              <a:rPr lang="en-US" sz="1400" dirty="0" err="1">
                <a:solidFill>
                  <a:srgbClr val="000099"/>
                </a:solidFill>
              </a:rPr>
              <a:t>IsModified</a:t>
            </a:r>
            <a:r>
              <a:rPr lang="ru-RU" sz="1400" dirty="0">
                <a:solidFill>
                  <a:srgbClr val="000099"/>
                </a:solidFill>
              </a:rPr>
              <a:t>().</a:t>
            </a:r>
            <a:endParaRPr lang="ru-RU" alt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538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Работа с объектами в </a:t>
            </a:r>
            <a:r>
              <a:rPr lang="en-US" sz="2000" b="1" dirty="0">
                <a:solidFill>
                  <a:srgbClr val="CE2816"/>
                </a:solidFill>
              </a:rPr>
              <a:t>COS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1115616" y="483518"/>
            <a:ext cx="6696744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Создадим простейший класс с единственным атрибутом </a:t>
            </a:r>
            <a:r>
              <a:rPr lang="en-US" sz="1400" dirty="0">
                <a:solidFill>
                  <a:srgbClr val="000099"/>
                </a:solidFill>
              </a:rPr>
              <a:t>Name</a:t>
            </a:r>
            <a:r>
              <a:rPr lang="ru-RU" sz="1400" dirty="0">
                <a:solidFill>
                  <a:srgbClr val="000099"/>
                </a:solidFill>
              </a:rPr>
              <a:t>. 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Class </a:t>
            </a:r>
            <a:r>
              <a:rPr lang="en-US" sz="1400" dirty="0" err="1">
                <a:solidFill>
                  <a:srgbClr val="000099"/>
                </a:solidFill>
              </a:rPr>
              <a:t>User.A</a:t>
            </a:r>
            <a:r>
              <a:rPr lang="en-US" sz="1400" dirty="0">
                <a:solidFill>
                  <a:srgbClr val="000099"/>
                </a:solidFill>
              </a:rPr>
              <a:t> Extends %Persistent [ </a:t>
            </a:r>
            <a:r>
              <a:rPr lang="en-US" sz="1400" dirty="0" err="1">
                <a:solidFill>
                  <a:srgbClr val="000099"/>
                </a:solidFill>
              </a:rPr>
              <a:t>ClassType</a:t>
            </a:r>
            <a:r>
              <a:rPr lang="en-US" sz="1400" dirty="0">
                <a:solidFill>
                  <a:srgbClr val="000099"/>
                </a:solidFill>
              </a:rPr>
              <a:t> = persistent, </a:t>
            </a:r>
            <a:r>
              <a:rPr lang="en-US" sz="1400" dirty="0" err="1">
                <a:solidFill>
                  <a:srgbClr val="000099"/>
                </a:solidFill>
              </a:rPr>
              <a:t>ProcedureBlock</a:t>
            </a:r>
            <a:r>
              <a:rPr lang="en-US" sz="1400" dirty="0">
                <a:solidFill>
                  <a:srgbClr val="000099"/>
                </a:solidFill>
              </a:rPr>
              <a:t> ]</a:t>
            </a: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{</a:t>
            </a: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	Property Name As %String(MAXLEN = 20);</a:t>
            </a: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}</a:t>
            </a:r>
          </a:p>
          <a:p>
            <a:pPr marL="285750" indent="-285750" algn="just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</a:rPr>
              <a:t>Создадим экземпляр класса с помощью метода %</a:t>
            </a:r>
            <a:r>
              <a:rPr lang="en-US" sz="1400" dirty="0">
                <a:solidFill>
                  <a:srgbClr val="000099"/>
                </a:solidFill>
              </a:rPr>
              <a:t>New</a:t>
            </a:r>
            <a:r>
              <a:rPr lang="ru-RU" sz="1400" dirty="0">
                <a:solidFill>
                  <a:srgbClr val="000099"/>
                </a:solidFill>
              </a:rPr>
              <a:t>(): 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set ss=##class(User.A).%New()</a:t>
            </a:r>
            <a:endParaRPr lang="ru-RU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Макроподстановка ##</a:t>
            </a:r>
            <a:r>
              <a:rPr lang="en-US" sz="1400" dirty="0">
                <a:solidFill>
                  <a:srgbClr val="000099"/>
                </a:solidFill>
              </a:rPr>
              <a:t>class</a:t>
            </a:r>
            <a:r>
              <a:rPr lang="ru-RU" sz="1400" dirty="0">
                <a:solidFill>
                  <a:srgbClr val="000099"/>
                </a:solidFill>
              </a:rPr>
              <a:t> создает объектную ссылку</a:t>
            </a:r>
            <a:r>
              <a:rPr lang="en-US" sz="1400" dirty="0">
                <a:solidFill>
                  <a:srgbClr val="000099"/>
                </a:solidFill>
              </a:rPr>
              <a:t> OREF</a:t>
            </a:r>
            <a:r>
              <a:rPr lang="ru-RU" sz="1400" dirty="0">
                <a:solidFill>
                  <a:srgbClr val="000099"/>
                </a:solidFill>
              </a:rPr>
              <a:t>. Что же представляет собой эта ссылка? 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write ss</a:t>
            </a:r>
            <a:endParaRPr lang="ru-RU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Ответ: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ru-RU" sz="1400" dirty="0">
                <a:hlinkClick r:id="rId3"/>
              </a:rPr>
              <a:t>1@</a:t>
            </a:r>
            <a:r>
              <a:rPr lang="en-US" sz="1400" dirty="0">
                <a:hlinkClick r:id="rId3"/>
              </a:rPr>
              <a:t>User</a:t>
            </a:r>
            <a:r>
              <a:rPr lang="ru-RU" sz="1400" dirty="0">
                <a:hlinkClick r:id="rId3"/>
              </a:rPr>
              <a:t>.</a:t>
            </a:r>
            <a:r>
              <a:rPr lang="en-US" sz="1400" dirty="0">
                <a:hlinkClick r:id="rId3"/>
              </a:rPr>
              <a:t>A</a:t>
            </a:r>
            <a:endParaRPr lang="en-US" sz="1400" dirty="0"/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Итак, </a:t>
            </a:r>
            <a:r>
              <a:rPr lang="en-US" sz="1400" dirty="0">
                <a:solidFill>
                  <a:srgbClr val="000099"/>
                </a:solidFill>
              </a:rPr>
              <a:t>OREF</a:t>
            </a:r>
            <a:r>
              <a:rPr lang="ru-RU" sz="1400" dirty="0">
                <a:solidFill>
                  <a:srgbClr val="000099"/>
                </a:solidFill>
              </a:rPr>
              <a:t> состоит из двух частей имени класса “</a:t>
            </a:r>
            <a:r>
              <a:rPr lang="ru-RU" sz="1400" dirty="0" err="1">
                <a:solidFill>
                  <a:srgbClr val="000099"/>
                </a:solidFill>
              </a:rPr>
              <a:t>User.A</a:t>
            </a:r>
            <a:r>
              <a:rPr lang="ru-RU" sz="1400" dirty="0">
                <a:solidFill>
                  <a:srgbClr val="000099"/>
                </a:solidFill>
              </a:rPr>
              <a:t>” и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идентификатора объекта ”1”.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Вторая ссылка </a:t>
            </a:r>
            <a:r>
              <a:rPr lang="en-US" sz="1400" dirty="0">
                <a:solidFill>
                  <a:srgbClr val="000099"/>
                </a:solidFill>
              </a:rPr>
              <a:t>OID </a:t>
            </a:r>
            <a:r>
              <a:rPr lang="ru-RU" sz="1400" dirty="0">
                <a:solidFill>
                  <a:srgbClr val="000099"/>
                </a:solidFill>
              </a:rPr>
              <a:t>читается методом</a:t>
            </a:r>
            <a:r>
              <a:rPr lang="en-US" sz="1400" dirty="0">
                <a:solidFill>
                  <a:srgbClr val="000099"/>
                </a:solidFill>
              </a:rPr>
              <a:t> %</a:t>
            </a:r>
            <a:r>
              <a:rPr lang="en-US" sz="1400" dirty="0" err="1">
                <a:solidFill>
                  <a:srgbClr val="000099"/>
                </a:solidFill>
              </a:rPr>
              <a:t>Oid</a:t>
            </a:r>
            <a:r>
              <a:rPr lang="en-US" sz="1400" dirty="0">
                <a:solidFill>
                  <a:srgbClr val="000099"/>
                </a:solidFill>
              </a:rPr>
              <a:t>():</a:t>
            </a: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w ss.%</a:t>
            </a:r>
            <a:r>
              <a:rPr lang="en-US" sz="1400" dirty="0" err="1">
                <a:solidFill>
                  <a:srgbClr val="000099"/>
                </a:solidFill>
              </a:rPr>
              <a:t>Oid</a:t>
            </a:r>
            <a:r>
              <a:rPr lang="en-US" sz="1400" dirty="0">
                <a:solidFill>
                  <a:srgbClr val="000099"/>
                </a:solidFill>
              </a:rPr>
              <a:t>()</a:t>
            </a:r>
          </a:p>
          <a:p>
            <a:pPr indent="360000" algn="just" eaLnBrk="1" hangingPunct="1">
              <a:spcAft>
                <a:spcPts val="200"/>
              </a:spcAft>
              <a:buFontTx/>
              <a:buNone/>
            </a:pPr>
            <a:r>
              <a:rPr lang="en-US" sz="1400" dirty="0" err="1">
                <a:solidFill>
                  <a:srgbClr val="000099"/>
                </a:solidFill>
              </a:rPr>
              <a:t>User.A</a:t>
            </a:r>
            <a:endParaRPr 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078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Работа с объектами в </a:t>
            </a:r>
            <a:r>
              <a:rPr lang="en-US" sz="2000" b="1" dirty="0">
                <a:solidFill>
                  <a:srgbClr val="CE2816"/>
                </a:solidFill>
              </a:rPr>
              <a:t>COS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DC1488-8AF5-4B34-A8C1-5D04D3216639}"/>
              </a:ext>
            </a:extLst>
          </p:cNvPr>
          <p:cNvSpPr txBox="1"/>
          <p:nvPr/>
        </p:nvSpPr>
        <p:spPr>
          <a:xfrm>
            <a:off x="755576" y="483518"/>
            <a:ext cx="7776864" cy="377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eaLnBrk="1" hangingPunct="1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OID </a:t>
            </a:r>
            <a:r>
              <a:rPr lang="ru-RU" sz="1400" dirty="0">
                <a:solidFill>
                  <a:srgbClr val="000099"/>
                </a:solidFill>
              </a:rPr>
              <a:t>представляет собой список, состоящий из </a:t>
            </a:r>
            <a:r>
              <a:rPr lang="en-US" sz="1400" dirty="0">
                <a:solidFill>
                  <a:srgbClr val="000099"/>
                </a:solidFill>
              </a:rPr>
              <a:t>OID </a:t>
            </a:r>
            <a:r>
              <a:rPr lang="ru-RU" sz="1400" dirty="0">
                <a:solidFill>
                  <a:srgbClr val="000099"/>
                </a:solidFill>
              </a:rPr>
              <a:t>объекта и имени класса. Читаем его компоненты циклом с командой </a:t>
            </a:r>
            <a:r>
              <a:rPr lang="en-US" sz="1400" dirty="0">
                <a:solidFill>
                  <a:srgbClr val="000099"/>
                </a:solidFill>
              </a:rPr>
              <a:t>$list:</a:t>
            </a:r>
          </a:p>
          <a:p>
            <a:pPr indent="36000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ERKurierPSCyr-Regular"/>
              </a:rPr>
              <a:t>f </a:t>
            </a:r>
            <a:r>
              <a:rPr lang="en-US" sz="1400" dirty="0" err="1">
                <a:solidFill>
                  <a:srgbClr val="000099"/>
                </a:solidFill>
                <a:latin typeface="ERKurierPSCyr-Regular"/>
              </a:rPr>
              <a:t>i</a:t>
            </a:r>
            <a:r>
              <a:rPr lang="en-US" sz="1400" dirty="0">
                <a:solidFill>
                  <a:srgbClr val="000099"/>
                </a:solidFill>
                <a:latin typeface="ERKurierPSCyr-Regular"/>
              </a:rPr>
              <a:t>=1:1:$</a:t>
            </a:r>
            <a:r>
              <a:rPr lang="en-US" sz="1400" dirty="0" err="1">
                <a:solidFill>
                  <a:srgbClr val="000099"/>
                </a:solidFill>
                <a:latin typeface="ERKurierPSCyr-Regular"/>
              </a:rPr>
              <a:t>ll</a:t>
            </a:r>
            <a:r>
              <a:rPr lang="en-US" sz="1400" dirty="0">
                <a:solidFill>
                  <a:srgbClr val="000099"/>
                </a:solidFill>
                <a:latin typeface="ERKurierPSCyr-Regular"/>
              </a:rPr>
              <a:t>(ss.%</a:t>
            </a:r>
            <a:r>
              <a:rPr lang="en-US" sz="1400" dirty="0" err="1">
                <a:solidFill>
                  <a:srgbClr val="000099"/>
                </a:solidFill>
                <a:latin typeface="ERKurierPSCyr-Regular"/>
              </a:rPr>
              <a:t>Oid</a:t>
            </a:r>
            <a:r>
              <a:rPr lang="en-US" sz="1400" dirty="0">
                <a:solidFill>
                  <a:srgbClr val="000099"/>
                </a:solidFill>
                <a:latin typeface="ERKurierPSCyr-Regular"/>
              </a:rPr>
              <a:t>()) {w !,$li(ss.%</a:t>
            </a:r>
            <a:r>
              <a:rPr lang="en-US" sz="1400" dirty="0" err="1">
                <a:solidFill>
                  <a:srgbClr val="000099"/>
                </a:solidFill>
                <a:latin typeface="ERKurierPSCyr-Regular"/>
              </a:rPr>
              <a:t>Oid</a:t>
            </a:r>
            <a:r>
              <a:rPr lang="en-US" sz="1400" dirty="0">
                <a:solidFill>
                  <a:srgbClr val="000099"/>
                </a:solidFill>
                <a:latin typeface="ERKurierPSCyr-Regular"/>
              </a:rPr>
              <a:t>(),</a:t>
            </a:r>
            <a:r>
              <a:rPr lang="en-US" sz="1400" dirty="0" err="1">
                <a:solidFill>
                  <a:srgbClr val="000099"/>
                </a:solidFill>
                <a:latin typeface="ERKurierPSCyr-Regular"/>
              </a:rPr>
              <a:t>i</a:t>
            </a:r>
            <a:r>
              <a:rPr lang="en-US" sz="1400" dirty="0">
                <a:solidFill>
                  <a:srgbClr val="000099"/>
                </a:solidFill>
                <a:latin typeface="ERKurierPSCyr-Regular"/>
              </a:rPr>
              <a:t>)}</a:t>
            </a:r>
          </a:p>
          <a:p>
            <a:pPr indent="360000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ERKurierPSCyr-Regular"/>
              </a:rPr>
              <a:t>1</a:t>
            </a:r>
          </a:p>
          <a:p>
            <a:pPr indent="360000">
              <a:spcAft>
                <a:spcPts val="600"/>
              </a:spcAft>
              <a:buNone/>
            </a:pPr>
            <a:r>
              <a:rPr lang="en-US" sz="1400" dirty="0" err="1">
                <a:solidFill>
                  <a:srgbClr val="000099"/>
                </a:solidFill>
                <a:latin typeface="ERKurierPSCyr-Regular"/>
              </a:rPr>
              <a:t>User.A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</a:rPr>
              <a:t>Для того, чтобы завершить создание объекта необходимо ввести  значения его атрибутов и сохранить объект на диск. Если объект дальше не будет использоваться, необходимо удалить его из памяти. </a:t>
            </a: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ru-RU" sz="1400" dirty="0">
                <a:solidFill>
                  <a:srgbClr val="000099"/>
                </a:solidFill>
              </a:rPr>
              <a:t>s </a:t>
            </a:r>
            <a:r>
              <a:rPr lang="en-US" sz="1400" dirty="0">
                <a:solidFill>
                  <a:srgbClr val="000099"/>
                </a:solidFill>
              </a:rPr>
              <a:t>ss</a:t>
            </a:r>
            <a:r>
              <a:rPr lang="ru-RU" sz="1400" dirty="0">
                <a:solidFill>
                  <a:srgbClr val="000099"/>
                </a:solidFill>
              </a:rPr>
              <a:t>.Name=”</a:t>
            </a:r>
            <a:r>
              <a:rPr lang="en-US" sz="1400" dirty="0">
                <a:solidFill>
                  <a:srgbClr val="000099"/>
                </a:solidFill>
              </a:rPr>
              <a:t>John</a:t>
            </a:r>
            <a:r>
              <a:rPr lang="ru-RU" sz="1400" dirty="0">
                <a:solidFill>
                  <a:srgbClr val="000099"/>
                </a:solidFill>
              </a:rPr>
              <a:t>”  // параметру Name объекта № 1   присвоено значение.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d ss</a:t>
            </a:r>
            <a:r>
              <a:rPr lang="ru-RU" sz="1400" dirty="0">
                <a:solidFill>
                  <a:srgbClr val="000099"/>
                </a:solidFill>
              </a:rPr>
              <a:t>.%</a:t>
            </a:r>
            <a:r>
              <a:rPr lang="en-US" sz="1400" dirty="0">
                <a:solidFill>
                  <a:srgbClr val="000099"/>
                </a:solidFill>
              </a:rPr>
              <a:t>Save</a:t>
            </a:r>
            <a:r>
              <a:rPr lang="ru-RU" sz="1400" dirty="0">
                <a:solidFill>
                  <a:srgbClr val="000099"/>
                </a:solidFill>
              </a:rPr>
              <a:t>()          // объект № 1 сохранен на диске.</a:t>
            </a:r>
            <a:endParaRPr lang="en-US" sz="1400" dirty="0">
              <a:solidFill>
                <a:srgbClr val="000099"/>
              </a:solidFill>
            </a:endParaRPr>
          </a:p>
          <a:p>
            <a:pPr indent="360000" eaLnBrk="1" hangingPunct="1">
              <a:spcAft>
                <a:spcPts val="600"/>
              </a:spcAft>
              <a:buFontTx/>
              <a:buNone/>
            </a:pPr>
            <a:r>
              <a:rPr lang="en-US" sz="1400" dirty="0">
                <a:solidFill>
                  <a:srgbClr val="000099"/>
                </a:solidFill>
              </a:rPr>
              <a:t>d ss</a:t>
            </a:r>
            <a:r>
              <a:rPr lang="ru-RU" sz="1400" dirty="0">
                <a:solidFill>
                  <a:srgbClr val="000099"/>
                </a:solidFill>
              </a:rPr>
              <a:t>.%</a:t>
            </a:r>
            <a:r>
              <a:rPr lang="en-US" sz="1400" dirty="0">
                <a:solidFill>
                  <a:srgbClr val="000099"/>
                </a:solidFill>
              </a:rPr>
              <a:t>Close</a:t>
            </a:r>
            <a:r>
              <a:rPr lang="ru-RU" sz="1400" dirty="0">
                <a:solidFill>
                  <a:srgbClr val="000099"/>
                </a:solidFill>
              </a:rPr>
              <a:t>()         // объект № 1 закрыт, то есть удален из памяти.</a:t>
            </a:r>
          </a:p>
          <a:p>
            <a:pPr indent="360000" eaLnBrk="1" hangingPunct="1">
              <a:spcAft>
                <a:spcPts val="600"/>
              </a:spcAft>
              <a:buNone/>
            </a:pPr>
            <a:r>
              <a:rPr lang="ru-RU" sz="1400" u="sng" dirty="0">
                <a:solidFill>
                  <a:srgbClr val="000099"/>
                </a:solidFill>
              </a:rPr>
              <a:t>Вывод</a:t>
            </a:r>
            <a:r>
              <a:rPr lang="ru-RU" sz="1400" dirty="0">
                <a:solidFill>
                  <a:srgbClr val="000099"/>
                </a:solidFill>
              </a:rPr>
              <a:t>: Задание первого объекта класса образует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. Проверим проводником образовался ли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r>
              <a:rPr lang="en-US" sz="1400" dirty="0">
                <a:solidFill>
                  <a:srgbClr val="000099"/>
                </a:solidFill>
              </a:rPr>
              <a:t>AD</a:t>
            </a:r>
            <a:r>
              <a:rPr lang="ru-RU" sz="1400" dirty="0">
                <a:solidFill>
                  <a:srgbClr val="000099"/>
                </a:solidFill>
              </a:rPr>
              <a:t>. </a:t>
            </a:r>
          </a:p>
          <a:p>
            <a:pPr eaLnBrk="1" hangingPunct="1">
              <a:lnSpc>
                <a:spcPct val="90000"/>
              </a:lnSpc>
            </a:pPr>
            <a:endParaRPr lang="ru-RU" alt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888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Работа с объектами в </a:t>
            </a:r>
            <a:r>
              <a:rPr lang="en-US" sz="2000" b="1" dirty="0">
                <a:solidFill>
                  <a:srgbClr val="CE2816"/>
                </a:solidFill>
              </a:rPr>
              <a:t>COS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A5EBC-1ACA-4F30-9276-10B46B7B7A6C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370" y="555526"/>
            <a:ext cx="5761260" cy="3820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6672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Классы, таблицы, объекты, строки и деревья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1187624" y="483518"/>
            <a:ext cx="684076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Теперь понятны связи между иерархической, табличной и объектными моделями в </a:t>
            </a:r>
            <a:r>
              <a:rPr lang="en-US" sz="1400" dirty="0" err="1">
                <a:solidFill>
                  <a:srgbClr val="000099"/>
                </a:solidFill>
                <a:ea typeface="+mj-ea"/>
                <a:cs typeface="+mj-cs"/>
              </a:rPr>
              <a:t>Caché</a:t>
            </a:r>
            <a:r>
              <a:rPr lang="ru-RU" sz="1400" dirty="0">
                <a:solidFill>
                  <a:srgbClr val="000099"/>
                </a:solidFill>
                <a:ea typeface="+mj-ea"/>
                <a:cs typeface="+mj-cs"/>
              </a:rPr>
              <a:t>.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ea typeface="+mj-ea"/>
                <a:cs typeface="+mj-cs"/>
              </a:rPr>
              <a:t>Оказывается, </a:t>
            </a:r>
            <a:r>
              <a:rPr lang="ru-RU" sz="1400" dirty="0">
                <a:solidFill>
                  <a:srgbClr val="000099"/>
                </a:solidFill>
              </a:rPr>
              <a:t>таблицы </a:t>
            </a:r>
            <a:r>
              <a:rPr lang="ru-RU" sz="1400" dirty="0">
                <a:solidFill>
                  <a:srgbClr val="000099"/>
                </a:solidFill>
                <a:ea typeface="+mj-ea"/>
                <a:cs typeface="+mj-cs"/>
              </a:rPr>
              <a:t>эквивалентны классам без методов, столбец таблицы соответствует атрибуту класса, строка таблицы отображается в объект соответствующего класса. 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ea typeface="+mj-ea"/>
                <a:cs typeface="+mj-cs"/>
              </a:rPr>
              <a:t>Как только создаётся строка таблицы или же объект, так сразу же создаётся </a:t>
            </a:r>
            <a:r>
              <a:rPr lang="ru-RU" sz="1400" dirty="0" err="1">
                <a:solidFill>
                  <a:srgbClr val="000099"/>
                </a:solidFill>
                <a:ea typeface="+mj-ea"/>
                <a:cs typeface="+mj-cs"/>
              </a:rPr>
              <a:t>глобал</a:t>
            </a:r>
            <a:r>
              <a:rPr lang="ru-RU" sz="1400" dirty="0">
                <a:solidFill>
                  <a:srgbClr val="000099"/>
                </a:solidFill>
                <a:ea typeface="+mj-ea"/>
                <a:cs typeface="+mj-cs"/>
              </a:rPr>
              <a:t> в виде дерева глубины 1. Работая с его узлами, можно манипулировать строками в табличном представлении или объектами в объектной модели.</a:t>
            </a:r>
            <a:endParaRPr lang="en-US" sz="1400" dirty="0">
              <a:solidFill>
                <a:srgbClr val="000099"/>
              </a:solidFill>
              <a:ea typeface="+mj-ea"/>
              <a:cs typeface="+mj-cs"/>
            </a:endParaRP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ea typeface="+mj-ea"/>
                <a:cs typeface="+mj-cs"/>
              </a:rPr>
              <a:t>Понятно, что основой такого симбиоза трёх моделей может быть только объектная модель. В табличной и иерархических моделях нет места для методов и объектных типов данных.</a:t>
            </a:r>
            <a:endParaRPr 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327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Таблица в </a:t>
            </a:r>
            <a:r>
              <a:rPr lang="en-US" sz="2000" b="1" kern="1200" dirty="0" err="1">
                <a:solidFill>
                  <a:srgbClr val="CE2816"/>
                </a:solidFill>
              </a:rPr>
              <a:t>Caché</a:t>
            </a:r>
            <a:r>
              <a:rPr lang="en-US" sz="2000" b="1" kern="1200" dirty="0">
                <a:solidFill>
                  <a:srgbClr val="CE2816"/>
                </a:solidFill>
              </a:rPr>
              <a:t> </a:t>
            </a:r>
            <a:r>
              <a:rPr lang="ru-RU" sz="2000" b="1" kern="1200" dirty="0">
                <a:solidFill>
                  <a:srgbClr val="CE2816"/>
                </a:solidFill>
              </a:rPr>
              <a:t>существует или только кажется?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D6B7DA2-23A6-4ED5-BD99-09F8E62569A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87624" y="461650"/>
            <a:ext cx="6768752" cy="419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В </a:t>
            </a:r>
            <a:r>
              <a:rPr lang="en-US" sz="1400" dirty="0">
                <a:solidFill>
                  <a:srgbClr val="000099"/>
                </a:solidFill>
              </a:rPr>
              <a:t>Studio </a:t>
            </a:r>
            <a:r>
              <a:rPr lang="ru-RU" sz="1400" dirty="0">
                <a:solidFill>
                  <a:srgbClr val="000099"/>
                </a:solidFill>
              </a:rPr>
              <a:t>создаём класс </a:t>
            </a:r>
            <a:r>
              <a:rPr lang="en-US" sz="1400" dirty="0">
                <a:solidFill>
                  <a:srgbClr val="000099"/>
                </a:solidFill>
              </a:rPr>
              <a:t>T, </a:t>
            </a:r>
            <a:r>
              <a:rPr lang="ru-RU" sz="1400" dirty="0">
                <a:solidFill>
                  <a:srgbClr val="000099"/>
                </a:solidFill>
              </a:rPr>
              <a:t>не смущаясь незнанием языка 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CDL</a:t>
            </a:r>
            <a:r>
              <a:rPr lang="ru-RU" sz="1400" dirty="0">
                <a:solidFill>
                  <a:srgbClr val="000099"/>
                </a:solidFill>
              </a:rPr>
              <a:t> (</a:t>
            </a:r>
            <a:r>
              <a:rPr lang="en-US" sz="1400" dirty="0">
                <a:solidFill>
                  <a:srgbClr val="000099"/>
                </a:solidFill>
              </a:rPr>
              <a:t>Class Define Language</a:t>
            </a:r>
            <a:r>
              <a:rPr lang="ru-RU" sz="1400" dirty="0">
                <a:solidFill>
                  <a:srgbClr val="000099"/>
                </a:solidFill>
              </a:rPr>
              <a:t>) на котором он написан:  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Class </a:t>
            </a:r>
            <a:r>
              <a:rPr lang="en-US" sz="1400" dirty="0" err="1">
                <a:solidFill>
                  <a:srgbClr val="000099"/>
                </a:solidFill>
              </a:rPr>
              <a:t>User.T</a:t>
            </a:r>
            <a:r>
              <a:rPr lang="en-US" sz="1400" dirty="0">
                <a:solidFill>
                  <a:srgbClr val="000099"/>
                </a:solidFill>
              </a:rPr>
              <a:t> Extends %Persistent [ </a:t>
            </a:r>
            <a:r>
              <a:rPr lang="en-US" sz="1400" dirty="0" err="1">
                <a:solidFill>
                  <a:srgbClr val="000099"/>
                </a:solidFill>
              </a:rPr>
              <a:t>ClassType</a:t>
            </a:r>
            <a:r>
              <a:rPr lang="en-US" sz="1400" dirty="0">
                <a:solidFill>
                  <a:srgbClr val="000099"/>
                </a:solidFill>
              </a:rPr>
              <a:t> = persistent, </a:t>
            </a:r>
            <a:r>
              <a:rPr lang="en-US" sz="1400" dirty="0" err="1">
                <a:solidFill>
                  <a:srgbClr val="000099"/>
                </a:solidFill>
              </a:rPr>
              <a:t>DdlAllowed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en-US" sz="1400" dirty="0" err="1">
                <a:solidFill>
                  <a:srgbClr val="000099"/>
                </a:solidFill>
              </a:rPr>
              <a:t>SqlRowIdPrivate</a:t>
            </a:r>
            <a:r>
              <a:rPr lang="en-US" sz="1400" dirty="0">
                <a:solidFill>
                  <a:srgbClr val="000099"/>
                </a:solidFill>
              </a:rPr>
              <a:t>, </a:t>
            </a:r>
            <a:r>
              <a:rPr lang="en-US" sz="1400" dirty="0" err="1">
                <a:solidFill>
                  <a:srgbClr val="000099"/>
                </a:solidFill>
              </a:rPr>
              <a:t>SqlTableName</a:t>
            </a:r>
            <a:r>
              <a:rPr lang="en-US" sz="1400" dirty="0">
                <a:solidFill>
                  <a:srgbClr val="000099"/>
                </a:solidFill>
              </a:rPr>
              <a:t> = T ]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{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Property c1 As %</a:t>
            </a:r>
            <a:r>
              <a:rPr lang="en-US" sz="1400" dirty="0" err="1">
                <a:solidFill>
                  <a:srgbClr val="000099"/>
                </a:solidFill>
              </a:rPr>
              <a:t>Library.Numeric</a:t>
            </a:r>
            <a:r>
              <a:rPr lang="en-US" sz="1400" dirty="0">
                <a:solidFill>
                  <a:srgbClr val="000099"/>
                </a:solidFill>
              </a:rPr>
              <a:t>(MAXVAL = 99, MINVAL = -99, SCALE = 0) [ </a:t>
            </a:r>
            <a:r>
              <a:rPr lang="en-US" sz="1400" dirty="0" err="1">
                <a:solidFill>
                  <a:srgbClr val="000099"/>
                </a:solidFill>
              </a:rPr>
              <a:t>SqlColumnNumber</a:t>
            </a:r>
            <a:r>
              <a:rPr lang="en-US" sz="1400" dirty="0">
                <a:solidFill>
                  <a:srgbClr val="000099"/>
                </a:solidFill>
              </a:rPr>
              <a:t> = 2 ];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Property c2 As %</a:t>
            </a:r>
            <a:r>
              <a:rPr lang="en-US" sz="1400" dirty="0" err="1">
                <a:solidFill>
                  <a:srgbClr val="000099"/>
                </a:solidFill>
              </a:rPr>
              <a:t>Library.String</a:t>
            </a:r>
            <a:r>
              <a:rPr lang="en-US" sz="1400" dirty="0">
                <a:solidFill>
                  <a:srgbClr val="000099"/>
                </a:solidFill>
              </a:rPr>
              <a:t>(MAXLEN = 3) [ </a:t>
            </a:r>
            <a:r>
              <a:rPr lang="en-US" sz="1400" dirty="0" err="1">
                <a:solidFill>
                  <a:srgbClr val="000099"/>
                </a:solidFill>
              </a:rPr>
              <a:t>SqlColumnNumber</a:t>
            </a:r>
            <a:r>
              <a:rPr lang="en-US" sz="1400" dirty="0">
                <a:solidFill>
                  <a:srgbClr val="000099"/>
                </a:solidFill>
              </a:rPr>
              <a:t> = 3 ];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}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Пока его не компилируем. В разделе </a:t>
            </a:r>
            <a:r>
              <a:rPr lang="en-US" sz="1400" dirty="0">
                <a:solidFill>
                  <a:srgbClr val="000099"/>
                </a:solidFill>
              </a:rPr>
              <a:t>SQL </a:t>
            </a:r>
            <a:r>
              <a:rPr lang="ru-RU" sz="1400" dirty="0">
                <a:solidFill>
                  <a:srgbClr val="000099"/>
                </a:solidFill>
              </a:rPr>
              <a:t>портала управления системой проверяем, не существует ли таблица </a:t>
            </a:r>
            <a:r>
              <a:rPr lang="en-US" sz="1400" dirty="0" err="1">
                <a:solidFill>
                  <a:srgbClr val="000099"/>
                </a:solidFill>
              </a:rPr>
              <a:t>SQLUser.T</a:t>
            </a:r>
            <a:r>
              <a:rPr lang="ru-RU" sz="1400" dirty="0">
                <a:solidFill>
                  <a:srgbClr val="000099"/>
                </a:solidFill>
              </a:rPr>
              <a:t>. Если существует, удалим её. 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Теперь компилируем класс не обращая внимания на строки описания добавленные Студией. Появляется таблица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SQLUser.T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endParaRPr lang="ru-RU" alt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91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Виртуальная таблица </a:t>
            </a:r>
            <a:r>
              <a:rPr lang="en-US" sz="2000" b="1" kern="1200" dirty="0" err="1">
                <a:solidFill>
                  <a:srgbClr val="CE2816"/>
                </a:solidFill>
              </a:rPr>
              <a:t>SQLUser.T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CAD9DC-F49A-4A9B-BC35-82F128484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42030"/>
            <a:ext cx="3604907" cy="2029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6CEED75-F135-4D95-8D64-56384E63B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48" y="2595144"/>
            <a:ext cx="818070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6AF7AF-3026-4F2F-A5B7-3839D1E81A59}"/>
              </a:ext>
            </a:extLst>
          </p:cNvPr>
          <p:cNvSpPr txBox="1"/>
          <p:nvPr/>
        </p:nvSpPr>
        <p:spPr>
          <a:xfrm>
            <a:off x="1979712" y="542030"/>
            <a:ext cx="18396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rgbClr val="000099"/>
                </a:solidFill>
              </a:rPr>
              <a:t>Портал сообщает 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000099"/>
                </a:solidFill>
              </a:rPr>
              <a:t>об этой таблице 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000099"/>
                </a:solidFill>
              </a:rPr>
              <a:t>следующее: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88498C-CBE7-4B62-A7CA-66C170C5B9B6}"/>
              </a:ext>
            </a:extLst>
          </p:cNvPr>
          <p:cNvSpPr txBox="1"/>
          <p:nvPr/>
        </p:nvSpPr>
        <p:spPr>
          <a:xfrm>
            <a:off x="1518712" y="3886200"/>
            <a:ext cx="6106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rgbClr val="000099"/>
                </a:solidFill>
              </a:rPr>
              <a:t>Обратите внимание на два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ru-RU" sz="1400" dirty="0">
                <a:solidFill>
                  <a:srgbClr val="000099"/>
                </a:solidFill>
              </a:rPr>
              <a:t>непрошенных</a:t>
            </a:r>
            <a:r>
              <a:rPr lang="en-US" sz="1400" dirty="0">
                <a:solidFill>
                  <a:srgbClr val="000099"/>
                </a:solidFill>
              </a:rPr>
              <a:t>” </a:t>
            </a:r>
            <a:r>
              <a:rPr lang="ru-RU" sz="1400" dirty="0">
                <a:solidFill>
                  <a:srgbClr val="000099"/>
                </a:solidFill>
              </a:rPr>
              <a:t>столбца </a:t>
            </a:r>
            <a:r>
              <a:rPr lang="en-US" sz="1400" dirty="0">
                <a:solidFill>
                  <a:srgbClr val="000099"/>
                </a:solidFill>
              </a:rPr>
              <a:t>ID </a:t>
            </a:r>
            <a:r>
              <a:rPr lang="ru-RU" sz="1400" dirty="0">
                <a:solidFill>
                  <a:srgbClr val="000099"/>
                </a:solidFill>
              </a:rPr>
              <a:t>и 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en-US" sz="1400" dirty="0" err="1">
                <a:solidFill>
                  <a:srgbClr val="000099"/>
                </a:solidFill>
              </a:rPr>
              <a:t>x_classname</a:t>
            </a:r>
            <a:r>
              <a:rPr lang="en-US" sz="1400" dirty="0">
                <a:solidFill>
                  <a:srgbClr val="000099"/>
                </a:solidFill>
              </a:rPr>
              <a:t>.</a:t>
            </a:r>
            <a:endParaRPr 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131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Сравниваем таблицу </a:t>
            </a:r>
            <a:r>
              <a:rPr lang="en-US" sz="2000" b="1" kern="1200" dirty="0" err="1">
                <a:solidFill>
                  <a:srgbClr val="CE2816"/>
                </a:solidFill>
              </a:rPr>
              <a:t>SQLUser.T</a:t>
            </a:r>
            <a:r>
              <a:rPr lang="en-US" sz="2000" b="1" kern="1200" dirty="0">
                <a:solidFill>
                  <a:srgbClr val="CE2816"/>
                </a:solidFill>
              </a:rPr>
              <a:t> </a:t>
            </a:r>
            <a:r>
              <a:rPr lang="ru-RU" sz="2000" b="1" kern="1200" dirty="0">
                <a:solidFill>
                  <a:srgbClr val="CE2816"/>
                </a:solidFill>
              </a:rPr>
              <a:t>и породивший её класс </a:t>
            </a:r>
            <a:r>
              <a:rPr lang="en-US" sz="2000" b="1" kern="1200" dirty="0" err="1">
                <a:solidFill>
                  <a:srgbClr val="CE2816"/>
                </a:solidFill>
              </a:rPr>
              <a:t>User.T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09FB103-8E49-4052-A97A-EAA823CEEB5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87624" y="474018"/>
            <a:ext cx="6768752" cy="419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Понятно, что в первой строке записано имя класса 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r>
              <a:rPr lang="en-US" sz="1400" dirty="0">
                <a:solidFill>
                  <a:srgbClr val="000099"/>
                </a:solidFill>
              </a:rPr>
              <a:t>T</a:t>
            </a:r>
            <a:r>
              <a:rPr lang="ru-RU" sz="1400" dirty="0">
                <a:solidFill>
                  <a:srgbClr val="000099"/>
                </a:solidFill>
              </a:rPr>
              <a:t>, а свойства </a:t>
            </a:r>
            <a:r>
              <a:rPr lang="en-US" sz="1400" dirty="0">
                <a:solidFill>
                  <a:srgbClr val="000099"/>
                </a:solidFill>
              </a:rPr>
              <a:t>c</a:t>
            </a:r>
            <a:r>
              <a:rPr lang="ru-RU" sz="1400" dirty="0">
                <a:solidFill>
                  <a:srgbClr val="000099"/>
                </a:solidFill>
              </a:rPr>
              <a:t>1 и </a:t>
            </a:r>
            <a:r>
              <a:rPr lang="en-US" sz="1400" dirty="0">
                <a:solidFill>
                  <a:srgbClr val="000099"/>
                </a:solidFill>
              </a:rPr>
              <a:t>c</a:t>
            </a:r>
            <a:r>
              <a:rPr lang="ru-RU" sz="1400" dirty="0">
                <a:solidFill>
                  <a:srgbClr val="000099"/>
                </a:solidFill>
              </a:rPr>
              <a:t>2 соответствуют именам столбцов </a:t>
            </a:r>
            <a:r>
              <a:rPr lang="en-US" sz="1400" dirty="0">
                <a:solidFill>
                  <a:srgbClr val="000099"/>
                </a:solidFill>
              </a:rPr>
              <a:t>c</a:t>
            </a:r>
            <a:r>
              <a:rPr lang="ru-RU" sz="1400" dirty="0">
                <a:solidFill>
                  <a:srgbClr val="000099"/>
                </a:solidFill>
              </a:rPr>
              <a:t>1 и </a:t>
            </a:r>
            <a:r>
              <a:rPr lang="en-US" sz="1400" dirty="0">
                <a:solidFill>
                  <a:srgbClr val="000099"/>
                </a:solidFill>
              </a:rPr>
              <a:t>c</a:t>
            </a:r>
            <a:r>
              <a:rPr lang="ru-RU" sz="1400" dirty="0">
                <a:solidFill>
                  <a:srgbClr val="000099"/>
                </a:solidFill>
              </a:rPr>
              <a:t>2. Понятно, что ширина столбца </a:t>
            </a:r>
            <a:r>
              <a:rPr lang="en-US" sz="1400" dirty="0">
                <a:solidFill>
                  <a:srgbClr val="000099"/>
                </a:solidFill>
              </a:rPr>
              <a:t>c2 </a:t>
            </a:r>
            <a:r>
              <a:rPr lang="ru-RU" sz="1400" dirty="0">
                <a:solidFill>
                  <a:srgbClr val="000099"/>
                </a:solidFill>
              </a:rPr>
              <a:t>равна 3. Номер столбца </a:t>
            </a:r>
            <a:r>
              <a:rPr lang="en-US" sz="1400" dirty="0" err="1">
                <a:solidFill>
                  <a:srgbClr val="000099"/>
                </a:solidFill>
              </a:rPr>
              <a:t>SqlColumnNumber</a:t>
            </a:r>
            <a:r>
              <a:rPr lang="ru-RU" sz="1400" dirty="0">
                <a:solidFill>
                  <a:srgbClr val="000099"/>
                </a:solidFill>
              </a:rPr>
              <a:t> = 2 и 3. Столбец </a:t>
            </a:r>
            <a:r>
              <a:rPr lang="en-US" sz="1400" dirty="0">
                <a:solidFill>
                  <a:srgbClr val="000099"/>
                </a:solidFill>
              </a:rPr>
              <a:t>ID </a:t>
            </a:r>
            <a:r>
              <a:rPr lang="ru-RU" sz="1400" dirty="0">
                <a:solidFill>
                  <a:srgbClr val="000099"/>
                </a:solidFill>
              </a:rPr>
              <a:t>играет роль суррогатного ключа и соответствует </a:t>
            </a:r>
            <a:r>
              <a:rPr lang="en-US" sz="1400" dirty="0">
                <a:solidFill>
                  <a:srgbClr val="000099"/>
                </a:solidFill>
              </a:rPr>
              <a:t>OID, </a:t>
            </a:r>
            <a:r>
              <a:rPr lang="ru-RU" sz="1400" dirty="0">
                <a:solidFill>
                  <a:srgbClr val="000099"/>
                </a:solidFill>
              </a:rPr>
              <a:t>а столбец </a:t>
            </a:r>
            <a:r>
              <a:rPr lang="en-US" sz="1400" dirty="0" err="1">
                <a:solidFill>
                  <a:srgbClr val="000099"/>
                </a:solidFill>
              </a:rPr>
              <a:t>x_classname</a:t>
            </a:r>
            <a:r>
              <a:rPr lang="ru-RU" sz="1400" dirty="0">
                <a:solidFill>
                  <a:srgbClr val="000099"/>
                </a:solidFill>
              </a:rPr>
              <a:t> имеет объектный тип </a:t>
            </a:r>
            <a:r>
              <a:rPr lang="en-US" sz="1400" dirty="0">
                <a:solidFill>
                  <a:srgbClr val="000099"/>
                </a:solidFill>
              </a:rPr>
              <a:t>%</a:t>
            </a:r>
            <a:r>
              <a:rPr lang="en-US" sz="1400" dirty="0" err="1">
                <a:solidFill>
                  <a:srgbClr val="000099"/>
                </a:solidFill>
              </a:rPr>
              <a:t>Library.CacheString</a:t>
            </a:r>
            <a:r>
              <a:rPr lang="en-US" sz="1400" dirty="0">
                <a:solidFill>
                  <a:srgbClr val="000099"/>
                </a:solidFill>
              </a:rPr>
              <a:t>.</a:t>
            </a:r>
          </a:p>
          <a:p>
            <a:pPr marL="0" lv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Убедитесь, что созданная таблица пустая. </a:t>
            </a:r>
          </a:p>
          <a:p>
            <a:pPr marL="0" lv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Проверим на всякий случай, не существует ли </a:t>
            </a:r>
            <a:r>
              <a:rPr lang="ru-RU" sz="1400" dirty="0" err="1">
                <a:solidFill>
                  <a:srgbClr val="000099"/>
                </a:solidFill>
              </a:rPr>
              <a:t>глобала</a:t>
            </a:r>
            <a:r>
              <a:rPr lang="ru-RU" sz="1400" dirty="0">
                <a:solidFill>
                  <a:srgbClr val="000099"/>
                </a:solidFill>
              </a:rPr>
              <a:t> с именем </a:t>
            </a:r>
            <a:r>
              <a:rPr lang="en-US" sz="1400" dirty="0">
                <a:solidFill>
                  <a:srgbClr val="000099"/>
                </a:solidFill>
              </a:rPr>
              <a:t>T</a:t>
            </a:r>
            <a:r>
              <a:rPr lang="ru-RU" sz="1400" dirty="0">
                <a:solidFill>
                  <a:srgbClr val="000099"/>
                </a:solidFill>
              </a:rPr>
              <a:t>, после которого приписана буква </a:t>
            </a:r>
            <a:r>
              <a:rPr lang="en-US" sz="1400" dirty="0">
                <a:solidFill>
                  <a:srgbClr val="000099"/>
                </a:solidFill>
              </a:rPr>
              <a:t>D</a:t>
            </a:r>
            <a:r>
              <a:rPr lang="ru-RU" sz="1400" dirty="0">
                <a:solidFill>
                  <a:srgbClr val="000099"/>
                </a:solidFill>
              </a:rPr>
              <a:t>. Если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^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r>
              <a:rPr lang="en-US" sz="1400" dirty="0">
                <a:solidFill>
                  <a:srgbClr val="000099"/>
                </a:solidFill>
              </a:rPr>
              <a:t>TD</a:t>
            </a:r>
            <a:r>
              <a:rPr lang="ru-RU" sz="1400" dirty="0">
                <a:solidFill>
                  <a:srgbClr val="000099"/>
                </a:solidFill>
              </a:rPr>
              <a:t> существует, удалите его. Теперь в </a:t>
            </a:r>
            <a:r>
              <a:rPr lang="en-US" sz="1400" dirty="0">
                <a:solidFill>
                  <a:srgbClr val="000099"/>
                </a:solidFill>
              </a:rPr>
              <a:t>SQL</a:t>
            </a:r>
            <a:r>
              <a:rPr lang="ru-RU" sz="1400" dirty="0">
                <a:solidFill>
                  <a:srgbClr val="000099"/>
                </a:solidFill>
              </a:rPr>
              <a:t>-менеджере введём в таблицу </a:t>
            </a:r>
            <a:r>
              <a:rPr lang="en-US" sz="1400" dirty="0">
                <a:solidFill>
                  <a:srgbClr val="000099"/>
                </a:solidFill>
              </a:rPr>
              <a:t>T</a:t>
            </a:r>
            <a:r>
              <a:rPr lang="ru-RU" sz="1400" dirty="0">
                <a:solidFill>
                  <a:srgbClr val="000099"/>
                </a:solidFill>
              </a:rPr>
              <a:t> одну строку: </a:t>
            </a:r>
          </a:p>
          <a:p>
            <a:pPr marL="0" lv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insert into T values (22, “QQ”)</a:t>
            </a:r>
            <a:endParaRPr lang="ru-RU" sz="1400" dirty="0">
              <a:solidFill>
                <a:srgbClr val="000099"/>
              </a:solidFill>
            </a:endParaRPr>
          </a:p>
          <a:p>
            <a:pPr marL="0" lv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С помощью команды </a:t>
            </a:r>
            <a:r>
              <a:rPr lang="en-US" sz="1400" dirty="0">
                <a:solidFill>
                  <a:srgbClr val="000099"/>
                </a:solidFill>
              </a:rPr>
              <a:t>select</a:t>
            </a:r>
            <a:r>
              <a:rPr lang="ru-RU" sz="1400" dirty="0">
                <a:solidFill>
                  <a:srgbClr val="000099"/>
                </a:solidFill>
              </a:rPr>
              <a:t> * </a:t>
            </a:r>
            <a:r>
              <a:rPr lang="en-US" sz="1400" dirty="0">
                <a:solidFill>
                  <a:srgbClr val="000099"/>
                </a:solidFill>
              </a:rPr>
              <a:t>from T </a:t>
            </a:r>
            <a:r>
              <a:rPr lang="ru-RU" sz="1400" dirty="0">
                <a:solidFill>
                  <a:srgbClr val="000099"/>
                </a:solidFill>
              </a:rPr>
              <a:t>убеждаемся, что строчка действительно записана.</a:t>
            </a:r>
          </a:p>
          <a:p>
            <a:pPr marL="0" lvl="0" indent="36000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Переходим в проводник и в папке “</a:t>
            </a:r>
            <a:r>
              <a:rPr lang="ru-RU" sz="1400" dirty="0" err="1">
                <a:solidFill>
                  <a:srgbClr val="000099"/>
                </a:solidFill>
              </a:rPr>
              <a:t>Глобалы</a:t>
            </a:r>
            <a:r>
              <a:rPr lang="ru-RU" sz="1400" dirty="0">
                <a:solidFill>
                  <a:srgbClr val="000099"/>
                </a:solidFill>
              </a:rPr>
              <a:t>” обнаруживаем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 ^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r>
              <a:rPr lang="en-US" sz="1400" dirty="0">
                <a:solidFill>
                  <a:srgbClr val="000099"/>
                </a:solidFill>
              </a:rPr>
              <a:t>TD</a:t>
            </a:r>
            <a:r>
              <a:rPr lang="ru-RU" sz="1400" dirty="0">
                <a:solidFill>
                  <a:srgbClr val="000099"/>
                </a:solidFill>
              </a:rPr>
              <a:t>. Если он не появился, нажмите на кнопку </a:t>
            </a:r>
            <a:r>
              <a:rPr lang="en-US" sz="1400" dirty="0">
                <a:solidFill>
                  <a:srgbClr val="000099"/>
                </a:solidFill>
              </a:rPr>
              <a:t>F</a:t>
            </a:r>
            <a:r>
              <a:rPr lang="ru-RU" sz="1400" dirty="0">
                <a:solidFill>
                  <a:srgbClr val="000099"/>
                </a:solidFill>
              </a:rPr>
              <a:t>5. </a:t>
            </a:r>
          </a:p>
        </p:txBody>
      </p:sp>
    </p:spTree>
    <p:extLst>
      <p:ext uri="{BB962C8B-B14F-4D97-AF65-F5344CB8AC3E}">
        <p14:creationId xmlns:p14="http://schemas.microsoft.com/office/powerpoint/2010/main" val="683343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>
                <a:srgbClr val="CE2816"/>
              </a:buClr>
            </a:pPr>
            <a:r>
              <a:rPr lang="ru-RU" sz="2000" b="1" kern="1200" dirty="0">
                <a:solidFill>
                  <a:srgbClr val="CE2816"/>
                </a:solidFill>
              </a:rPr>
              <a:t>Созданный </a:t>
            </a:r>
            <a:r>
              <a:rPr lang="ru-RU" sz="2000" b="1" kern="1200" dirty="0" err="1">
                <a:solidFill>
                  <a:srgbClr val="CE2816"/>
                </a:solidFill>
              </a:rPr>
              <a:t>глобал</a:t>
            </a:r>
            <a:r>
              <a:rPr lang="ru-RU" sz="2000" b="1" kern="1200" dirty="0">
                <a:solidFill>
                  <a:srgbClr val="CE2816"/>
                </a:solidFill>
              </a:rPr>
              <a:t> </a:t>
            </a:r>
            <a:r>
              <a:rPr lang="en-US" sz="2000" b="1" kern="1200" dirty="0">
                <a:solidFill>
                  <a:srgbClr val="CE2816"/>
                </a:solidFill>
              </a:rPr>
              <a:t>^User.TD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755576" y="526156"/>
            <a:ext cx="75608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Интересно, как выглядит вновь созданный </a:t>
            </a:r>
            <a:r>
              <a:rPr lang="ru-RU" sz="1400" dirty="0" err="1">
                <a:solidFill>
                  <a:srgbClr val="000099"/>
                </a:solidFill>
              </a:rPr>
              <a:t>глобал</a:t>
            </a:r>
            <a:r>
              <a:rPr lang="ru-RU" sz="1400" dirty="0">
                <a:solidFill>
                  <a:srgbClr val="000099"/>
                </a:solidFill>
              </a:rPr>
              <a:t>. Щёлкаем левой кнопкой мыши по позиции </a:t>
            </a:r>
            <a:r>
              <a:rPr lang="en-US" sz="1400" dirty="0">
                <a:solidFill>
                  <a:srgbClr val="000099"/>
                </a:solidFill>
              </a:rPr>
              <a:t>“</a:t>
            </a:r>
            <a:r>
              <a:rPr lang="ru-RU" sz="1400" dirty="0">
                <a:solidFill>
                  <a:srgbClr val="000099"/>
                </a:solidFill>
              </a:rPr>
              <a:t>Просмотр</a:t>
            </a:r>
            <a:r>
              <a:rPr lang="en-US" sz="1400" dirty="0">
                <a:solidFill>
                  <a:srgbClr val="000099"/>
                </a:solidFill>
              </a:rPr>
              <a:t>”</a:t>
            </a:r>
            <a:r>
              <a:rPr lang="ru-RU" sz="1400" dirty="0">
                <a:solidFill>
                  <a:srgbClr val="000099"/>
                </a:solidFill>
              </a:rPr>
              <a:t> в</a:t>
            </a:r>
            <a:r>
              <a:rPr lang="en-US" sz="1400" dirty="0">
                <a:solidFill>
                  <a:srgbClr val="000099"/>
                </a:solidFill>
              </a:rPr>
              <a:t> </a:t>
            </a:r>
            <a:r>
              <a:rPr lang="ru-RU" sz="1400" dirty="0">
                <a:solidFill>
                  <a:srgbClr val="000099"/>
                </a:solidFill>
              </a:rPr>
              <a:t>строчке ^</a:t>
            </a:r>
            <a:r>
              <a:rPr lang="en-US" sz="1400" dirty="0">
                <a:solidFill>
                  <a:srgbClr val="000099"/>
                </a:solidFill>
              </a:rPr>
              <a:t>User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  <a:r>
              <a:rPr lang="en-US" sz="1400" dirty="0">
                <a:solidFill>
                  <a:srgbClr val="000099"/>
                </a:solidFill>
              </a:rPr>
              <a:t>TD</a:t>
            </a:r>
            <a:r>
              <a:rPr lang="ru-RU" sz="1400" dirty="0">
                <a:solidFill>
                  <a:srgbClr val="000099"/>
                </a:solidFill>
              </a:rPr>
              <a:t> и обнаруживаем структуру: </a:t>
            </a:r>
            <a:endParaRPr lang="en-US" sz="1400" dirty="0">
              <a:solidFill>
                <a:srgbClr val="000099"/>
              </a:solidFill>
            </a:endParaRPr>
          </a:p>
          <a:p>
            <a:pPr marL="0" lvl="0" indent="360000" algn="just">
              <a:spcAft>
                <a:spcPts val="600"/>
              </a:spcAft>
              <a:buNone/>
            </a:pPr>
            <a:endParaRPr lang="en-US" sz="1400" dirty="0">
              <a:solidFill>
                <a:srgbClr val="000099"/>
              </a:solidFill>
            </a:endParaRPr>
          </a:p>
          <a:p>
            <a:pPr marL="0" lvl="0" indent="360000" algn="just">
              <a:spcAft>
                <a:spcPts val="600"/>
              </a:spcAft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lvl="0" indent="360000" algn="just">
              <a:spcAft>
                <a:spcPts val="600"/>
              </a:spcAft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lvl="0" indent="360000" algn="just">
              <a:spcAft>
                <a:spcPts val="600"/>
              </a:spcAft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lvl="0" indent="360000" algn="just">
              <a:spcAft>
                <a:spcPts val="600"/>
              </a:spcAft>
              <a:buNone/>
            </a:pPr>
            <a:endParaRPr lang="ru-RU" sz="1400" dirty="0">
              <a:solidFill>
                <a:srgbClr val="000099"/>
              </a:solidFill>
            </a:endParaRP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Если добавить ещё одну строку, например 1, “</a:t>
            </a:r>
            <a:r>
              <a:rPr lang="en-US" sz="1400" dirty="0">
                <a:solidFill>
                  <a:srgbClr val="000099"/>
                </a:solidFill>
              </a:rPr>
              <a:t>A</a:t>
            </a:r>
            <a:r>
              <a:rPr lang="ru-RU" sz="1400" dirty="0">
                <a:solidFill>
                  <a:srgbClr val="000099"/>
                </a:solidFill>
              </a:rPr>
              <a:t>”, выполнив команду</a:t>
            </a:r>
            <a:r>
              <a:rPr lang="en-US" sz="1400" dirty="0">
                <a:solidFill>
                  <a:srgbClr val="000099"/>
                </a:solidFill>
              </a:rPr>
              <a:t>: 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insert into T values (1, "A")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Дерево изменится так: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^User.TD=</a:t>
            </a:r>
            <a:r>
              <a:rPr lang="en-US" sz="1400" dirty="0">
                <a:solidFill>
                  <a:srgbClr val="C00000"/>
                </a:solidFill>
              </a:rPr>
              <a:t>2</a:t>
            </a:r>
            <a:endParaRPr lang="ru-RU" sz="1400" dirty="0">
              <a:solidFill>
                <a:srgbClr val="C00000"/>
              </a:solidFill>
            </a:endParaRP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^User.TD(1)=&lt;&lt;$LB("","22","QQ")&gt;&gt;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^User.TD(2)=&lt;&lt;$LB("","1","A")&gt;&gt;</a:t>
            </a:r>
            <a:endParaRPr lang="ru-RU" sz="1400" dirty="0">
              <a:solidFill>
                <a:srgbClr val="000099"/>
              </a:solidFill>
            </a:endParaRPr>
          </a:p>
          <a:p>
            <a:pPr marL="0" lv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Теперь можно работать непосредственно с </a:t>
            </a:r>
            <a:r>
              <a:rPr lang="ru-RU" sz="1400" dirty="0" err="1">
                <a:solidFill>
                  <a:srgbClr val="000099"/>
                </a:solidFill>
              </a:rPr>
              <a:t>глобалом</a:t>
            </a:r>
            <a:r>
              <a:rPr lang="ru-RU" sz="1400" dirty="0">
                <a:solidFill>
                  <a:srgbClr val="000099"/>
                </a:solidFill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AC680A6-F29E-4E7A-B909-B19834194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424" y="1031596"/>
            <a:ext cx="3199152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0262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CE2816"/>
                </a:solidFill>
              </a:rPr>
              <a:t>Представление таблицы деревом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grpSp>
        <p:nvGrpSpPr>
          <p:cNvPr id="6" name="Group 119">
            <a:extLst>
              <a:ext uri="{FF2B5EF4-FFF2-40B4-BE49-F238E27FC236}">
                <a16:creationId xmlns:a16="http://schemas.microsoft.com/office/drawing/2014/main" id="{08AD3CD6-8E21-4116-BF57-3F1FCD224A2A}"/>
              </a:ext>
            </a:extLst>
          </p:cNvPr>
          <p:cNvGrpSpPr>
            <a:grpSpLocks/>
          </p:cNvGrpSpPr>
          <p:nvPr/>
        </p:nvGrpSpPr>
        <p:grpSpPr bwMode="auto">
          <a:xfrm>
            <a:off x="2973524" y="1275606"/>
            <a:ext cx="5145088" cy="3113092"/>
            <a:chOff x="2337" y="1570"/>
            <a:chExt cx="3241" cy="1961"/>
          </a:xfrm>
        </p:grpSpPr>
        <p:sp>
          <p:nvSpPr>
            <p:cNvPr id="10" name="Rectangle 40">
              <a:extLst>
                <a:ext uri="{FF2B5EF4-FFF2-40B4-BE49-F238E27FC236}">
                  <a16:creationId xmlns:a16="http://schemas.microsoft.com/office/drawing/2014/main" id="{BD12C018-48BA-4E91-98D8-E7A04C60C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2" y="2579"/>
              <a:ext cx="1046" cy="2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r(a</a:t>
              </a:r>
              <a:r>
                <a:rPr lang="en-US" baseline="-25000" dirty="0">
                  <a:solidFill>
                    <a:srgbClr val="000000"/>
                  </a:solidFill>
                </a:rPr>
                <a:t>3</a:t>
              </a:r>
              <a:r>
                <a:rPr lang="en-US" dirty="0">
                  <a:solidFill>
                    <a:srgbClr val="000000"/>
                  </a:solidFill>
                </a:rPr>
                <a:t>,b</a:t>
              </a:r>
              <a:r>
                <a:rPr lang="en-US" baseline="-25000" dirty="0">
                  <a:solidFill>
                    <a:srgbClr val="000000"/>
                  </a:solidFill>
                </a:rPr>
                <a:t>3</a:t>
              </a:r>
              <a:r>
                <a:rPr lang="en-US" dirty="0">
                  <a:solidFill>
                    <a:srgbClr val="000000"/>
                  </a:solidFill>
                </a:rPr>
                <a:t>)=c</a:t>
              </a:r>
              <a:r>
                <a:rPr lang="en-US" baseline="-25000" dirty="0">
                  <a:solidFill>
                    <a:srgbClr val="000000"/>
                  </a:solidFill>
                </a:rPr>
                <a:t>3</a:t>
              </a:r>
              <a:r>
                <a:rPr lang="en-US" dirty="0">
                  <a:solidFill>
                    <a:srgbClr val="000000"/>
                  </a:solidFill>
                </a:rPr>
                <a:t>,d</a:t>
              </a:r>
              <a:r>
                <a:rPr lang="en-US" baseline="-25000" dirty="0">
                  <a:solidFill>
                    <a:srgbClr val="000000"/>
                  </a:solidFill>
                </a:rPr>
                <a:t>3</a:t>
              </a:r>
              <a:endParaRPr lang="ru-RU" dirty="0">
                <a:solidFill>
                  <a:srgbClr val="000000"/>
                </a:solidFill>
              </a:endParaRPr>
            </a:p>
          </p:txBody>
        </p:sp>
        <p:sp>
          <p:nvSpPr>
            <p:cNvPr id="11" name="Rectangle 41">
              <a:extLst>
                <a:ext uri="{FF2B5EF4-FFF2-40B4-BE49-F238E27FC236}">
                  <a16:creationId xmlns:a16="http://schemas.microsoft.com/office/drawing/2014/main" id="{90548FF8-874F-4FE1-A433-2C7D1E481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" y="2586"/>
              <a:ext cx="1050" cy="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r(a</a:t>
              </a:r>
              <a:r>
                <a:rPr lang="en-US" baseline="-25000" dirty="0">
                  <a:solidFill>
                    <a:srgbClr val="000000"/>
                  </a:solidFill>
                </a:rPr>
                <a:t>1</a:t>
              </a:r>
              <a:r>
                <a:rPr lang="en-US" dirty="0">
                  <a:solidFill>
                    <a:srgbClr val="000000"/>
                  </a:solidFill>
                </a:rPr>
                <a:t>,b</a:t>
              </a:r>
              <a:r>
                <a:rPr lang="en-US" baseline="-25000" dirty="0">
                  <a:solidFill>
                    <a:srgbClr val="000000"/>
                  </a:solidFill>
                </a:rPr>
                <a:t>1</a:t>
              </a:r>
              <a:r>
                <a:rPr lang="en-US" dirty="0">
                  <a:solidFill>
                    <a:srgbClr val="000000"/>
                  </a:solidFill>
                </a:rPr>
                <a:t>)=c</a:t>
              </a:r>
              <a:r>
                <a:rPr lang="en-US" baseline="-25000" dirty="0">
                  <a:solidFill>
                    <a:srgbClr val="000000"/>
                  </a:solidFill>
                </a:rPr>
                <a:t>1</a:t>
              </a:r>
              <a:r>
                <a:rPr lang="en-US" dirty="0">
                  <a:solidFill>
                    <a:srgbClr val="000000"/>
                  </a:solidFill>
                </a:rPr>
                <a:t>,d</a:t>
              </a:r>
              <a:r>
                <a:rPr lang="en-US" baseline="-25000" dirty="0">
                  <a:solidFill>
                    <a:srgbClr val="000000"/>
                  </a:solidFill>
                </a:rPr>
                <a:t>1</a:t>
              </a:r>
              <a:endParaRPr lang="ru-RU" dirty="0">
                <a:solidFill>
                  <a:srgbClr val="000000"/>
                </a:solidFill>
              </a:endParaRPr>
            </a:p>
          </p:txBody>
        </p:sp>
        <p:sp>
          <p:nvSpPr>
            <p:cNvPr id="12" name="AutoShape 42">
              <a:extLst>
                <a:ext uri="{FF2B5EF4-FFF2-40B4-BE49-F238E27FC236}">
                  <a16:creationId xmlns:a16="http://schemas.microsoft.com/office/drawing/2014/main" id="{6F6C5192-38C8-426A-AA93-96F7CE7BC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24"/>
              <a:ext cx="501" cy="401"/>
            </a:xfrm>
            <a:prstGeom prst="notchedRightArrow">
              <a:avLst>
                <a:gd name="adj1" fmla="val 50000"/>
                <a:gd name="adj2" fmla="val 40711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>
                <a:solidFill>
                  <a:srgbClr val="000000"/>
                </a:solidFill>
              </a:endParaRPr>
            </a:p>
          </p:txBody>
        </p:sp>
        <p:grpSp>
          <p:nvGrpSpPr>
            <p:cNvPr id="13" name="Group 43">
              <a:extLst>
                <a:ext uri="{FF2B5EF4-FFF2-40B4-BE49-F238E27FC236}">
                  <a16:creationId xmlns:a16="http://schemas.microsoft.com/office/drawing/2014/main" id="{33848B83-0C84-49E6-BCC4-D551643370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1" y="1600"/>
              <a:ext cx="2087" cy="1026"/>
              <a:chOff x="6509" y="11624"/>
              <a:chExt cx="2867" cy="1382"/>
            </a:xfrm>
          </p:grpSpPr>
          <p:sp>
            <p:nvSpPr>
              <p:cNvPr id="17" name="Oval 44">
                <a:extLst>
                  <a:ext uri="{FF2B5EF4-FFF2-40B4-BE49-F238E27FC236}">
                    <a16:creationId xmlns:a16="http://schemas.microsoft.com/office/drawing/2014/main" id="{9974D7E0-FFE9-468C-A8B7-FE9FCE137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9" y="11624"/>
                <a:ext cx="180" cy="17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Oval 45">
                <a:extLst>
                  <a:ext uri="{FF2B5EF4-FFF2-40B4-BE49-F238E27FC236}">
                    <a16:creationId xmlns:a16="http://schemas.microsoft.com/office/drawing/2014/main" id="{91479FC4-C6F7-4B50-B79E-7531EA494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09" y="12809"/>
                <a:ext cx="180" cy="17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Oval 46">
                <a:extLst>
                  <a:ext uri="{FF2B5EF4-FFF2-40B4-BE49-F238E27FC236}">
                    <a16:creationId xmlns:a16="http://schemas.microsoft.com/office/drawing/2014/main" id="{AD6C3BC1-4D29-4BD9-8628-114DD24F9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96" y="12794"/>
                <a:ext cx="180" cy="17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Line 47">
                <a:extLst>
                  <a:ext uri="{FF2B5EF4-FFF2-40B4-BE49-F238E27FC236}">
                    <a16:creationId xmlns:a16="http://schemas.microsoft.com/office/drawing/2014/main" id="{E2F4C25E-BC47-4586-A320-D7F9B7C7A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47" y="11795"/>
                <a:ext cx="1072" cy="10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ru-RU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Line 48">
                <a:extLst>
                  <a:ext uri="{FF2B5EF4-FFF2-40B4-BE49-F238E27FC236}">
                    <a16:creationId xmlns:a16="http://schemas.microsoft.com/office/drawing/2014/main" id="{D706FC90-6B07-4676-9778-3A7E81CF5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99" y="11795"/>
                <a:ext cx="1324" cy="10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ru-RU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Oval 49">
                <a:extLst>
                  <a:ext uri="{FF2B5EF4-FFF2-40B4-BE49-F238E27FC236}">
                    <a16:creationId xmlns:a16="http://schemas.microsoft.com/office/drawing/2014/main" id="{486E6A8F-01D3-4CB9-A3F6-ABA18F5AD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9" y="12835"/>
                <a:ext cx="180" cy="17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Line 50">
                <a:extLst>
                  <a:ext uri="{FF2B5EF4-FFF2-40B4-BE49-F238E27FC236}">
                    <a16:creationId xmlns:a16="http://schemas.microsoft.com/office/drawing/2014/main" id="{785DB4D1-D3D8-47BE-83F6-5476305DF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08" y="11812"/>
                <a:ext cx="48" cy="10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ru-RU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" name="AutoShape 51">
              <a:extLst>
                <a:ext uri="{FF2B5EF4-FFF2-40B4-BE49-F238E27FC236}">
                  <a16:creationId xmlns:a16="http://schemas.microsoft.com/office/drawing/2014/main" id="{8AACF415-640B-4FEF-8DE4-FC1F92D0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9" y="3026"/>
              <a:ext cx="1043" cy="500"/>
            </a:xfrm>
            <a:prstGeom prst="wedgeEllipseCallout">
              <a:avLst>
                <a:gd name="adj1" fmla="val 61966"/>
                <a:gd name="adj2" fmla="val -9558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600" dirty="0">
                  <a:solidFill>
                    <a:srgbClr val="000000"/>
                  </a:solidFill>
                </a:rPr>
                <a:t>Значения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600" dirty="0">
                  <a:solidFill>
                    <a:srgbClr val="000000"/>
                  </a:solidFill>
                </a:rPr>
                <a:t>индексов</a:t>
              </a:r>
              <a:endParaRPr lang="ru-RU" dirty="0">
                <a:solidFill>
                  <a:srgbClr val="000000"/>
                </a:solidFill>
              </a:endParaRPr>
            </a:p>
          </p:txBody>
        </p:sp>
        <p:sp>
          <p:nvSpPr>
            <p:cNvPr id="15" name="AutoShape 52">
              <a:extLst>
                <a:ext uri="{FF2B5EF4-FFF2-40B4-BE49-F238E27FC236}">
                  <a16:creationId xmlns:a16="http://schemas.microsoft.com/office/drawing/2014/main" id="{079547F1-4329-435D-9116-EF477D5789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3902" y="3021"/>
              <a:ext cx="1401" cy="510"/>
            </a:xfrm>
            <a:prstGeom prst="wedgeEllipseCallout">
              <a:avLst>
                <a:gd name="adj1" fmla="val 15963"/>
                <a:gd name="adj2" fmla="val -9282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sz="1600" dirty="0">
                  <a:solidFill>
                    <a:srgbClr val="000000"/>
                  </a:solidFill>
                </a:rPr>
                <a:t>Значение узла массива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dirty="0">
                <a:solidFill>
                  <a:srgbClr val="000000"/>
                </a:solidFill>
              </a:endParaRPr>
            </a:p>
          </p:txBody>
        </p:sp>
        <p:sp>
          <p:nvSpPr>
            <p:cNvPr id="16" name="Rectangle 111">
              <a:extLst>
                <a:ext uri="{FF2B5EF4-FFF2-40B4-BE49-F238E27FC236}">
                  <a16:creationId xmlns:a16="http://schemas.microsoft.com/office/drawing/2014/main" id="{DEAF540A-8E14-4822-B37C-E5D0E09BD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570"/>
              <a:ext cx="272" cy="2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r:</a:t>
              </a:r>
              <a:endParaRPr lang="ru-RU" sz="2000">
                <a:solidFill>
                  <a:srgbClr val="000000"/>
                </a:solidFill>
              </a:endParaRPr>
            </a:p>
          </p:txBody>
        </p:sp>
      </p:grpSp>
      <p:sp>
        <p:nvSpPr>
          <p:cNvPr id="8" name="Rectangle 112">
            <a:extLst>
              <a:ext uri="{FF2B5EF4-FFF2-40B4-BE49-F238E27FC236}">
                <a16:creationId xmlns:a16="http://schemas.microsoft.com/office/drawing/2014/main" id="{C7B833A1-CA69-4442-AFE0-744791E66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430" y="2082366"/>
            <a:ext cx="552278" cy="54447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C00000"/>
                </a:solidFill>
              </a:rPr>
              <a:t>T: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12FDA1-0BEB-4DB8-83C5-61E483BE020F}"/>
              </a:ext>
            </a:extLst>
          </p:cNvPr>
          <p:cNvSpPr/>
          <p:nvPr/>
        </p:nvSpPr>
        <p:spPr>
          <a:xfrm>
            <a:off x="4877111" y="2905682"/>
            <a:ext cx="1691489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r(a2,b2)=c2,d2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52FBE724-6918-4A89-A41E-D2061382E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56" y="1650780"/>
            <a:ext cx="1797746" cy="120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66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Наследование</a:t>
            </a:r>
            <a:endParaRPr lang="en-GB" altLang="ru-RU" sz="16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755576" y="461651"/>
            <a:ext cx="748883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Классы могут быть наследниками других классов. Для примера создадим класс человек (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human) 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следующей структуры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Class </a:t>
            </a:r>
            <a:r>
              <a:rPr lang="en-US" sz="1400" dirty="0" err="1">
                <a:solidFill>
                  <a:srgbClr val="000099"/>
                </a:solidFill>
                <a:latin typeface="+mn-lt"/>
              </a:rPr>
              <a:t>User.Human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Extends %Persistent 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{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Property Pass As %String(MAXLEN = 11);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Property Name As %String(MAXLEN = 20);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}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В нём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name – 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имя,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pass – 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номер и серия паспорта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Класс-наследник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student 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расширяет базовый класс свойством </a:t>
            </a:r>
            <a:r>
              <a:rPr lang="en-US" sz="1400" dirty="0" err="1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NZach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 -  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номер зачетной книжки: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Class </a:t>
            </a:r>
            <a:r>
              <a:rPr lang="en-US" sz="1400" dirty="0" err="1">
                <a:solidFill>
                  <a:srgbClr val="000099"/>
                </a:solidFill>
                <a:latin typeface="+mn-lt"/>
              </a:rPr>
              <a:t>TestLib.Student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Extends </a:t>
            </a:r>
            <a:r>
              <a:rPr lang="en-US" sz="1400" dirty="0" err="1">
                <a:solidFill>
                  <a:srgbClr val="000099"/>
                </a:solidFill>
                <a:latin typeface="+mn-lt"/>
              </a:rPr>
              <a:t>User.Human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{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Property </a:t>
            </a:r>
            <a:r>
              <a:rPr lang="en-US" sz="1400" dirty="0" err="1">
                <a:solidFill>
                  <a:srgbClr val="000099"/>
                </a:solidFill>
                <a:latin typeface="+mn-lt"/>
              </a:rPr>
              <a:t>NZach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As %String(MAXLEN = 10);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}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При этом создаются две таблицы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Human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 и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Student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 причем поля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Name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 и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 Pass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 в таблице </a:t>
            </a:r>
            <a:r>
              <a:rPr lang="en-US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Student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 будут виртуальными. То есть при создании новой записи в таблице </a:t>
            </a:r>
            <a:r>
              <a:rPr lang="ru-RU" sz="1400" dirty="0" err="1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Student</a:t>
            </a:r>
            <a:r>
              <a:rPr lang="ru-RU" sz="1400" dirty="0">
                <a:solidFill>
                  <a:srgbClr val="000099"/>
                </a:solidFill>
                <a:latin typeface="+mn-lt"/>
                <a:ea typeface="Calibri"/>
                <a:cs typeface="Times New Roman"/>
              </a:rPr>
              <a:t> значения этих полей сохраняются в таблице Human и информация о них извлекается по внутренней ссылке. </a:t>
            </a:r>
          </a:p>
        </p:txBody>
      </p:sp>
    </p:spTree>
    <p:extLst>
      <p:ext uri="{BB962C8B-B14F-4D97-AF65-F5344CB8AC3E}">
        <p14:creationId xmlns:p14="http://schemas.microsoft.com/office/powerpoint/2010/main" val="2989703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Наследование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683568" y="461651"/>
            <a:ext cx="7776864" cy="437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 algn="just">
              <a:spcAft>
                <a:spcPts val="300"/>
              </a:spcAft>
              <a:buNone/>
            </a:pPr>
            <a:r>
              <a:rPr lang="ru-RU" sz="1300" dirty="0">
                <a:solidFill>
                  <a:srgbClr val="000099"/>
                </a:solidFill>
                <a:latin typeface="+mj-lt"/>
              </a:rPr>
              <a:t>В классе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 Human 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создадим объект Пётр (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”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0305 855637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”, “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Петр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”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), а в классе 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Student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 – объект Иван(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 “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0305 163788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”,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 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“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Иван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”, “8765”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)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. </a:t>
            </a:r>
          </a:p>
          <a:p>
            <a:pPr marL="0" indent="360000" algn="just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USER&gt;s stud=##Class(User.Student).%New()</a:t>
            </a:r>
            <a:endParaRPr lang="ru-RU" sz="1300" dirty="0">
              <a:solidFill>
                <a:srgbClr val="000099"/>
              </a:solidFill>
              <a:latin typeface="+mj-lt"/>
              <a:ea typeface="Calibri"/>
              <a:cs typeface="Times New Roman"/>
            </a:endParaRPr>
          </a:p>
          <a:p>
            <a:pPr marL="0" indent="360000" algn="just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USER&gt;s </a:t>
            </a:r>
            <a:r>
              <a:rPr lang="en-US" sz="1300" dirty="0" err="1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stud.Name</a:t>
            </a:r>
            <a:r>
              <a:rPr lang="en-US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= "</a:t>
            </a:r>
            <a:r>
              <a:rPr lang="ru-RU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Иван</a:t>
            </a:r>
            <a:r>
              <a:rPr lang="en-US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“</a:t>
            </a:r>
          </a:p>
          <a:p>
            <a:pPr marL="0" indent="360000" algn="just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USER&gt;s </a:t>
            </a:r>
            <a:r>
              <a:rPr lang="en-US" sz="1300" dirty="0" err="1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stud.NZach</a:t>
            </a:r>
            <a:r>
              <a:rPr lang="en-US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=" 8765 “</a:t>
            </a:r>
          </a:p>
          <a:p>
            <a:pPr marL="0" lvl="0" indent="360000" algn="just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USER</a:t>
            </a:r>
            <a:r>
              <a:rPr lang="en-US" sz="1300" i="1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&gt;s </a:t>
            </a:r>
            <a:r>
              <a:rPr lang="en-US" sz="1300" i="1" dirty="0" err="1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stud.Pass</a:t>
            </a:r>
            <a:r>
              <a:rPr lang="en-US" sz="1300" i="1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="</a:t>
            </a:r>
            <a:r>
              <a:rPr lang="ru-RU" sz="1300" i="1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 0305 855637 </a:t>
            </a:r>
            <a:r>
              <a:rPr lang="en-US" sz="1300" i="1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“ </a:t>
            </a:r>
            <a:r>
              <a:rPr lang="ru-RU" sz="1300" i="1" dirty="0">
                <a:solidFill>
                  <a:srgbClr val="000099"/>
                </a:solidFill>
                <a:latin typeface="+mj-lt"/>
                <a:ea typeface="Calibri"/>
                <a:cs typeface="Times New Roman"/>
              </a:rPr>
              <a:t>/не забудьте сохранить и закрыть </a:t>
            </a:r>
          </a:p>
          <a:p>
            <a:pPr marL="0" lvl="0" indent="360000" algn="just">
              <a:spcAft>
                <a:spcPts val="300"/>
              </a:spcAft>
              <a:buNone/>
            </a:pPr>
            <a:r>
              <a:rPr lang="ru-RU" sz="1300" dirty="0">
                <a:solidFill>
                  <a:srgbClr val="000099"/>
                </a:solidFill>
                <a:latin typeface="+mj-lt"/>
              </a:rPr>
              <a:t>Данные обоих классов помещаются в один </a:t>
            </a:r>
            <a:r>
              <a:rPr lang="ru-RU" sz="1300" dirty="0" err="1">
                <a:solidFill>
                  <a:srgbClr val="000099"/>
                </a:solidFill>
                <a:latin typeface="+mj-lt"/>
              </a:rPr>
              <a:t>глобал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  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^</a:t>
            </a:r>
            <a:r>
              <a:rPr lang="en-US" sz="1300" dirty="0" err="1">
                <a:solidFill>
                  <a:srgbClr val="000099"/>
                </a:solidFill>
                <a:latin typeface="+mj-lt"/>
              </a:rPr>
              <a:t>User.HumanD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:</a:t>
            </a:r>
          </a:p>
          <a:p>
            <a:pPr marL="0" indent="360000" algn="just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    </a:t>
            </a: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     </a:t>
            </a:r>
          </a:p>
          <a:p>
            <a:pPr marL="0" indent="360000" algn="just">
              <a:spcAft>
                <a:spcPts val="300"/>
              </a:spcAft>
              <a:buNone/>
            </a:pPr>
            <a:endParaRPr lang="en-US" sz="14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endParaRPr lang="ru-RU" sz="2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r>
              <a:rPr lang="ru-RU" sz="1300" dirty="0">
                <a:solidFill>
                  <a:srgbClr val="000099"/>
                </a:solidFill>
                <a:latin typeface="+mj-lt"/>
              </a:rPr>
              <a:t>Запросами 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SELECT * … 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про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c</a:t>
            </a:r>
            <a:r>
              <a:rPr lang="ru-RU" sz="1300" dirty="0" err="1">
                <a:solidFill>
                  <a:srgbClr val="000099"/>
                </a:solidFill>
                <a:latin typeface="+mj-lt"/>
              </a:rPr>
              <a:t>мотрим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  содержимое этих таблиц</a:t>
            </a:r>
          </a:p>
          <a:p>
            <a:pPr marL="0" indent="360000" algn="just">
              <a:spcAft>
                <a:spcPts val="300"/>
              </a:spcAft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endParaRPr lang="ru-RU" sz="105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endParaRPr lang="en-US" sz="13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endParaRPr lang="ru-RU" sz="6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300"/>
              </a:spcAft>
              <a:buNone/>
            </a:pPr>
            <a:r>
              <a:rPr lang="ru-RU" sz="1300" dirty="0">
                <a:solidFill>
                  <a:srgbClr val="000099"/>
                </a:solidFill>
                <a:latin typeface="+mj-lt"/>
              </a:rPr>
              <a:t>Один вывод очевиден – 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“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Студент это человек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”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, а как с наследованием в </a:t>
            </a:r>
            <a:r>
              <a:rPr lang="en-US" sz="1300" dirty="0">
                <a:solidFill>
                  <a:srgbClr val="000099"/>
                </a:solidFill>
                <a:latin typeface="+mj-lt"/>
              </a:rPr>
              <a:t>SQL-</a:t>
            </a:r>
            <a:r>
              <a:rPr lang="ru-RU" sz="1300" dirty="0">
                <a:solidFill>
                  <a:srgbClr val="000099"/>
                </a:solidFill>
                <a:latin typeface="+mj-lt"/>
              </a:rPr>
              <a:t>представлении данных?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D91FA58-4EC3-40D1-A685-77F2CF82B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98" y="2067694"/>
            <a:ext cx="5688632" cy="1073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28227FEA-4638-424A-AA05-17A623699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" y="3363838"/>
            <a:ext cx="2116892" cy="870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4BDF5496-F347-447D-A749-DE4A4F957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428900"/>
            <a:ext cx="3385833" cy="74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3319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 err="1">
                <a:solidFill>
                  <a:srgbClr val="CE2816"/>
                </a:solidFill>
              </a:rPr>
              <a:t>Сериализуемые</a:t>
            </a:r>
            <a:r>
              <a:rPr lang="ru-RU" sz="2000" b="1" kern="1200" dirty="0">
                <a:solidFill>
                  <a:srgbClr val="CE2816"/>
                </a:solidFill>
              </a:rPr>
              <a:t> классы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827584" y="461651"/>
            <a:ext cx="7416824" cy="418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Создадим встроенный класс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Addres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:</a:t>
            </a: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Class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User.Address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 Extends %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SerialObject</a:t>
            </a:r>
            <a:endParaRPr lang="en-US" sz="1400" dirty="0">
              <a:solidFill>
                <a:srgbClr val="000099"/>
              </a:solidFill>
              <a:latin typeface="+mj-lt"/>
            </a:endParaRP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{  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Property City As %String;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Property State As %String;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}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Используем его в классе 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Person: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Class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User.Person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 Extends %Persistent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{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Property Name As %String;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Property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YearOB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 As %Integer;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Property Home As Address;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}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Создаём объект класса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 Person: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S p=##class(User.Person).%New()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S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p.Name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="Nick",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p.YearOB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=1984,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p.Home.City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="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NewYork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"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S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p.Home.State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="NY"</a:t>
            </a:r>
          </a:p>
          <a:p>
            <a:pPr marL="0" indent="360000" algn="just">
              <a:spcAft>
                <a:spcPts val="100"/>
              </a:spcAft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D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p.%Save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()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       </a:t>
            </a:r>
            <a:endParaRPr lang="ru-RU" altLang="ru-RU" sz="1400" dirty="0">
              <a:solidFill>
                <a:srgbClr val="00009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263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 err="1">
                <a:solidFill>
                  <a:srgbClr val="CE2816"/>
                </a:solidFill>
              </a:rPr>
              <a:t>Сериализуемые</a:t>
            </a:r>
            <a:r>
              <a:rPr lang="ru-RU" sz="2000" b="1" kern="1200" dirty="0">
                <a:solidFill>
                  <a:srgbClr val="CE2816"/>
                </a:solidFill>
              </a:rPr>
              <a:t> классы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683568" y="483518"/>
            <a:ext cx="77768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Образовался </a:t>
            </a:r>
            <a:r>
              <a:rPr lang="ru-RU" sz="1400" dirty="0" err="1">
                <a:solidFill>
                  <a:srgbClr val="000099"/>
                </a:solidFill>
                <a:latin typeface="+mj-lt"/>
              </a:rPr>
              <a:t>глобал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:</a:t>
            </a: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^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User.PersonD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=1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^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User.PersonD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(1)=$LB("","Nick","1984",$LB("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NewYork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","NY"))</a:t>
            </a: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Объект </a:t>
            </a:r>
            <a:r>
              <a:rPr lang="ru-RU" sz="1400" dirty="0" err="1">
                <a:solidFill>
                  <a:srgbClr val="000099"/>
                </a:solidFill>
                <a:latin typeface="+mj-lt"/>
              </a:rPr>
              <a:t>сериализуемого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 класса в нём представляется списком: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$LB("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NewYork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","NY").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      </a:t>
            </a: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r>
              <a:rPr lang="ru-RU" sz="1400" dirty="0">
                <a:solidFill>
                  <a:srgbClr val="000099"/>
                </a:solidFill>
                <a:latin typeface="+mj-lt"/>
              </a:rPr>
              <a:t>В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 SQL-</a:t>
            </a:r>
            <a:r>
              <a:rPr lang="ru-RU" sz="1400" dirty="0">
                <a:solidFill>
                  <a:srgbClr val="000099"/>
                </a:solidFill>
                <a:latin typeface="+mj-lt"/>
              </a:rPr>
              <a:t>проекции эти столбцы действительно существуют. К ним можно обратиться по имени, например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:</a:t>
            </a:r>
          </a:p>
          <a:p>
            <a:pPr marL="0" indent="0">
              <a:buNone/>
            </a:pPr>
            <a:endParaRPr lang="ru-RU" sz="1400" dirty="0">
              <a:solidFill>
                <a:srgbClr val="000099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99"/>
                </a:solidFill>
                <a:latin typeface="+mj-lt"/>
              </a:rPr>
              <a:t>SELECT Name, </a:t>
            </a:r>
            <a:r>
              <a:rPr lang="en-US" sz="1400" dirty="0" err="1">
                <a:solidFill>
                  <a:srgbClr val="000099"/>
                </a:solidFill>
                <a:latin typeface="+mj-lt"/>
              </a:rPr>
              <a:t>Home_City</a:t>
            </a:r>
            <a:r>
              <a:rPr lang="en-US" sz="1400" dirty="0">
                <a:solidFill>
                  <a:srgbClr val="000099"/>
                </a:solidFill>
                <a:latin typeface="+mj-lt"/>
              </a:rPr>
              <a:t> FROM Person</a:t>
            </a:r>
            <a:endParaRPr lang="ru-RU" altLang="ru-RU" sz="1400" dirty="0">
              <a:solidFill>
                <a:srgbClr val="000099"/>
              </a:solidFill>
              <a:latin typeface="+mj-lt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1271171-67F5-4B53-B007-D6E5A0986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39702"/>
            <a:ext cx="4248472" cy="706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83844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Отношения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827584" y="461651"/>
            <a:ext cx="7560840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Пусть имеются два класса – Юрист и Клиент: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Class </a:t>
            </a:r>
            <a:r>
              <a:rPr lang="en-US" sz="1400" dirty="0" err="1">
                <a:solidFill>
                  <a:srgbClr val="000099"/>
                </a:solidFill>
              </a:rPr>
              <a:t>User.Lawyer</a:t>
            </a:r>
            <a:r>
              <a:rPr lang="en-US" sz="1400" dirty="0">
                <a:solidFill>
                  <a:srgbClr val="000099"/>
                </a:solidFill>
              </a:rPr>
              <a:t> Extends %Persistent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{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Property </a:t>
            </a:r>
            <a:r>
              <a:rPr lang="en-US" sz="1400" dirty="0" err="1">
                <a:solidFill>
                  <a:srgbClr val="000099"/>
                </a:solidFill>
              </a:rPr>
              <a:t>LawyerName</a:t>
            </a:r>
            <a:r>
              <a:rPr lang="en-US" sz="1400" dirty="0">
                <a:solidFill>
                  <a:srgbClr val="000099"/>
                </a:solidFill>
              </a:rPr>
              <a:t> As %String [Required];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} </a:t>
            </a:r>
          </a:p>
          <a:p>
            <a:pPr marL="0" indent="360000" algn="just">
              <a:spcAft>
                <a:spcPts val="600"/>
              </a:spcAft>
              <a:buNone/>
            </a:pPr>
            <a:endParaRPr lang="en-US" sz="1400" dirty="0">
              <a:solidFill>
                <a:srgbClr val="000099"/>
              </a:solidFill>
            </a:endParaRP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Class </a:t>
            </a:r>
            <a:r>
              <a:rPr lang="en-US" sz="1400" dirty="0" err="1">
                <a:solidFill>
                  <a:srgbClr val="000099"/>
                </a:solidFill>
              </a:rPr>
              <a:t>User.Client</a:t>
            </a:r>
            <a:r>
              <a:rPr lang="en-US" sz="1400" dirty="0">
                <a:solidFill>
                  <a:srgbClr val="000099"/>
                </a:solidFill>
              </a:rPr>
              <a:t> Extends %Persistent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{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Property </a:t>
            </a:r>
            <a:r>
              <a:rPr lang="en-US" sz="1400" dirty="0" err="1">
                <a:solidFill>
                  <a:srgbClr val="000099"/>
                </a:solidFill>
              </a:rPr>
              <a:t>ClientName</a:t>
            </a:r>
            <a:r>
              <a:rPr lang="en-US" sz="1400" dirty="0">
                <a:solidFill>
                  <a:srgbClr val="000099"/>
                </a:solidFill>
              </a:rPr>
              <a:t> As %String [ Required ];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99"/>
                </a:solidFill>
              </a:rPr>
              <a:t>}</a:t>
            </a:r>
            <a:endParaRPr lang="ru-RU" sz="1400" dirty="0">
              <a:solidFill>
                <a:srgbClr val="000099"/>
              </a:solidFill>
            </a:endParaRP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В каждый из них добавим атрибут-отношение, определяющий связь один-ко-многим.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</a:rPr>
              <a:t>Получаем:</a:t>
            </a:r>
            <a:endParaRPr lang="ru-RU" altLang="ru-RU" sz="13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4040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Отношения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45409-761A-4D21-83DA-4A9633E284F0}"/>
              </a:ext>
            </a:extLst>
          </p:cNvPr>
          <p:cNvSpPr txBox="1"/>
          <p:nvPr/>
        </p:nvSpPr>
        <p:spPr>
          <a:xfrm>
            <a:off x="827584" y="461651"/>
            <a:ext cx="756084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Class </a:t>
            </a:r>
            <a:r>
              <a:rPr lang="en-US" sz="1300" dirty="0" err="1">
                <a:solidFill>
                  <a:srgbClr val="000099"/>
                </a:solidFill>
              </a:rPr>
              <a:t>User.Lawyer</a:t>
            </a:r>
            <a:r>
              <a:rPr lang="en-US" sz="1300" dirty="0">
                <a:solidFill>
                  <a:srgbClr val="000099"/>
                </a:solidFill>
              </a:rPr>
              <a:t> Extends %Persistent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{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Property </a:t>
            </a:r>
            <a:r>
              <a:rPr lang="en-US" sz="1300" dirty="0" err="1">
                <a:solidFill>
                  <a:srgbClr val="000099"/>
                </a:solidFill>
              </a:rPr>
              <a:t>LawyerName</a:t>
            </a:r>
            <a:r>
              <a:rPr lang="en-US" sz="1300" dirty="0">
                <a:solidFill>
                  <a:srgbClr val="000099"/>
                </a:solidFill>
              </a:rPr>
              <a:t> As %String [ Required ];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Relationship </a:t>
            </a:r>
            <a:r>
              <a:rPr lang="en-US" sz="1300" b="1" dirty="0" err="1">
                <a:solidFill>
                  <a:srgbClr val="000099"/>
                </a:solidFill>
              </a:rPr>
              <a:t>MyClients</a:t>
            </a:r>
            <a:r>
              <a:rPr lang="en-US" sz="1300" b="1" dirty="0">
                <a:solidFill>
                  <a:srgbClr val="000099"/>
                </a:solidFill>
              </a:rPr>
              <a:t> </a:t>
            </a:r>
            <a:r>
              <a:rPr lang="en-US" sz="1300" dirty="0">
                <a:solidFill>
                  <a:srgbClr val="000099"/>
                </a:solidFill>
              </a:rPr>
              <a:t>As </a:t>
            </a:r>
            <a:r>
              <a:rPr lang="en-US" sz="1300" dirty="0" err="1">
                <a:solidFill>
                  <a:srgbClr val="000099"/>
                </a:solidFill>
              </a:rPr>
              <a:t>User.Client</a:t>
            </a:r>
            <a:r>
              <a:rPr lang="en-US" sz="1300" dirty="0">
                <a:solidFill>
                  <a:srgbClr val="000099"/>
                </a:solidFill>
              </a:rPr>
              <a:t> [ Cardinality=many, Inverse=</a:t>
            </a:r>
            <a:r>
              <a:rPr lang="en-US" sz="1300" b="1" dirty="0" err="1">
                <a:solidFill>
                  <a:srgbClr val="000099"/>
                </a:solidFill>
              </a:rPr>
              <a:t>MyLawyer</a:t>
            </a:r>
            <a:r>
              <a:rPr lang="en-US" sz="1300" dirty="0">
                <a:solidFill>
                  <a:srgbClr val="000099"/>
                </a:solidFill>
              </a:rPr>
              <a:t> ];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}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ru-RU" sz="1300" dirty="0">
                <a:solidFill>
                  <a:srgbClr val="000099"/>
                </a:solidFill>
              </a:rPr>
              <a:t>И</a:t>
            </a: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Class </a:t>
            </a:r>
            <a:r>
              <a:rPr lang="en-US" sz="1300" dirty="0" err="1">
                <a:solidFill>
                  <a:srgbClr val="000099"/>
                </a:solidFill>
              </a:rPr>
              <a:t>User.Client</a:t>
            </a:r>
            <a:r>
              <a:rPr lang="en-US" sz="1300" dirty="0">
                <a:solidFill>
                  <a:srgbClr val="000099"/>
                </a:solidFill>
              </a:rPr>
              <a:t> Extends %Persistent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{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Property </a:t>
            </a:r>
            <a:r>
              <a:rPr lang="en-US" sz="1300" dirty="0" err="1">
                <a:solidFill>
                  <a:srgbClr val="000099"/>
                </a:solidFill>
              </a:rPr>
              <a:t>ClientName</a:t>
            </a:r>
            <a:r>
              <a:rPr lang="en-US" sz="1300" dirty="0">
                <a:solidFill>
                  <a:srgbClr val="000099"/>
                </a:solidFill>
              </a:rPr>
              <a:t> As %String [ Required ];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Relationship </a:t>
            </a:r>
            <a:r>
              <a:rPr lang="en-US" sz="1300" b="1" dirty="0" err="1">
                <a:solidFill>
                  <a:srgbClr val="000099"/>
                </a:solidFill>
              </a:rPr>
              <a:t>MyLawyer</a:t>
            </a:r>
            <a:r>
              <a:rPr lang="en-US" sz="1300" dirty="0">
                <a:solidFill>
                  <a:srgbClr val="000099"/>
                </a:solidFill>
              </a:rPr>
              <a:t> As </a:t>
            </a:r>
            <a:r>
              <a:rPr lang="en-US" sz="1300" dirty="0" err="1">
                <a:solidFill>
                  <a:srgbClr val="000099"/>
                </a:solidFill>
              </a:rPr>
              <a:t>User.Lawyer</a:t>
            </a:r>
            <a:r>
              <a:rPr lang="en-US" sz="1300" dirty="0">
                <a:solidFill>
                  <a:srgbClr val="000099"/>
                </a:solidFill>
              </a:rPr>
              <a:t> [ Cardinality = one, Inverse = </a:t>
            </a:r>
            <a:r>
              <a:rPr lang="en-US" sz="1300" b="1" dirty="0" err="1">
                <a:solidFill>
                  <a:srgbClr val="000099"/>
                </a:solidFill>
              </a:rPr>
              <a:t>MyClients</a:t>
            </a:r>
            <a:r>
              <a:rPr lang="en-US" sz="1300" b="1" dirty="0">
                <a:solidFill>
                  <a:srgbClr val="000099"/>
                </a:solidFill>
              </a:rPr>
              <a:t> </a:t>
            </a:r>
            <a:r>
              <a:rPr lang="en-US" sz="1300" dirty="0">
                <a:solidFill>
                  <a:srgbClr val="000099"/>
                </a:solidFill>
              </a:rPr>
              <a:t>];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}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ru-RU" sz="1300" dirty="0">
                <a:solidFill>
                  <a:srgbClr val="000099"/>
                </a:solidFill>
              </a:rPr>
              <a:t>Компилируем  их совместно. </a:t>
            </a:r>
          </a:p>
          <a:p>
            <a:pPr marL="0" indent="0" algn="just">
              <a:buNone/>
            </a:pPr>
            <a:r>
              <a:rPr lang="ru-RU" sz="1300" dirty="0">
                <a:solidFill>
                  <a:srgbClr val="000099"/>
                </a:solidFill>
              </a:rPr>
              <a:t>Теперь остаётся создать: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99"/>
                </a:solidFill>
              </a:rPr>
              <a:t>экземпляры (объекты) обоих классов, задавая только свойства (</a:t>
            </a:r>
            <a:r>
              <a:rPr lang="en-US" sz="1300" dirty="0">
                <a:solidFill>
                  <a:srgbClr val="000099"/>
                </a:solidFill>
              </a:rPr>
              <a:t>Property</a:t>
            </a:r>
            <a:r>
              <a:rPr lang="ru-RU" sz="1300" dirty="0">
                <a:solidFill>
                  <a:srgbClr val="000099"/>
                </a:solidFill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99"/>
                </a:solidFill>
              </a:rPr>
              <a:t>экземпляры связей между объектами юристов и клиентов.</a:t>
            </a:r>
            <a:endParaRPr lang="en-US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ru-RU" sz="1300" dirty="0">
                <a:solidFill>
                  <a:srgbClr val="000099"/>
                </a:solidFill>
              </a:rPr>
              <a:t>Для решения второй задачи необходимо сначала создать ссылку на какой-нибудь объект </a:t>
            </a:r>
            <a:r>
              <a:rPr lang="en-US" sz="1300" dirty="0">
                <a:solidFill>
                  <a:srgbClr val="000099"/>
                </a:solidFill>
              </a:rPr>
              <a:t>Lawyer</a:t>
            </a:r>
            <a:r>
              <a:rPr lang="ru-RU" sz="1300" dirty="0">
                <a:solidFill>
                  <a:srgbClr val="000099"/>
                </a:solidFill>
              </a:rPr>
              <a:t> (например,</a:t>
            </a:r>
            <a:r>
              <a:rPr lang="en-US" sz="1300" dirty="0" err="1">
                <a:solidFill>
                  <a:srgbClr val="000099"/>
                </a:solidFill>
              </a:rPr>
              <a:t>LawyerOref</a:t>
            </a:r>
            <a:r>
              <a:rPr lang="ru-RU" sz="1300" dirty="0">
                <a:solidFill>
                  <a:srgbClr val="000099"/>
                </a:solidFill>
              </a:rPr>
              <a:t>) затем ссылку на объект </a:t>
            </a:r>
            <a:r>
              <a:rPr lang="en-US" sz="1300" dirty="0">
                <a:solidFill>
                  <a:srgbClr val="000099"/>
                </a:solidFill>
              </a:rPr>
              <a:t>Client</a:t>
            </a:r>
            <a:r>
              <a:rPr lang="ru-RU" sz="1300" dirty="0">
                <a:solidFill>
                  <a:srgbClr val="000099"/>
                </a:solidFill>
              </a:rPr>
              <a:t>, (например,</a:t>
            </a:r>
            <a:r>
              <a:rPr lang="en-US" sz="1300" dirty="0">
                <a:solidFill>
                  <a:srgbClr val="000099"/>
                </a:solidFill>
              </a:rPr>
              <a:t> ClientOref1</a:t>
            </a:r>
            <a:r>
              <a:rPr lang="ru-RU" sz="1300" dirty="0">
                <a:solidFill>
                  <a:srgbClr val="000099"/>
                </a:solidFill>
              </a:rPr>
              <a:t>) который будет с ним связан и, наконец, присвоить атрибуту-ссылке клиента значение атрибута-ссылки юриста, например,</a:t>
            </a:r>
          </a:p>
          <a:p>
            <a:pPr marL="0" indent="0" algn="just">
              <a:buNone/>
            </a:pPr>
            <a:r>
              <a:rPr lang="en-US" sz="1300" dirty="0">
                <a:solidFill>
                  <a:srgbClr val="000099"/>
                </a:solidFill>
              </a:rPr>
              <a:t>Set ClientOref1.MyLawyer=</a:t>
            </a:r>
            <a:r>
              <a:rPr lang="en-US" sz="1300" dirty="0" err="1">
                <a:solidFill>
                  <a:srgbClr val="000099"/>
                </a:solidFill>
              </a:rPr>
              <a:t>LawyerOref</a:t>
            </a:r>
            <a:r>
              <a:rPr lang="en-US" sz="1300" dirty="0">
                <a:solidFill>
                  <a:srgbClr val="000099"/>
                </a:solidFill>
              </a:rPr>
              <a:t>;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0" algn="just">
              <a:buNone/>
            </a:pPr>
            <a:r>
              <a:rPr lang="ru-RU" sz="1300" dirty="0">
                <a:solidFill>
                  <a:srgbClr val="000099"/>
                </a:solidFill>
              </a:rPr>
              <a:t>ссылки </a:t>
            </a:r>
            <a:r>
              <a:rPr lang="en-US" sz="1300" dirty="0">
                <a:solidFill>
                  <a:srgbClr val="000099"/>
                </a:solidFill>
              </a:rPr>
              <a:t>ClientOref1</a:t>
            </a:r>
            <a:r>
              <a:rPr lang="ru-RU" sz="1300" dirty="0">
                <a:solidFill>
                  <a:srgbClr val="000099"/>
                </a:solidFill>
              </a:rPr>
              <a:t> и</a:t>
            </a:r>
            <a:r>
              <a:rPr lang="en-US" sz="1300" dirty="0">
                <a:solidFill>
                  <a:srgbClr val="000099"/>
                </a:solidFill>
              </a:rPr>
              <a:t> </a:t>
            </a:r>
            <a:r>
              <a:rPr lang="en-US" sz="1300" dirty="0" err="1">
                <a:solidFill>
                  <a:srgbClr val="000099"/>
                </a:solidFill>
              </a:rPr>
              <a:t>LawyerOref</a:t>
            </a:r>
            <a:r>
              <a:rPr lang="ru-RU" sz="1300" dirty="0">
                <a:solidFill>
                  <a:srgbClr val="000099"/>
                </a:solidFill>
              </a:rPr>
              <a:t> созданы методом</a:t>
            </a:r>
            <a:r>
              <a:rPr lang="en-US" sz="1300" dirty="0">
                <a:solidFill>
                  <a:srgbClr val="000099"/>
                </a:solidFill>
              </a:rPr>
              <a:t> %New</a:t>
            </a:r>
            <a:r>
              <a:rPr lang="ru-RU" sz="1300" dirty="0">
                <a:solidFill>
                  <a:srgbClr val="000099"/>
                </a:solidFill>
              </a:rPr>
              <a:t>().</a:t>
            </a:r>
          </a:p>
        </p:txBody>
      </p:sp>
      <p:cxnSp>
        <p:nvCxnSpPr>
          <p:cNvPr id="3" name="Соединитель: изогнутый 2">
            <a:extLst>
              <a:ext uri="{FF2B5EF4-FFF2-40B4-BE49-F238E27FC236}">
                <a16:creationId xmlns:a16="http://schemas.microsoft.com/office/drawing/2014/main" id="{2BA03FB1-3D7B-4AA8-9088-2B7F07B59B1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83768" y="1275606"/>
            <a:ext cx="3744416" cy="1080120"/>
          </a:xfrm>
          <a:prstGeom prst="curvedConnector3">
            <a:avLst>
              <a:gd name="adj1" fmla="val 492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C92CED2B-BE23-4234-9116-C0DC0EE8F4A6}"/>
              </a:ext>
            </a:extLst>
          </p:cNvPr>
          <p:cNvCxnSpPr>
            <a:cxnSpLocks/>
          </p:cNvCxnSpPr>
          <p:nvPr/>
        </p:nvCxnSpPr>
        <p:spPr>
          <a:xfrm>
            <a:off x="2267744" y="1347614"/>
            <a:ext cx="4176464" cy="864096"/>
          </a:xfrm>
          <a:prstGeom prst="curvedConnector3">
            <a:avLst>
              <a:gd name="adj1" fmla="val 6251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441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Метаданные в </a:t>
            </a:r>
            <a:r>
              <a:rPr lang="en-US" sz="2000" b="1" kern="1200" dirty="0" err="1">
                <a:solidFill>
                  <a:srgbClr val="CE2816"/>
                </a:solidFill>
              </a:rPr>
              <a:t>Caché</a:t>
            </a:r>
            <a:r>
              <a:rPr lang="ru-RU" sz="2000" b="1" kern="1200" dirty="0">
                <a:solidFill>
                  <a:srgbClr val="CE2816"/>
                </a:solidFill>
              </a:rPr>
              <a:t> 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88E9EC-E24D-49B6-8080-916F420B092E}"/>
              </a:ext>
            </a:extLst>
          </p:cNvPr>
          <p:cNvSpPr txBox="1"/>
          <p:nvPr/>
        </p:nvSpPr>
        <p:spPr>
          <a:xfrm>
            <a:off x="827584" y="461651"/>
            <a:ext cx="7560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Метаданные в </a:t>
            </a:r>
            <a:r>
              <a:rPr lang="ru-RU" sz="1400" dirty="0" err="1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é</a:t>
            </a:r>
            <a:r>
              <a:rPr lang="ru-RU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 хранятся в </a:t>
            </a:r>
            <a:r>
              <a:rPr lang="ru-RU" sz="1400" dirty="0" err="1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метаклассах</a:t>
            </a:r>
            <a:r>
              <a:rPr lang="ru-RU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 двух видов: 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D</a:t>
            </a:r>
            <a:r>
              <a:rPr lang="ru-RU" sz="1400" dirty="0" err="1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efined</a:t>
            </a:r>
            <a:r>
              <a:rPr lang="ru-RU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 – определения классов, включая члены класса описанные в нём. Не содержат описания унаследованных членов классов.</a:t>
            </a:r>
          </a:p>
          <a:p>
            <a:pPr marL="57150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C</a:t>
            </a:r>
            <a:r>
              <a:rPr lang="ru-RU" sz="1400" dirty="0" err="1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ompiled</a:t>
            </a:r>
            <a:r>
              <a:rPr lang="ru-RU" sz="1400" dirty="0">
                <a:solidFill>
                  <a:srgbClr val="000099"/>
                </a:solidFill>
                <a:latin typeface="+mn-lt"/>
                <a:cs typeface="Calibri" panose="020F0502020204030204" pitchFamily="34" charset="0"/>
              </a:rPr>
              <a:t> – представляют скомпилированные классы; содержат  информацию об унаследованных членах классов.</a:t>
            </a:r>
          </a:p>
          <a:p>
            <a:pPr marL="0" lvl="0" indent="360000">
              <a:buNone/>
            </a:pPr>
            <a:r>
              <a:rPr lang="en-US" sz="1400" i="1" dirty="0">
                <a:solidFill>
                  <a:srgbClr val="000099"/>
                </a:solidFill>
                <a:latin typeface="+mn-lt"/>
              </a:rPr>
              <a:t>Defined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-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метаклассы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: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2D46B977-F091-4F18-ACCA-5085EB777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27" y="1798823"/>
            <a:ext cx="5566345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799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Метаданные в </a:t>
            </a:r>
            <a:r>
              <a:rPr lang="en-US" sz="2000" b="1" kern="1200" dirty="0" err="1">
                <a:solidFill>
                  <a:srgbClr val="CE2816"/>
                </a:solidFill>
              </a:rPr>
              <a:t>Caché</a:t>
            </a:r>
            <a:r>
              <a:rPr lang="ru-RU" sz="2000" b="1" kern="1200" dirty="0">
                <a:solidFill>
                  <a:srgbClr val="CE2816"/>
                </a:solidFill>
              </a:rPr>
              <a:t> 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755576" y="461651"/>
            <a:ext cx="75608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Рассмотрим структуру двух классов из перечисленных в таблице на предыдущем слайде.</a:t>
            </a:r>
          </a:p>
          <a:p>
            <a:pPr indent="360000" algn="just">
              <a:spcAft>
                <a:spcPts val="600"/>
              </a:spcAft>
              <a:buNone/>
            </a:pPr>
            <a:endParaRPr lang="ru-RU" sz="1400" dirty="0">
              <a:solidFill>
                <a:srgbClr val="000099"/>
              </a:solidFill>
              <a:latin typeface="+mn-lt"/>
            </a:endParaRPr>
          </a:p>
          <a:p>
            <a:pPr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Полное имя класса </a:t>
            </a:r>
            <a:r>
              <a:rPr lang="en-US" sz="1400" i="1" dirty="0" err="1">
                <a:solidFill>
                  <a:srgbClr val="000099"/>
                </a:solidFill>
                <a:latin typeface="+mn-lt"/>
              </a:rPr>
              <a:t>ClassDefinition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 э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то 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%</a:t>
            </a:r>
            <a:r>
              <a:rPr lang="en-US" sz="1400" i="1" dirty="0" err="1">
                <a:solidFill>
                  <a:srgbClr val="000099"/>
                </a:solidFill>
                <a:latin typeface="+mn-lt"/>
              </a:rPr>
              <a:t>Dictionary.ClassDefinition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Его поля:</a:t>
            </a:r>
          </a:p>
          <a:p>
            <a:pPr indent="360000" algn="just">
              <a:spcAft>
                <a:spcPts val="600"/>
              </a:spcAft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Name –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имя класса.</a:t>
            </a:r>
          </a:p>
          <a:p>
            <a:pPr indent="360000" algn="just">
              <a:spcAft>
                <a:spcPts val="600"/>
              </a:spcAft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Properties –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атрибут (объект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метакласса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rgbClr val="000099"/>
                </a:solidFill>
                <a:latin typeface="+mn-lt"/>
              </a:rPr>
              <a:t>PropertyDefinition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).</a:t>
            </a:r>
          </a:p>
          <a:p>
            <a:pPr indent="360000" algn="just">
              <a:spcAft>
                <a:spcPts val="600"/>
              </a:spcAft>
            </a:pPr>
            <a:r>
              <a:rPr lang="en-US" sz="1400" dirty="0" err="1">
                <a:solidFill>
                  <a:srgbClr val="000099"/>
                </a:solidFill>
                <a:latin typeface="+mn-lt"/>
              </a:rPr>
              <a:t>ClassType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–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тип класса (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persistent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или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serial).</a:t>
            </a:r>
          </a:p>
          <a:p>
            <a:pPr indent="360000" algn="just">
              <a:spcAft>
                <a:spcPts val="600"/>
              </a:spcAft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Super – содержит имена базовых классов.</a:t>
            </a:r>
          </a:p>
          <a:p>
            <a:pPr indent="360000" algn="just">
              <a:spcAft>
                <a:spcPts val="600"/>
              </a:spcAft>
            </a:pPr>
            <a:r>
              <a:rPr lang="en-US" sz="1400" i="1" dirty="0">
                <a:solidFill>
                  <a:srgbClr val="000099"/>
                </a:solidFill>
                <a:latin typeface="+mn-lt"/>
              </a:rPr>
              <a:t>Description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–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поле описания класса.</a:t>
            </a:r>
          </a:p>
          <a:p>
            <a:pPr indent="360000" algn="just">
              <a:spcAft>
                <a:spcPts val="600"/>
              </a:spcAft>
            </a:pPr>
            <a:r>
              <a:rPr lang="ru-RU" sz="1400" i="1" dirty="0" err="1">
                <a:solidFill>
                  <a:srgbClr val="000099"/>
                </a:solidFill>
                <a:latin typeface="+mn-lt"/>
              </a:rPr>
              <a:t>Abstract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– определяет абстрактность класса.</a:t>
            </a:r>
          </a:p>
          <a:p>
            <a:pPr indent="360000" algn="just">
              <a:spcAft>
                <a:spcPts val="600"/>
              </a:spcAft>
            </a:pPr>
            <a:r>
              <a:rPr lang="ru-RU" sz="1400" i="1" dirty="0">
                <a:solidFill>
                  <a:srgbClr val="000099"/>
                </a:solidFill>
                <a:latin typeface="+mn-lt"/>
              </a:rPr>
              <a:t>Final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– возможность наследования от класса.</a:t>
            </a:r>
          </a:p>
          <a:p>
            <a:pPr indent="360000" algn="just">
              <a:spcAft>
                <a:spcPts val="600"/>
              </a:spcAft>
            </a:pPr>
            <a:r>
              <a:rPr lang="ru-RU" sz="1400" i="1" dirty="0" err="1">
                <a:solidFill>
                  <a:srgbClr val="000099"/>
                </a:solidFill>
                <a:latin typeface="+mn-lt"/>
              </a:rPr>
              <a:t>Indices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– связи, предназначенные для описания индексов класса.</a:t>
            </a:r>
          </a:p>
          <a:p>
            <a:pPr indent="360000" algn="just">
              <a:spcAft>
                <a:spcPts val="600"/>
              </a:spcAft>
            </a:pPr>
            <a:r>
              <a:rPr lang="ru-RU" sz="1400" i="1" dirty="0" err="1">
                <a:solidFill>
                  <a:srgbClr val="000099"/>
                </a:solidFill>
                <a:latin typeface="+mn-lt"/>
              </a:rPr>
              <a:t>Methods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– связи, предназначенная для описания методов класса.</a:t>
            </a:r>
          </a:p>
          <a:p>
            <a:pPr indent="360000" algn="just">
              <a:spcAft>
                <a:spcPts val="600"/>
              </a:spcAft>
            </a:pPr>
            <a:r>
              <a:rPr lang="ru-RU" sz="1400" i="1" dirty="0" err="1">
                <a:solidFill>
                  <a:srgbClr val="000099"/>
                </a:solidFill>
                <a:latin typeface="+mn-lt"/>
              </a:rPr>
              <a:t>Parameters</a:t>
            </a:r>
            <a:r>
              <a:rPr lang="ru-RU" sz="1400" i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– связь, предназначенная для описания параметров класса.</a:t>
            </a:r>
            <a:endParaRPr lang="en-US" altLang="ru-RU" sz="1400" dirty="0">
              <a:solidFill>
                <a:srgbClr val="0000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4396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Метаданные в </a:t>
            </a:r>
            <a:r>
              <a:rPr lang="en-US" sz="2000" b="1" kern="1200" dirty="0" err="1">
                <a:solidFill>
                  <a:srgbClr val="CE2816"/>
                </a:solidFill>
              </a:rPr>
              <a:t>Caché</a:t>
            </a:r>
            <a:r>
              <a:rPr lang="ru-RU" sz="2000" b="1" kern="1200" dirty="0">
                <a:solidFill>
                  <a:srgbClr val="CE2816"/>
                </a:solidFill>
              </a:rPr>
              <a:t> 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6868-EAF5-4715-8F37-7A71D3C314C8}"/>
              </a:ext>
            </a:extLst>
          </p:cNvPr>
          <p:cNvSpPr txBox="1"/>
          <p:nvPr/>
        </p:nvSpPr>
        <p:spPr>
          <a:xfrm>
            <a:off x="1043608" y="461651"/>
            <a:ext cx="6984776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2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Класс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PropertyDefinition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, хранящий сведения об атрибутах. Минимальный набор из двух полей, обеспечивающий добавление атрибута в класс: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Name –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поле имени атрибута.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Type –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поле типа атрибута.</a:t>
            </a:r>
          </a:p>
          <a:p>
            <a:pPr indent="360000" algn="just">
              <a:spcAft>
                <a:spcPts val="2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Другие поля: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MultiDimensional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указывает, что атрибут это многомерный массив.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CollectionAs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указывает, что атрибут это «коллекция».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99"/>
                </a:solidFill>
                <a:latin typeface="+mn-lt"/>
              </a:rPr>
              <a:t>Description –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поле комментария к атрибуту.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Calculated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объявление атрибута вычислимым.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InitialExpression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задание начального значения атрибута.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NotInheritable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указывает, что атрибут не наследован.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ParametersAs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поле массива параметров атрибута.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Private – указания на закрытость атрибута.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Relationship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указания на то, что атрибут является связью.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Required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поле указания на обязательность атрибута.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Transient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указание на то, что атрибут не хранится в базе.</a:t>
            </a:r>
          </a:p>
          <a:p>
            <a:pPr marL="285750" indent="-2857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00099"/>
                </a:solidFill>
                <a:latin typeface="+mn-lt"/>
              </a:rPr>
              <a:t>Parent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– поле родительской связи.</a:t>
            </a:r>
          </a:p>
        </p:txBody>
      </p:sp>
    </p:spTree>
    <p:extLst>
      <p:ext uri="{BB962C8B-B14F-4D97-AF65-F5344CB8AC3E}">
        <p14:creationId xmlns:p14="http://schemas.microsoft.com/office/powerpoint/2010/main" val="14551511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sz="2000" b="1" kern="1200" dirty="0">
                <a:solidFill>
                  <a:srgbClr val="CE2816"/>
                </a:solidFill>
              </a:rPr>
              <a:t>Заключение</a:t>
            </a:r>
            <a:endParaRPr lang="en-GB" altLang="ru-RU" sz="2000" b="1" dirty="0">
              <a:solidFill>
                <a:srgbClr val="CC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B67E9-451A-4AF8-A741-7C6D6804B872}"/>
              </a:ext>
            </a:extLst>
          </p:cNvPr>
          <p:cNvSpPr txBox="1"/>
          <p:nvPr/>
        </p:nvSpPr>
        <p:spPr>
          <a:xfrm>
            <a:off x="755576" y="461651"/>
            <a:ext cx="756084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Итак, изучены основы объектной модели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ODMG.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Конечно, следовало бы посмотреть на предоставляемые возможности изменения структур хранения данных, изучить возможности индексации, включая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bit-slice 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индексы, вникнуть в интереснейший класс %</a:t>
            </a:r>
            <a:r>
              <a:rPr lang="en-US" sz="1400" dirty="0" err="1">
                <a:solidFill>
                  <a:srgbClr val="000099"/>
                </a:solidFill>
                <a:latin typeface="+mn-lt"/>
              </a:rPr>
              <a:t>ResultSet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 К сожалению время, выделенное нам на изучение баз данных слишком ограничено.</a:t>
            </a:r>
          </a:p>
          <a:p>
            <a:pPr marL="0" indent="360000" algn="just">
              <a:spcAft>
                <a:spcPts val="600"/>
              </a:spcAft>
              <a:buNone/>
            </a:pPr>
            <a:r>
              <a:rPr lang="ru-RU" sz="1400" dirty="0">
                <a:solidFill>
                  <a:srgbClr val="000099"/>
                </a:solidFill>
                <a:latin typeface="+mn-lt"/>
              </a:rPr>
              <a:t>Несколько расширить свои знания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é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можно проработав первую часть главы 10 книги. Многое может дать участие в конкурсах 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IT-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планета по </a:t>
            </a:r>
            <a:r>
              <a:rPr lang="ru-RU" sz="1400" dirty="0" err="1">
                <a:solidFill>
                  <a:srgbClr val="000099"/>
                </a:solidFill>
                <a:latin typeface="+mn-lt"/>
              </a:rPr>
              <a:t>Cach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é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 и </a:t>
            </a:r>
            <a:r>
              <a:rPr lang="en-US" sz="1400" dirty="0" err="1">
                <a:solidFill>
                  <a:srgbClr val="000099"/>
                </a:solidFill>
                <a:latin typeface="+mn-lt"/>
              </a:rPr>
              <a:t>DeepSee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 (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это такая интересная реализация многомерной модели данных, используемая в бизнес-аналитике</a:t>
            </a:r>
            <a:r>
              <a:rPr lang="en-US" sz="1400" dirty="0">
                <a:solidFill>
                  <a:srgbClr val="000099"/>
                </a:solidFill>
                <a:latin typeface="+mn-lt"/>
              </a:rPr>
              <a:t>)</a:t>
            </a:r>
            <a:r>
              <a:rPr lang="ru-RU" sz="1400" dirty="0">
                <a:solidFill>
                  <a:srgbClr val="000099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6902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2067694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4000" b="1" dirty="0">
                <a:solidFill>
                  <a:schemeClr val="tx1"/>
                </a:solidFill>
              </a:rPr>
              <a:t>Спасибо за внимание</a:t>
            </a:r>
          </a:p>
          <a:p>
            <a:r>
              <a:rPr lang="ru-RU" sz="2000" b="1" dirty="0">
                <a:solidFill>
                  <a:srgbClr val="00009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5209235"/>
      </p:ext>
    </p:extLst>
  </p:cSld>
  <p:clrMapOvr>
    <a:masterClrMapping/>
  </p:clrMapOvr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Спец_оформление">
  <a:themeElements>
    <a:clrScheme name="1_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TestMatIV_GGE</Template>
  <TotalTime>16912</TotalTime>
  <Words>3769</Words>
  <Application>Microsoft Office PowerPoint</Application>
  <PresentationFormat>Экран (16:9)</PresentationFormat>
  <Paragraphs>392</Paragraphs>
  <Slides>46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46</vt:i4>
      </vt:variant>
    </vt:vector>
  </HeadingPairs>
  <TitlesOfParts>
    <vt:vector size="51" baseType="lpstr">
      <vt:lpstr>Arial</vt:lpstr>
      <vt:lpstr>ERKurierPSCyr-Regular</vt:lpstr>
      <vt:lpstr>1_По_умолчанию</vt:lpstr>
      <vt:lpstr>Спец_оформление</vt:lpstr>
      <vt:lpstr>1_Спец_оформление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Eremin</dc:creator>
  <cp:lastModifiedBy>Александр Александрович Евдокимов</cp:lastModifiedBy>
  <cp:revision>725</cp:revision>
  <dcterms:created xsi:type="dcterms:W3CDTF">2014-10-05T21:41:36Z</dcterms:created>
  <dcterms:modified xsi:type="dcterms:W3CDTF">2022-05-13T11:36:40Z</dcterms:modified>
</cp:coreProperties>
</file>