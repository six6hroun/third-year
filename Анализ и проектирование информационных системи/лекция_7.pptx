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6" r:id="rId43"/>
    <p:sldId id="298" r:id="rId44"/>
    <p:sldId id="299" r:id="rId4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9D51ABA-428B-4AE1-9FD7-32ECEC3F86C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49720021-4330-472E-8F2D-DE3EEA6AE9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F93891F4-8D68-4465-9A42-65987EB2057E}"/>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3D790F53-C57F-4C39-B777-F08D0468F9C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xmlns="" id="{F82A50BB-305E-4C13-B04A-DF0FCF09A021}"/>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2744420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E217FC33-9180-45E2-B9DD-CCA93F66974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5D5C5ACE-C311-455D-BDAD-A70902BB155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8823F0AB-0C7B-406E-8309-38740921BEA5}"/>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BCCB2BD2-E6D5-4E42-B0E1-E8EB93617CE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xmlns="" id="{0627DFB1-9025-46ED-8541-7DA2CDE902AA}"/>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196499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DF27200-4F69-486A-B6C5-57D3C1C69E9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xmlns="" id="{78D7F5B8-5C94-454B-AB2B-0F67C84C96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xmlns="" id="{B522E40A-1851-4DCB-9AB0-2475902E56C9}"/>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0895EAF3-8099-4823-B810-CAE6EEDFBDF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xmlns="" id="{E12F35F8-FADE-4C05-8E5E-F2FE51B71F71}"/>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275226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AD5AB24-BDAE-4195-B403-18FD5B0B49E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0018F9F1-9450-4458-8691-DF69B28E76D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xmlns="" id="{1E9307A4-C346-4B5B-B1B7-2D17DB0A3D4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xmlns="" id="{E97B5B03-D3FF-47A7-ABF3-2D2562F2DBB2}"/>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6" name="Нижний колонтитул 5">
            <a:extLst>
              <a:ext uri="{FF2B5EF4-FFF2-40B4-BE49-F238E27FC236}">
                <a16:creationId xmlns:a16="http://schemas.microsoft.com/office/drawing/2014/main" xmlns="" id="{56D33860-16B7-46F3-A8AA-161F29A19E3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xmlns="" id="{BA4AED89-6BBC-47C2-8273-49EC8EB454B8}"/>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3021068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C618945-D0C4-423D-B37D-5A4D0792A449}"/>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xmlns="" id="{870403B8-3695-43B1-B2D8-960FE40043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xmlns="" id="{D0050350-AE26-47A2-86AC-2169CCF951D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xmlns="" id="{5BA1277A-87C1-4406-83A4-035783A54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xmlns="" id="{4E93E175-F393-40B6-BC13-03EDB4AA5B7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xmlns="" id="{1648D382-7C65-4C45-B3DA-B2D091D3BAF3}"/>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8" name="Нижний колонтитул 7">
            <a:extLst>
              <a:ext uri="{FF2B5EF4-FFF2-40B4-BE49-F238E27FC236}">
                <a16:creationId xmlns:a16="http://schemas.microsoft.com/office/drawing/2014/main" xmlns="" id="{BDDF0A27-2375-4E8F-B7C5-36E9218260E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xmlns="" id="{15EB5937-271F-48A6-B407-54FA61FA1008}"/>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1126998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8DAC115-C997-4625-9F0A-F1BC21518C8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xmlns="" id="{7FA3103D-05A7-4B09-AF0C-008A7ADCF6C6}"/>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4" name="Нижний колонтитул 3">
            <a:extLst>
              <a:ext uri="{FF2B5EF4-FFF2-40B4-BE49-F238E27FC236}">
                <a16:creationId xmlns:a16="http://schemas.microsoft.com/office/drawing/2014/main" xmlns="" id="{19199D34-917C-4AE9-8AC1-BFCAA441CF8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xmlns="" id="{BEF0C172-E55A-41C1-9543-8DDE9499479C}"/>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335310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6E13A8AB-E3F4-42EB-AF33-85DF256165DC}"/>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3" name="Нижний колонтитул 2">
            <a:extLst>
              <a:ext uri="{FF2B5EF4-FFF2-40B4-BE49-F238E27FC236}">
                <a16:creationId xmlns:a16="http://schemas.microsoft.com/office/drawing/2014/main" xmlns="" id="{D4AC5021-2F5A-4D1E-BEF9-25222AEB8F9F}"/>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xmlns="" id="{B15A81F1-CA23-4108-A7F2-5C83757580D4}"/>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4018689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18979FB-0752-449A-B502-2179BF88BF7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xmlns="" id="{3D91EFC5-41A8-48AD-9AFE-7C019727A1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xmlns="" id="{45723310-B1C1-4E47-BE03-5F6BA0B12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xmlns="" id="{3D72482D-5ECE-4213-A9D2-1AFF53A49478}"/>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6" name="Нижний колонтитул 5">
            <a:extLst>
              <a:ext uri="{FF2B5EF4-FFF2-40B4-BE49-F238E27FC236}">
                <a16:creationId xmlns:a16="http://schemas.microsoft.com/office/drawing/2014/main" xmlns="" id="{61CEE401-5050-43EA-A16B-CAAD7843135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xmlns="" id="{292A63EF-BB31-4D64-9157-FBDF40976831}"/>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74043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B4DB7D9-EE92-4292-A203-8C8D1A4C9EF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xmlns="" id="{1A154EA6-2304-4B1F-8C98-B7994936D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xmlns="" id="{004A1687-F2A4-4E9B-9005-FACC19DB14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xmlns="" id="{B58FCDB3-B8A3-45D6-BB24-D67190F3A201}"/>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6" name="Нижний колонтитул 5">
            <a:extLst>
              <a:ext uri="{FF2B5EF4-FFF2-40B4-BE49-F238E27FC236}">
                <a16:creationId xmlns:a16="http://schemas.microsoft.com/office/drawing/2014/main" xmlns="" id="{BB895168-D203-4618-9F26-342A5ED74A4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xmlns="" id="{BE5B19B3-6B5B-47EF-8ECE-B0CF7D3A0B8E}"/>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2123278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30B44C4-11C0-42EC-8705-37E51C97D38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xmlns="" id="{D8070100-C83D-4EA9-91AE-8A80147D585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43FC28B5-0349-46D0-BBE1-1CF8381B4E37}"/>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8AF43D62-F437-4174-A097-DFDB0DD6468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xmlns="" id="{46E2CCC7-0B06-4A27-8607-5B375C8E8054}"/>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3243796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xmlns="" id="{B50B4710-1037-4934-BB5E-7AA9CBBB6A55}"/>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xmlns="" id="{E19C7185-1931-4335-B7F3-83389058C22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281303DA-FBAC-40F6-BDAD-7632FEC24EE4}"/>
              </a:ext>
            </a:extLst>
          </p:cNvPr>
          <p:cNvSpPr>
            <a:spLocks noGrp="1"/>
          </p:cNvSpPr>
          <p:nvPr>
            <p:ph type="dt" sz="half" idx="10"/>
          </p:nvPr>
        </p:nvSpPr>
        <p:spPr/>
        <p:txBody>
          <a:body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3A721F1D-9367-471D-B58D-DA8049BBB6F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xmlns="" id="{D6967DE7-5399-4B29-A5F6-3378C163BB02}"/>
              </a:ext>
            </a:extLst>
          </p:cNvPr>
          <p:cNvSpPr>
            <a:spLocks noGrp="1"/>
          </p:cNvSpPr>
          <p:nvPr>
            <p:ph type="sldNum" sz="quarter" idx="12"/>
          </p:nvPr>
        </p:nvSpPr>
        <p:spPr/>
        <p:txBody>
          <a:bodyPr/>
          <a:lstStyle/>
          <a:p>
            <a:fld id="{E1799F63-436A-4B8C-B26A-88459BC5BB41}" type="slidenum">
              <a:rPr lang="ru-RU" smtClean="0"/>
              <a:t>‹#›</a:t>
            </a:fld>
            <a:endParaRPr lang="ru-RU"/>
          </a:p>
        </p:txBody>
      </p:sp>
    </p:spTree>
    <p:extLst>
      <p:ext uri="{BB962C8B-B14F-4D97-AF65-F5344CB8AC3E}">
        <p14:creationId xmlns:p14="http://schemas.microsoft.com/office/powerpoint/2010/main" val="139513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DDFB92FB-0C47-476B-8F63-0A064C6F28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xmlns="" id="{7F4A65F9-CB12-437F-ACB7-5681A8443E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AE03B6E8-2CBB-4A5E-B580-498B72A7F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CA9E24-3F60-4B15-9FC7-EE10E61CFED0}" type="datetimeFigureOut">
              <a:rPr lang="ru-RU" smtClean="0"/>
              <a:t>16.12.2025</a:t>
            </a:fld>
            <a:endParaRPr lang="ru-RU"/>
          </a:p>
        </p:txBody>
      </p:sp>
      <p:sp>
        <p:nvSpPr>
          <p:cNvPr id="5" name="Нижний колонтитул 4">
            <a:extLst>
              <a:ext uri="{FF2B5EF4-FFF2-40B4-BE49-F238E27FC236}">
                <a16:creationId xmlns:a16="http://schemas.microsoft.com/office/drawing/2014/main" xmlns="" id="{6DEE01F8-022F-45F8-99B1-49967476AF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xmlns="" id="{FE2FE6FE-1117-4E0B-B958-BF0ECFD7F7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799F63-436A-4B8C-B26A-88459BC5BB41}" type="slidenum">
              <a:rPr lang="ru-RU" smtClean="0"/>
              <a:t>‹#›</a:t>
            </a:fld>
            <a:endParaRPr lang="ru-RU"/>
          </a:p>
        </p:txBody>
      </p:sp>
    </p:spTree>
    <p:extLst>
      <p:ext uri="{BB962C8B-B14F-4D97-AF65-F5344CB8AC3E}">
        <p14:creationId xmlns:p14="http://schemas.microsoft.com/office/powerpoint/2010/main" val="2178907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ites.google.com/site/anisimovkhv/learning/pris/lecture/tema4#TZ"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82BE1916-F5F4-41C7-A6EC-ED4C7AB2F004}"/>
              </a:ext>
            </a:extLst>
          </p:cNvPr>
          <p:cNvSpPr>
            <a:spLocks noGrp="1"/>
          </p:cNvSpPr>
          <p:nvPr>
            <p:ph type="ctrTitle"/>
          </p:nvPr>
        </p:nvSpPr>
        <p:spPr/>
        <p:txBody>
          <a:bodyPr>
            <a:normAutofit fontScale="90000"/>
          </a:bodyPr>
          <a:lstStyle/>
          <a:p>
            <a:r>
              <a:rPr lang="ru-RU" dirty="0"/>
              <a:t>В настоящее время наиболее распространенными являются следующие модели жизненного цикла</a:t>
            </a:r>
          </a:p>
        </p:txBody>
      </p:sp>
      <p:pic>
        <p:nvPicPr>
          <p:cNvPr id="11" name="Рисунок 10">
            <a:extLst>
              <a:ext uri="{FF2B5EF4-FFF2-40B4-BE49-F238E27FC236}">
                <a16:creationId xmlns:a16="http://schemas.microsoft.com/office/drawing/2014/main" xmlns="" id="{ABF43028-95C3-4C53-805E-437751CABF29}"/>
              </a:ext>
            </a:extLst>
          </p:cNvPr>
          <p:cNvPicPr>
            <a:picLocks noChangeAspect="1"/>
          </p:cNvPicPr>
          <p:nvPr/>
        </p:nvPicPr>
        <p:blipFill>
          <a:blip r:embed="rId2"/>
          <a:stretch>
            <a:fillRect/>
          </a:stretch>
        </p:blipFill>
        <p:spPr>
          <a:xfrm>
            <a:off x="2728912" y="3859212"/>
            <a:ext cx="6734175" cy="1876425"/>
          </a:xfrm>
          <a:prstGeom prst="rect">
            <a:avLst/>
          </a:prstGeom>
        </p:spPr>
      </p:pic>
    </p:spTree>
    <p:extLst>
      <p:ext uri="{BB962C8B-B14F-4D97-AF65-F5344CB8AC3E}">
        <p14:creationId xmlns:p14="http://schemas.microsoft.com/office/powerpoint/2010/main" val="2776814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AED51277-58C1-4895-BFCA-9379C87A06B3}"/>
              </a:ext>
            </a:extLst>
          </p:cNvPr>
          <p:cNvSpPr>
            <a:spLocks noGrp="1"/>
          </p:cNvSpPr>
          <p:nvPr>
            <p:ph idx="1"/>
          </p:nvPr>
        </p:nvSpPr>
        <p:spPr/>
        <p:txBody>
          <a:bodyPr>
            <a:normAutofit fontScale="77500" lnSpcReduction="20000"/>
          </a:bodyPr>
          <a:lstStyle/>
          <a:p>
            <a:pPr marL="0" indent="0">
              <a:buNone/>
            </a:pPr>
            <a:r>
              <a:rPr lang="ru-RU" dirty="0"/>
              <a:t>Модель кодирования и устранения ошибок</a:t>
            </a:r>
            <a:br>
              <a:rPr lang="ru-RU" dirty="0"/>
            </a:br>
            <a:r>
              <a:rPr lang="ru-RU" dirty="0"/>
              <a:t>Совершенно простая модель, характерная для студентов ВУЗов. Именно по этой модели большинство студентов разрабатывают, ну скажем лабораторные работы.</a:t>
            </a:r>
            <a:br>
              <a:rPr lang="ru-RU" dirty="0"/>
            </a:br>
            <a:r>
              <a:rPr lang="ru-RU" dirty="0"/>
              <a:t>Данная модель имеет следующий алгоритм:</a:t>
            </a:r>
          </a:p>
          <a:p>
            <a:pPr marL="0" indent="0">
              <a:buNone/>
            </a:pPr>
            <a:r>
              <a:rPr lang="ru-RU" dirty="0"/>
              <a:t/>
            </a:r>
            <a:br>
              <a:rPr lang="ru-RU" dirty="0"/>
            </a:br>
            <a:r>
              <a:rPr lang="ru-RU" dirty="0"/>
              <a:t>Постановка задачи</a:t>
            </a:r>
          </a:p>
          <a:p>
            <a:r>
              <a:rPr lang="ru-RU" dirty="0"/>
              <a:t>Выполнение</a:t>
            </a:r>
          </a:p>
          <a:p>
            <a:r>
              <a:rPr lang="ru-RU" dirty="0"/>
              <a:t>Проверка результата</a:t>
            </a:r>
          </a:p>
          <a:p>
            <a:r>
              <a:rPr lang="ru-RU" dirty="0"/>
              <a:t>При необходимости переход к первому пункту</a:t>
            </a:r>
          </a:p>
          <a:p>
            <a:pPr marL="0" indent="0">
              <a:buNone/>
            </a:pPr>
            <a:endParaRPr lang="ru-RU" dirty="0"/>
          </a:p>
          <a:p>
            <a:pPr marL="0" indent="0">
              <a:buNone/>
            </a:pPr>
            <a:r>
              <a:rPr lang="ru-RU" dirty="0"/>
              <a:t>Модель также </a:t>
            </a:r>
            <a:r>
              <a:rPr lang="ru-RU" i="1" dirty="0"/>
              <a:t>ужасно</a:t>
            </a:r>
            <a:r>
              <a:rPr lang="ru-RU" dirty="0"/>
              <a:t> устаревшая. Характерна для 1960-1970 гг., поэтому преимуществ перед следующими моделями в нашем обзоре практически не имеет, а недостатки на лицо. Относится к первой группе моделей.</a:t>
            </a:r>
            <a:br>
              <a:rPr lang="ru-RU" dirty="0"/>
            </a:br>
            <a:endParaRPr lang="ru-RU" dirty="0"/>
          </a:p>
        </p:txBody>
      </p:sp>
    </p:spTree>
    <p:extLst>
      <p:ext uri="{BB962C8B-B14F-4D97-AF65-F5344CB8AC3E}">
        <p14:creationId xmlns:p14="http://schemas.microsoft.com/office/powerpoint/2010/main" val="57090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8CE7432A-0DDB-486B-9015-9692C85862C5}"/>
              </a:ext>
            </a:extLst>
          </p:cNvPr>
          <p:cNvSpPr>
            <a:spLocks noGrp="1"/>
          </p:cNvSpPr>
          <p:nvPr>
            <p:ph type="title"/>
          </p:nvPr>
        </p:nvSpPr>
        <p:spPr/>
        <p:txBody>
          <a:bodyPr>
            <a:normAutofit/>
          </a:bodyPr>
          <a:lstStyle/>
          <a:p>
            <a:r>
              <a:rPr lang="ru-RU" dirty="0"/>
              <a:t>Каскадная модель жизненного цикла программного обеспечения (водопад)</a:t>
            </a:r>
          </a:p>
        </p:txBody>
      </p:sp>
      <p:pic>
        <p:nvPicPr>
          <p:cNvPr id="4" name="Объект 3">
            <a:extLst>
              <a:ext uri="{FF2B5EF4-FFF2-40B4-BE49-F238E27FC236}">
                <a16:creationId xmlns:a16="http://schemas.microsoft.com/office/drawing/2014/main" xmlns="" id="{D8E70A2E-1661-4862-A693-272D6CDF7857}"/>
              </a:ext>
            </a:extLst>
          </p:cNvPr>
          <p:cNvPicPr>
            <a:picLocks noGrp="1" noChangeAspect="1"/>
          </p:cNvPicPr>
          <p:nvPr>
            <p:ph idx="1"/>
          </p:nvPr>
        </p:nvPicPr>
        <p:blipFill>
          <a:blip r:embed="rId2"/>
          <a:stretch>
            <a:fillRect/>
          </a:stretch>
        </p:blipFill>
        <p:spPr>
          <a:xfrm>
            <a:off x="3095625" y="2220119"/>
            <a:ext cx="6000750" cy="3562350"/>
          </a:xfrm>
          <a:prstGeom prst="rect">
            <a:avLst/>
          </a:prstGeom>
        </p:spPr>
      </p:pic>
    </p:spTree>
    <p:extLst>
      <p:ext uri="{BB962C8B-B14F-4D97-AF65-F5344CB8AC3E}">
        <p14:creationId xmlns:p14="http://schemas.microsoft.com/office/powerpoint/2010/main" val="235779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5D14B7BC-AC28-493D-8C3B-BC255B71F1E1}"/>
              </a:ext>
            </a:extLst>
          </p:cNvPr>
          <p:cNvSpPr>
            <a:spLocks noGrp="1"/>
          </p:cNvSpPr>
          <p:nvPr>
            <p:ph idx="1"/>
          </p:nvPr>
        </p:nvSpPr>
        <p:spPr/>
        <p:txBody>
          <a:bodyPr>
            <a:normAutofit fontScale="92500" lnSpcReduction="10000"/>
          </a:bodyPr>
          <a:lstStyle/>
          <a:p>
            <a:pPr marL="0" indent="0">
              <a:buNone/>
            </a:pPr>
            <a:r>
              <a:rPr lang="ru-RU" dirty="0"/>
              <a:t>Алгоритм данного метода имеет ряд преимуществ перед алгоритмом предыдущей модели, но также имеет и ряд </a:t>
            </a:r>
            <a:r>
              <a:rPr lang="ru-RU" b="1" dirty="0"/>
              <a:t>весомых</a:t>
            </a:r>
            <a:r>
              <a:rPr lang="ru-RU" dirty="0"/>
              <a:t> недостатков.</a:t>
            </a:r>
          </a:p>
          <a:p>
            <a:pPr marL="0" indent="0">
              <a:buNone/>
            </a:pPr>
            <a:r>
              <a:rPr lang="ru-RU" dirty="0"/>
              <a:t>Основная суть модели </a:t>
            </a:r>
            <a:r>
              <a:rPr lang="ru-RU" b="1" dirty="0" err="1"/>
              <a:t>Waterfall</a:t>
            </a:r>
            <a:r>
              <a:rPr lang="ru-RU" dirty="0"/>
              <a:t> в том, что этапы зависят друг от друга и следующий начинается, когда закончен предыдущий, образуя таким образом поступательное (каскадное) движение вперед. </a:t>
            </a:r>
          </a:p>
          <a:p>
            <a:pPr marL="0" indent="0">
              <a:buNone/>
            </a:pPr>
            <a:r>
              <a:rPr lang="ru-RU" dirty="0"/>
              <a:t>Параллелизм этапов в каскадной модели, хоть и ограничен, но возможен для абсолютно независимых между собой работ. При этом интеграция параллельных кусков все равно происходит на каком-то следующем этапе, а не в рамках одного.</a:t>
            </a:r>
          </a:p>
          <a:p>
            <a:pPr marL="0" indent="0">
              <a:buNone/>
            </a:pPr>
            <a:r>
              <a:rPr lang="ru-RU" dirty="0"/>
              <a:t>Команды разных этапов между собой не коммуницируют, каждая команда отвечает четко за свой этап.</a:t>
            </a:r>
          </a:p>
          <a:p>
            <a:pPr marL="0" indent="0">
              <a:buNone/>
            </a:pPr>
            <a:endParaRPr lang="ru-RU" dirty="0"/>
          </a:p>
        </p:txBody>
      </p:sp>
    </p:spTree>
    <p:extLst>
      <p:ext uri="{BB962C8B-B14F-4D97-AF65-F5344CB8AC3E}">
        <p14:creationId xmlns:p14="http://schemas.microsoft.com/office/powerpoint/2010/main" val="3495121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F23BA91F-C76F-489F-821A-D892B08E402A}"/>
              </a:ext>
            </a:extLst>
          </p:cNvPr>
          <p:cNvSpPr>
            <a:spLocks noGrp="1"/>
          </p:cNvSpPr>
          <p:nvPr>
            <p:ph idx="1"/>
          </p:nvPr>
        </p:nvSpPr>
        <p:spPr/>
        <p:txBody>
          <a:bodyPr>
            <a:normAutofit fontScale="92500" lnSpcReduction="10000"/>
          </a:bodyPr>
          <a:lstStyle/>
          <a:p>
            <a:pPr marL="0" indent="0">
              <a:buNone/>
            </a:pPr>
            <a:r>
              <a:rPr lang="ru-RU" dirty="0"/>
              <a:t>Для заказчиков данная модель выглядит линейно и со стороны достаточно просто: из завершенного этапа проектирования следует программирование, а затем тестирование - и так шаг за шагом пока не будет достигнута финальная точка и цель, ради которой ведется разработка. </a:t>
            </a:r>
          </a:p>
          <a:p>
            <a:pPr marL="0" indent="0">
              <a:buNone/>
            </a:pPr>
            <a:r>
              <a:rPr lang="ru-RU" dirty="0"/>
              <a:t>Данная модель понятно и чисто укладывается в документы, например в договора и </a:t>
            </a:r>
            <a:r>
              <a:rPr lang="ru-RU" dirty="0" err="1"/>
              <a:t>роадмапы</a:t>
            </a:r>
            <a:r>
              <a:rPr lang="ru-RU" dirty="0"/>
              <a:t> при наличии четко обозначенных контрольных точек. В любой момент времени можно легко понять была ли пройдена та или иная точка контроля или нет, и соблюдены ли сроки. По этим причинам долговременные и особо крупные проекты, рассчитанные на десятилетия и вовлечение большого числа организаций-участников, руководствуются преимущественно </a:t>
            </a:r>
            <a:r>
              <a:rPr lang="ru-RU" dirty="0" err="1"/>
              <a:t>waterfall</a:t>
            </a:r>
            <a:r>
              <a:rPr lang="ru-RU" dirty="0"/>
              <a:t> . </a:t>
            </a:r>
          </a:p>
          <a:p>
            <a:pPr marL="0" indent="0">
              <a:buNone/>
            </a:pPr>
            <a:endParaRPr lang="ru-RU" dirty="0"/>
          </a:p>
        </p:txBody>
      </p:sp>
    </p:spTree>
    <p:extLst>
      <p:ext uri="{BB962C8B-B14F-4D97-AF65-F5344CB8AC3E}">
        <p14:creationId xmlns:p14="http://schemas.microsoft.com/office/powerpoint/2010/main" val="258804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50DC9E5E-3B80-4177-81C3-E4F845EB0885}"/>
              </a:ext>
            </a:extLst>
          </p:cNvPr>
          <p:cNvSpPr>
            <a:spLocks noGrp="1"/>
          </p:cNvSpPr>
          <p:nvPr>
            <p:ph idx="1"/>
          </p:nvPr>
        </p:nvSpPr>
        <p:spPr/>
        <p:txBody>
          <a:bodyPr>
            <a:normAutofit lnSpcReduction="10000"/>
          </a:bodyPr>
          <a:lstStyle/>
          <a:p>
            <a:pPr marL="0" indent="0">
              <a:buNone/>
            </a:pPr>
            <a:r>
              <a:rPr lang="ru-RU" dirty="0"/>
              <a:t>Однако представление о простоте каскадной модели является иллюзорным. Оно появляется из-за ограниченного видения клиентом всего процесса, ведь данная модель не подразумевает вовлечение заказчика в детали процессов разработки, и демонстрирует понятный и конечный результат работы только на контрольных точках и в конце проекта. </a:t>
            </a:r>
          </a:p>
          <a:p>
            <a:pPr marL="0" indent="0">
              <a:buNone/>
            </a:pPr>
            <a:r>
              <a:rPr lang="ru-RU" dirty="0"/>
              <a:t>В реальности каскадную модель нельзя назвать простой, на практике ею сложно управлять.  Внесение заказчиком значительных изменений в процессе разработки по </a:t>
            </a:r>
            <a:r>
              <a:rPr lang="ru-RU" dirty="0" err="1"/>
              <a:t>waterfall</a:t>
            </a:r>
            <a:r>
              <a:rPr lang="ru-RU" dirty="0"/>
              <a:t> или срабатывание серьезных не предусмотренных проектом рисков несут разрушительный характер для всего процесса - модель приходиться перестраивать, графики перепланировать. </a:t>
            </a:r>
          </a:p>
          <a:p>
            <a:pPr marL="0" indent="0">
              <a:buNone/>
            </a:pPr>
            <a:endParaRPr lang="ru-RU" dirty="0"/>
          </a:p>
        </p:txBody>
      </p:sp>
    </p:spTree>
    <p:extLst>
      <p:ext uri="{BB962C8B-B14F-4D97-AF65-F5344CB8AC3E}">
        <p14:creationId xmlns:p14="http://schemas.microsoft.com/office/powerpoint/2010/main" val="789725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38969CF-C75C-4BE1-BA5F-6504C33B1647}"/>
              </a:ext>
            </a:extLst>
          </p:cNvPr>
          <p:cNvSpPr>
            <a:spLocks noGrp="1"/>
          </p:cNvSpPr>
          <p:nvPr>
            <p:ph type="title"/>
          </p:nvPr>
        </p:nvSpPr>
        <p:spPr/>
        <p:txBody>
          <a:bodyPr/>
          <a:lstStyle/>
          <a:p>
            <a:r>
              <a:rPr lang="ru-RU" dirty="0"/>
              <a:t>Преимущества каскадной модели</a:t>
            </a:r>
          </a:p>
        </p:txBody>
      </p:sp>
      <p:sp>
        <p:nvSpPr>
          <p:cNvPr id="3" name="Объект 2">
            <a:extLst>
              <a:ext uri="{FF2B5EF4-FFF2-40B4-BE49-F238E27FC236}">
                <a16:creationId xmlns:a16="http://schemas.microsoft.com/office/drawing/2014/main" xmlns="" id="{9272ADA2-0AFA-423A-A10A-20A4E87BA4D0}"/>
              </a:ext>
            </a:extLst>
          </p:cNvPr>
          <p:cNvSpPr>
            <a:spLocks noGrp="1"/>
          </p:cNvSpPr>
          <p:nvPr>
            <p:ph idx="1"/>
          </p:nvPr>
        </p:nvSpPr>
        <p:spPr/>
        <p:txBody>
          <a:bodyPr>
            <a:normAutofit/>
          </a:bodyPr>
          <a:lstStyle/>
          <a:p>
            <a:r>
              <a:rPr lang="ru-RU" dirty="0"/>
              <a:t>Последовательное выполнение этапов проекта в строгом фиксированном порядке</a:t>
            </a:r>
          </a:p>
          <a:p>
            <a:r>
              <a:rPr lang="ru-RU" dirty="0"/>
              <a:t>Позволяет оценивать качество продукта на каждом этапе</a:t>
            </a:r>
          </a:p>
          <a:p>
            <a:r>
              <a:rPr lang="ru-RU" dirty="0"/>
              <a:t>На каждой стадии формируется законченный набор документации, программного и аппаратного обеспечения, отвечающий критериям полноты и согласованности</a:t>
            </a:r>
          </a:p>
          <a:p>
            <a:r>
              <a:rPr lang="ru-RU" dirty="0"/>
              <a:t>Выполняемые в четкой последовательности стадии позволяют уверенно планировать сроки выполнения работ и соответствующие ресурсы (денежные, материальные и людские)</a:t>
            </a:r>
          </a:p>
          <a:p>
            <a:endParaRPr lang="ru-RU" dirty="0"/>
          </a:p>
        </p:txBody>
      </p:sp>
    </p:spTree>
    <p:extLst>
      <p:ext uri="{BB962C8B-B14F-4D97-AF65-F5344CB8AC3E}">
        <p14:creationId xmlns:p14="http://schemas.microsoft.com/office/powerpoint/2010/main" val="1241789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8103551-9DDD-45BF-8D66-41664DDADEDA}"/>
              </a:ext>
            </a:extLst>
          </p:cNvPr>
          <p:cNvSpPr>
            <a:spLocks noGrp="1"/>
          </p:cNvSpPr>
          <p:nvPr>
            <p:ph type="title"/>
          </p:nvPr>
        </p:nvSpPr>
        <p:spPr/>
        <p:txBody>
          <a:bodyPr/>
          <a:lstStyle/>
          <a:p>
            <a:r>
              <a:rPr lang="ru-RU" dirty="0"/>
              <a:t>Недостатки каскадной модели</a:t>
            </a:r>
          </a:p>
        </p:txBody>
      </p:sp>
      <p:sp>
        <p:nvSpPr>
          <p:cNvPr id="3" name="Объект 2">
            <a:extLst>
              <a:ext uri="{FF2B5EF4-FFF2-40B4-BE49-F238E27FC236}">
                <a16:creationId xmlns:a16="http://schemas.microsoft.com/office/drawing/2014/main" xmlns="" id="{FD370913-4529-4DB7-8E2A-AC277F6AF545}"/>
              </a:ext>
            </a:extLst>
          </p:cNvPr>
          <p:cNvSpPr>
            <a:spLocks noGrp="1"/>
          </p:cNvSpPr>
          <p:nvPr>
            <p:ph idx="1"/>
          </p:nvPr>
        </p:nvSpPr>
        <p:spPr/>
        <p:txBody>
          <a:bodyPr>
            <a:normAutofit fontScale="92500" lnSpcReduction="10000"/>
          </a:bodyPr>
          <a:lstStyle/>
          <a:p>
            <a:r>
              <a:rPr lang="ru-RU" dirty="0"/>
              <a:t>Отсутствие обратных связей между этапами</a:t>
            </a:r>
          </a:p>
          <a:p>
            <a:r>
              <a:rPr lang="ru-RU" dirty="0"/>
              <a:t>реальный процесс разработки информационной системы редко полностью укладывается в такую жесткую схему. Особенно это относится к разработке нетиповых и новаторских систем</a:t>
            </a:r>
          </a:p>
          <a:p>
            <a:r>
              <a:rPr lang="ru-RU" dirty="0"/>
              <a:t>Основана на точной формулировке исходных требований к информационной системе. Реально в начале проекта требования заказчика определены лишь частично</a:t>
            </a:r>
          </a:p>
          <a:p>
            <a:r>
              <a:rPr lang="ru-RU" dirty="0"/>
              <a:t>Основной недостаток – результаты разработки доступны заказчику только в конце проекта. В случае неточного изложения требований или их изменения в течение длительного периода создания ИС заказчик получает систему, не удовлетворяющую его потребностям</a:t>
            </a:r>
          </a:p>
          <a:p>
            <a:endParaRPr lang="ru-RU" dirty="0"/>
          </a:p>
        </p:txBody>
      </p:sp>
    </p:spTree>
    <p:extLst>
      <p:ext uri="{BB962C8B-B14F-4D97-AF65-F5344CB8AC3E}">
        <p14:creationId xmlns:p14="http://schemas.microsoft.com/office/powerpoint/2010/main" val="2301390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D0ADBD8-0B1A-4D96-9DE3-042518EC192B}"/>
              </a:ext>
            </a:extLst>
          </p:cNvPr>
          <p:cNvSpPr>
            <a:spLocks noGrp="1"/>
          </p:cNvSpPr>
          <p:nvPr>
            <p:ph type="title"/>
          </p:nvPr>
        </p:nvSpPr>
        <p:spPr/>
        <p:txBody>
          <a:bodyPr>
            <a:normAutofit/>
          </a:bodyPr>
          <a:lstStyle/>
          <a:p>
            <a:r>
              <a:rPr lang="ru-RU" dirty="0"/>
              <a:t>Каскадная модель с промежуточным контролем (водоворот)</a:t>
            </a:r>
          </a:p>
        </p:txBody>
      </p:sp>
      <p:pic>
        <p:nvPicPr>
          <p:cNvPr id="1026" name="Picture 2" descr="1_Модели разработки программного обеспечения">
            <a:extLst>
              <a:ext uri="{FF2B5EF4-FFF2-40B4-BE49-F238E27FC236}">
                <a16:creationId xmlns:a16="http://schemas.microsoft.com/office/drawing/2014/main" xmlns="" id="{63D6A0F5-A655-4859-B310-004626BB83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3250" y="2272506"/>
            <a:ext cx="5905500" cy="345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81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9F1C23DB-0638-4CA4-B20E-D030EC0F883C}"/>
              </a:ext>
            </a:extLst>
          </p:cNvPr>
          <p:cNvSpPr>
            <a:spLocks noGrp="1"/>
          </p:cNvSpPr>
          <p:nvPr>
            <p:ph type="title"/>
          </p:nvPr>
        </p:nvSpPr>
        <p:spPr/>
        <p:txBody>
          <a:bodyPr/>
          <a:lstStyle/>
          <a:p>
            <a:r>
              <a:rPr lang="ru-RU" dirty="0"/>
              <a:t>Каскадная модель с промежуточным контролем (водоворот)</a:t>
            </a:r>
          </a:p>
        </p:txBody>
      </p:sp>
      <p:sp>
        <p:nvSpPr>
          <p:cNvPr id="3" name="Объект 2">
            <a:extLst>
              <a:ext uri="{FF2B5EF4-FFF2-40B4-BE49-F238E27FC236}">
                <a16:creationId xmlns:a16="http://schemas.microsoft.com/office/drawing/2014/main" xmlns="" id="{784BE70E-A182-42B1-A883-4C1E9CE0B38A}"/>
              </a:ext>
            </a:extLst>
          </p:cNvPr>
          <p:cNvSpPr>
            <a:spLocks noGrp="1"/>
          </p:cNvSpPr>
          <p:nvPr>
            <p:ph idx="1"/>
          </p:nvPr>
        </p:nvSpPr>
        <p:spPr/>
        <p:txBody>
          <a:bodyPr>
            <a:normAutofit fontScale="92500" lnSpcReduction="10000"/>
          </a:bodyPr>
          <a:lstStyle/>
          <a:p>
            <a:pPr marL="0" indent="0">
              <a:buNone/>
            </a:pPr>
            <a:r>
              <a:rPr lang="ru-RU" dirty="0"/>
              <a:t>При реальной работе в соответствии с моделью, допускающей движение только в одну сторону, обычно возникают проблемы при обнаружении недоработок и ошибок, сделанных на ранних этапах. Но еще более тяжело иметь дело с изменениями окружения, в котором разрабатывается ПО (это могут быть изменения требований, смена подрядчиков, изменения политик разрабатывающей или эксплуатирующей организации, изменения отраслевых стандартов, появление конкурирующих продуктов и пр.).</a:t>
            </a:r>
          </a:p>
          <a:p>
            <a:pPr marL="0" indent="0">
              <a:buNone/>
            </a:pPr>
            <a:r>
              <a:rPr lang="ru-RU" dirty="0"/>
              <a:t>Данная модель является почти эквивалентной по алгоритму предыдущей модели, однако при этом имеет обратные связи с каждым этапом жизненного цикла, при этом порождает очень весомый недостаток: </a:t>
            </a:r>
            <a:r>
              <a:rPr lang="ru-RU" i="1" dirty="0"/>
              <a:t>10-ти кратное увеличение затрат на разработку</a:t>
            </a:r>
            <a:r>
              <a:rPr lang="ru-RU" dirty="0"/>
              <a:t>.</a:t>
            </a:r>
          </a:p>
        </p:txBody>
      </p:sp>
    </p:spTree>
    <p:extLst>
      <p:ext uri="{BB962C8B-B14F-4D97-AF65-F5344CB8AC3E}">
        <p14:creationId xmlns:p14="http://schemas.microsoft.com/office/powerpoint/2010/main" val="1501808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65EC886-F871-4F53-98AB-7DD469AC0C1C}"/>
              </a:ext>
            </a:extLst>
          </p:cNvPr>
          <p:cNvSpPr>
            <a:spLocks noGrp="1"/>
          </p:cNvSpPr>
          <p:nvPr>
            <p:ph type="title"/>
          </p:nvPr>
        </p:nvSpPr>
        <p:spPr>
          <a:xfrm>
            <a:off x="838200" y="365125"/>
            <a:ext cx="10515600" cy="1325563"/>
          </a:xfrm>
        </p:spPr>
        <p:txBody>
          <a:bodyPr/>
          <a:lstStyle/>
          <a:p>
            <a:r>
              <a:rPr lang="ru-RU" dirty="0"/>
              <a:t>V модель (разработка через тестирование)</a:t>
            </a:r>
          </a:p>
        </p:txBody>
      </p:sp>
      <p:pic>
        <p:nvPicPr>
          <p:cNvPr id="2050" name="Picture 2" descr="image">
            <a:extLst>
              <a:ext uri="{FF2B5EF4-FFF2-40B4-BE49-F238E27FC236}">
                <a16:creationId xmlns:a16="http://schemas.microsoft.com/office/drawing/2014/main" xmlns="" id="{77498F93-177A-4542-8F42-56ECD04C0C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5945" y="1766656"/>
            <a:ext cx="5900110" cy="371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226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2EFA00A-F69C-4AB6-8D48-D2D614F8F12B}"/>
              </a:ext>
            </a:extLst>
          </p:cNvPr>
          <p:cNvSpPr>
            <a:spLocks noGrp="1"/>
          </p:cNvSpPr>
          <p:nvPr>
            <p:ph type="title"/>
          </p:nvPr>
        </p:nvSpPr>
        <p:spPr/>
        <p:txBody>
          <a:bodyPr/>
          <a:lstStyle/>
          <a:p>
            <a:r>
              <a:rPr lang="ru-RU" dirty="0"/>
              <a:t>V модель (разработка через тестирование)</a:t>
            </a:r>
          </a:p>
        </p:txBody>
      </p:sp>
      <p:sp>
        <p:nvSpPr>
          <p:cNvPr id="3" name="Объект 2">
            <a:extLst>
              <a:ext uri="{FF2B5EF4-FFF2-40B4-BE49-F238E27FC236}">
                <a16:creationId xmlns:a16="http://schemas.microsoft.com/office/drawing/2014/main" xmlns="" id="{C96440E2-5D13-4E92-894A-F5ADDBECAF6E}"/>
              </a:ext>
            </a:extLst>
          </p:cNvPr>
          <p:cNvSpPr>
            <a:spLocks noGrp="1"/>
          </p:cNvSpPr>
          <p:nvPr>
            <p:ph idx="1"/>
          </p:nvPr>
        </p:nvSpPr>
        <p:spPr/>
        <p:txBody>
          <a:bodyPr>
            <a:normAutofit fontScale="85000" lnSpcReduction="20000"/>
          </a:bodyPr>
          <a:lstStyle/>
          <a:p>
            <a:pPr marL="0" indent="0">
              <a:buNone/>
            </a:pPr>
            <a:r>
              <a:rPr lang="ru-RU" dirty="0"/>
              <a:t>V-модель – это улучшенная версия классической каскадной модели. Здесь на каждом этапе происходит контроль текущего процесса, для того чтобы убедится в возможности перехода на следующий уровень. В этой модели тестирование начинается еще со стадии написания требований, причем для каждого последующего этапа предусмотрен свой уровень тестового покрытия.</a:t>
            </a:r>
          </a:p>
          <a:p>
            <a:pPr marL="0" indent="0">
              <a:buNone/>
            </a:pPr>
            <a:r>
              <a:rPr lang="ru-RU" dirty="0"/>
              <a:t>Для каждого уровня тестирования разрабатывается отдельный тест-план, то есть во время тестирования текущего уровня, мы также занимаемся разработкой стратегии тестирования следующего. Создавая тест-планы, мы также определяем ожидаемые результаты тестирования и указываем критерии входа и выхода для каждого этапа.</a:t>
            </a:r>
          </a:p>
          <a:p>
            <a:pPr marL="0" indent="0">
              <a:buNone/>
            </a:pPr>
            <a:r>
              <a:rPr lang="ru-RU" dirty="0"/>
              <a:t>В V-модели каждому этапу проектирования и разработки системы соответствует отдельный уровень тестирования. Здесь процесс разработки представлен нисходящей последовательностью в левой части условной буквы V, а стадии тестирования – на ее правом ребре. Соответствие этапов разработки и тестирования показано горизонтальными линиями.</a:t>
            </a:r>
          </a:p>
        </p:txBody>
      </p:sp>
    </p:spTree>
    <p:extLst>
      <p:ext uri="{BB962C8B-B14F-4D97-AF65-F5344CB8AC3E}">
        <p14:creationId xmlns:p14="http://schemas.microsoft.com/office/powerpoint/2010/main" val="1069957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73D026B2-4A50-4DD3-B9DF-DF81BAC14243}"/>
              </a:ext>
            </a:extLst>
          </p:cNvPr>
          <p:cNvSpPr>
            <a:spLocks noGrp="1"/>
          </p:cNvSpPr>
          <p:nvPr>
            <p:ph type="title"/>
          </p:nvPr>
        </p:nvSpPr>
        <p:spPr/>
        <p:txBody>
          <a:bodyPr/>
          <a:lstStyle/>
          <a:p>
            <a:r>
              <a:rPr lang="ru-RU" dirty="0"/>
              <a:t>Преимущества V модели</a:t>
            </a:r>
          </a:p>
        </p:txBody>
      </p:sp>
      <p:sp>
        <p:nvSpPr>
          <p:cNvPr id="3" name="Объект 2">
            <a:extLst>
              <a:ext uri="{FF2B5EF4-FFF2-40B4-BE49-F238E27FC236}">
                <a16:creationId xmlns:a16="http://schemas.microsoft.com/office/drawing/2014/main" xmlns="" id="{FDEF5E8E-41EC-4276-80D8-56DC3261C4C3}"/>
              </a:ext>
            </a:extLst>
          </p:cNvPr>
          <p:cNvSpPr>
            <a:spLocks noGrp="1"/>
          </p:cNvSpPr>
          <p:nvPr>
            <p:ph idx="1"/>
          </p:nvPr>
        </p:nvSpPr>
        <p:spPr/>
        <p:txBody>
          <a:bodyPr/>
          <a:lstStyle/>
          <a:p>
            <a:r>
              <a:rPr lang="ru-RU" dirty="0"/>
              <a:t>Строгая </a:t>
            </a:r>
            <a:r>
              <a:rPr lang="ru-RU" dirty="0" err="1"/>
              <a:t>этапизация</a:t>
            </a:r>
            <a:endParaRPr lang="ru-RU" dirty="0"/>
          </a:p>
          <a:p>
            <a:r>
              <a:rPr lang="ru-RU" dirty="0"/>
              <a:t>Планирование тестирования и верификация системы производятся на ранних этапах</a:t>
            </a:r>
          </a:p>
          <a:p>
            <a:r>
              <a:rPr lang="ru-RU" dirty="0"/>
              <a:t>Улучшенный, по сравнению с каскадной моделью, тайм-менеджмент</a:t>
            </a:r>
          </a:p>
          <a:p>
            <a:r>
              <a:rPr lang="ru-RU" dirty="0"/>
              <a:t>Промежуточное тестирование</a:t>
            </a:r>
          </a:p>
          <a:p>
            <a:endParaRPr lang="ru-RU" dirty="0"/>
          </a:p>
        </p:txBody>
      </p:sp>
    </p:spTree>
    <p:extLst>
      <p:ext uri="{BB962C8B-B14F-4D97-AF65-F5344CB8AC3E}">
        <p14:creationId xmlns:p14="http://schemas.microsoft.com/office/powerpoint/2010/main" val="1937521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799DA8CD-887C-425A-AFFD-EDCEDCCB2FBC}"/>
              </a:ext>
            </a:extLst>
          </p:cNvPr>
          <p:cNvSpPr>
            <a:spLocks noGrp="1"/>
          </p:cNvSpPr>
          <p:nvPr>
            <p:ph type="title"/>
          </p:nvPr>
        </p:nvSpPr>
        <p:spPr/>
        <p:txBody>
          <a:bodyPr/>
          <a:lstStyle/>
          <a:p>
            <a:r>
              <a:rPr lang="ru-RU" dirty="0"/>
              <a:t>Недостатки V модели</a:t>
            </a:r>
          </a:p>
        </p:txBody>
      </p:sp>
      <p:sp>
        <p:nvSpPr>
          <p:cNvPr id="3" name="Объект 2">
            <a:extLst>
              <a:ext uri="{FF2B5EF4-FFF2-40B4-BE49-F238E27FC236}">
                <a16:creationId xmlns:a16="http://schemas.microsoft.com/office/drawing/2014/main" xmlns="" id="{0F9A324B-51C9-4EB2-A4A0-19E17086F196}"/>
              </a:ext>
            </a:extLst>
          </p:cNvPr>
          <p:cNvSpPr>
            <a:spLocks noGrp="1"/>
          </p:cNvSpPr>
          <p:nvPr>
            <p:ph idx="1"/>
          </p:nvPr>
        </p:nvSpPr>
        <p:spPr/>
        <p:txBody>
          <a:bodyPr/>
          <a:lstStyle/>
          <a:p>
            <a:r>
              <a:rPr lang="ru-RU" dirty="0"/>
              <a:t>Недостаточная гибкость модели</a:t>
            </a:r>
          </a:p>
          <a:p>
            <a:r>
              <a:rPr lang="ru-RU" dirty="0"/>
              <a:t>Собственно создание программы происходит на этапе написания кода, то есть уже в середине процесса разработки</a:t>
            </a:r>
          </a:p>
          <a:p>
            <a:r>
              <a:rPr lang="ru-RU" dirty="0"/>
              <a:t>Недостаточный анализ рисков</a:t>
            </a:r>
          </a:p>
          <a:p>
            <a:r>
              <a:rPr lang="ru-RU" dirty="0"/>
              <a:t>Нет работы с параллельными событиями и возможности динамического внесения изменений</a:t>
            </a:r>
          </a:p>
          <a:p>
            <a:endParaRPr lang="ru-RU" dirty="0"/>
          </a:p>
        </p:txBody>
      </p:sp>
    </p:spTree>
    <p:extLst>
      <p:ext uri="{BB962C8B-B14F-4D97-AF65-F5344CB8AC3E}">
        <p14:creationId xmlns:p14="http://schemas.microsoft.com/office/powerpoint/2010/main" val="2103435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5F2B5BE-6A01-4E29-BB9C-405BF65D8E2F}"/>
              </a:ext>
            </a:extLst>
          </p:cNvPr>
          <p:cNvSpPr>
            <a:spLocks noGrp="1"/>
          </p:cNvSpPr>
          <p:nvPr>
            <p:ph type="title"/>
          </p:nvPr>
        </p:nvSpPr>
        <p:spPr/>
        <p:txBody>
          <a:bodyPr/>
          <a:lstStyle/>
          <a:p>
            <a:r>
              <a:rPr lang="ru-RU" dirty="0"/>
              <a:t>Модель на основе разработки прототипа</a:t>
            </a:r>
          </a:p>
        </p:txBody>
      </p:sp>
      <p:pic>
        <p:nvPicPr>
          <p:cNvPr id="3074" name="Picture 2" descr="Жизненный цикл программного продукта - online presentation">
            <a:extLst>
              <a:ext uri="{FF2B5EF4-FFF2-40B4-BE49-F238E27FC236}">
                <a16:creationId xmlns:a16="http://schemas.microsoft.com/office/drawing/2014/main" xmlns="" id="{DC8F426F-C327-4F65-B7F2-AF3E73D5EC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1326" y="1825625"/>
            <a:ext cx="580934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120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F03AD80-9B56-45C0-B931-3C36408134C3}"/>
              </a:ext>
            </a:extLst>
          </p:cNvPr>
          <p:cNvSpPr>
            <a:spLocks noGrp="1"/>
          </p:cNvSpPr>
          <p:nvPr>
            <p:ph type="title"/>
          </p:nvPr>
        </p:nvSpPr>
        <p:spPr/>
        <p:txBody>
          <a:bodyPr/>
          <a:lstStyle/>
          <a:p>
            <a:r>
              <a:rPr lang="ru-RU" dirty="0"/>
              <a:t>Модель на основе разработки прототипа</a:t>
            </a:r>
          </a:p>
        </p:txBody>
      </p:sp>
      <p:sp>
        <p:nvSpPr>
          <p:cNvPr id="3" name="Объект 2">
            <a:extLst>
              <a:ext uri="{FF2B5EF4-FFF2-40B4-BE49-F238E27FC236}">
                <a16:creationId xmlns:a16="http://schemas.microsoft.com/office/drawing/2014/main" xmlns="" id="{43E9CBE8-CF6B-46F8-97B6-7C839B13E39A}"/>
              </a:ext>
            </a:extLst>
          </p:cNvPr>
          <p:cNvSpPr>
            <a:spLocks noGrp="1"/>
          </p:cNvSpPr>
          <p:nvPr>
            <p:ph idx="1"/>
          </p:nvPr>
        </p:nvSpPr>
        <p:spPr/>
        <p:txBody>
          <a:bodyPr>
            <a:normAutofit fontScale="85000" lnSpcReduction="20000"/>
          </a:bodyPr>
          <a:lstStyle/>
          <a:p>
            <a:pPr marL="0" indent="0">
              <a:buNone/>
            </a:pPr>
            <a:r>
              <a:rPr lang="ru-RU" dirty="0"/>
              <a:t>Модель </a:t>
            </a:r>
            <a:r>
              <a:rPr lang="ru-RU" dirty="0" err="1"/>
              <a:t>прототипитования</a:t>
            </a:r>
            <a:r>
              <a:rPr lang="ru-RU" dirty="0"/>
              <a:t> позволяет создать прототип программного продукта до или в течение этапа составления требований к программному продукту. Потенциальные пользователи работают с этим прототипом, определяя его сильные и слабые стороны, о результатах сообщают разработчикам программного продукта. Таким образом, обеспечивается обратная связь между пользователями и разработчиками, которая используется для изменения или корректировки спецификации требований к программному продукту. В результате такой работы продукт будет отражать реальные потребности пользователей.</a:t>
            </a:r>
          </a:p>
          <a:p>
            <a:pPr marL="0" indent="0">
              <a:buNone/>
            </a:pPr>
            <a:r>
              <a:rPr lang="ru-RU" dirty="0"/>
              <a:t>Жизненный цикл разработки программного продукта начинается с разработки плана проекта, затем выполняется быстрый анализ, после чего создаются база данных, пользовательский интерфейс и выполняется разработка необходимых функций. В результате этой работы получается документ, содержащий частичную спецификацию требований к программному продукту. Данный документ в дальнейшем является основой для итерационного цикла быстрого прототипирования.</a:t>
            </a:r>
          </a:p>
          <a:p>
            <a:endParaRPr lang="ru-RU" dirty="0"/>
          </a:p>
        </p:txBody>
      </p:sp>
    </p:spTree>
    <p:extLst>
      <p:ext uri="{BB962C8B-B14F-4D97-AF65-F5344CB8AC3E}">
        <p14:creationId xmlns:p14="http://schemas.microsoft.com/office/powerpoint/2010/main" val="1562737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DE6CD64-F01D-4EED-9473-DCF93A27A744}"/>
              </a:ext>
            </a:extLst>
          </p:cNvPr>
          <p:cNvSpPr>
            <a:spLocks noGrp="1"/>
          </p:cNvSpPr>
          <p:nvPr>
            <p:ph type="title"/>
          </p:nvPr>
        </p:nvSpPr>
        <p:spPr/>
        <p:txBody>
          <a:bodyPr/>
          <a:lstStyle/>
          <a:p>
            <a:r>
              <a:rPr lang="ru-RU" dirty="0"/>
              <a:t>Модель на основе разработки прототипа</a:t>
            </a:r>
          </a:p>
        </p:txBody>
      </p:sp>
      <p:sp>
        <p:nvSpPr>
          <p:cNvPr id="3" name="Объект 2">
            <a:extLst>
              <a:ext uri="{FF2B5EF4-FFF2-40B4-BE49-F238E27FC236}">
                <a16:creationId xmlns:a16="http://schemas.microsoft.com/office/drawing/2014/main" xmlns="" id="{D3DB94F5-A51F-47BC-9C92-EB55B589965D}"/>
              </a:ext>
            </a:extLst>
          </p:cNvPr>
          <p:cNvSpPr>
            <a:spLocks noGrp="1"/>
          </p:cNvSpPr>
          <p:nvPr>
            <p:ph idx="1"/>
          </p:nvPr>
        </p:nvSpPr>
        <p:spPr/>
        <p:txBody>
          <a:bodyPr>
            <a:normAutofit fontScale="92500" lnSpcReduction="20000"/>
          </a:bodyPr>
          <a:lstStyle/>
          <a:p>
            <a:pPr marL="0" indent="0">
              <a:buNone/>
            </a:pPr>
            <a:r>
              <a:rPr lang="ru-RU" dirty="0"/>
              <a:t>В результате прототипирования разработчик демонстрирует пользователям готовый прототип, а пользователи оценивают его функционирование. После этого определяются проблемы, над устранением которых совместно работают пользователи и разработчики. Этот процесс продолжается до тех пор, пока пользователи не будут удовлетворены степенью соответствия программного продукта, поставленным перед ним требованиям. Затем прототип демонстрируют пользователям с целью получения предложений по его усовершенствованию, которые включаются в последовательные итерации до тех пор, пока рабочая модель не окажется удовлетворительной. После этого получают от пользователей официальное одобрение (утверждение) функциональных возможностей прототипа и выполняют его окончательное преобразование в готовый программный продукт.</a:t>
            </a:r>
          </a:p>
        </p:txBody>
      </p:sp>
    </p:spTree>
    <p:extLst>
      <p:ext uri="{BB962C8B-B14F-4D97-AF65-F5344CB8AC3E}">
        <p14:creationId xmlns:p14="http://schemas.microsoft.com/office/powerpoint/2010/main" val="1812012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7C2757B4-41C7-4220-B3C4-228FCD561DCF}"/>
              </a:ext>
            </a:extLst>
          </p:cNvPr>
          <p:cNvSpPr>
            <a:spLocks noGrp="1"/>
          </p:cNvSpPr>
          <p:nvPr>
            <p:ph type="title"/>
          </p:nvPr>
        </p:nvSpPr>
        <p:spPr/>
        <p:txBody>
          <a:bodyPr/>
          <a:lstStyle/>
          <a:p>
            <a:r>
              <a:rPr lang="ru-RU" dirty="0"/>
              <a:t>Преимущества прототипирования</a:t>
            </a:r>
          </a:p>
        </p:txBody>
      </p:sp>
      <p:sp>
        <p:nvSpPr>
          <p:cNvPr id="3" name="Объект 2">
            <a:extLst>
              <a:ext uri="{FF2B5EF4-FFF2-40B4-BE49-F238E27FC236}">
                <a16:creationId xmlns:a16="http://schemas.microsoft.com/office/drawing/2014/main" xmlns="" id="{A031EBA5-2092-4B6E-ADC3-0F87AA093E46}"/>
              </a:ext>
            </a:extLst>
          </p:cNvPr>
          <p:cNvSpPr>
            <a:spLocks noGrp="1"/>
          </p:cNvSpPr>
          <p:nvPr>
            <p:ph idx="1"/>
          </p:nvPr>
        </p:nvSpPr>
        <p:spPr/>
        <p:txBody>
          <a:bodyPr>
            <a:normAutofit fontScale="62500" lnSpcReduction="20000"/>
          </a:bodyPr>
          <a:lstStyle/>
          <a:p>
            <a:r>
              <a:rPr lang="ru-RU" dirty="0"/>
              <a:t>Взаимодействие заказчика с разрабатываемой системой начинается на раннем этапе</a:t>
            </a:r>
          </a:p>
          <a:p>
            <a:r>
              <a:rPr lang="ru-RU" dirty="0"/>
              <a:t>Благодаря реакции заказчика на прототип сводится к минимуму число неточностей в требованиях</a:t>
            </a:r>
          </a:p>
          <a:p>
            <a:r>
              <a:rPr lang="ru-RU" dirty="0"/>
              <a:t>Снижается вероятность возникновения путаницы, искажения информации или недоразумений при определении требований к программному </a:t>
            </a:r>
            <a:r>
              <a:rPr lang="ru-RU" dirty="0" err="1"/>
              <a:t>прдукту</a:t>
            </a:r>
            <a:r>
              <a:rPr lang="ru-RU" dirty="0"/>
              <a:t>, что приводит к созданию более качественного программного продукта</a:t>
            </a:r>
          </a:p>
          <a:p>
            <a:r>
              <a:rPr lang="ru-RU" dirty="0"/>
              <a:t>В процессе разработки всегда можно учесть новые, даже неожиданные требования заказчика</a:t>
            </a:r>
          </a:p>
          <a:p>
            <a:r>
              <a:rPr lang="ru-RU" dirty="0"/>
              <a:t>Прототип представляет собой формальную спецификацию, воплощенную в программный продукт</a:t>
            </a:r>
          </a:p>
          <a:p>
            <a:r>
              <a:rPr lang="ru-RU" dirty="0"/>
              <a:t>Прототип позволяет очень гибко выполнять проектирование и разработку, включая несколько итераций на всех фазах жизненного цикла разработки</a:t>
            </a:r>
          </a:p>
          <a:p>
            <a:r>
              <a:rPr lang="ru-RU" dirty="0"/>
              <a:t>Заказчик всегда видит прогресс в процессе разработки программного продукта</a:t>
            </a:r>
          </a:p>
          <a:p>
            <a:r>
              <a:rPr lang="ru-RU" dirty="0"/>
              <a:t>Возможность возникновения противоречий между разработчиками и заказчиками сведена к минимуму</a:t>
            </a:r>
          </a:p>
          <a:p>
            <a:r>
              <a:rPr lang="ru-RU" dirty="0"/>
              <a:t>Уменьшается число доработок, что снижает стоимость разработки: возникающие проблемы решаются на ранних стадиях, что резко сокращает расходы на их устранение; заказчики принимают участие в процессе разработки на протяжении всего жизненного цикла и в конечном итоге в большей степени довольны результатом работы</a:t>
            </a:r>
          </a:p>
          <a:p>
            <a:endParaRPr lang="ru-RU" dirty="0"/>
          </a:p>
        </p:txBody>
      </p:sp>
    </p:spTree>
    <p:extLst>
      <p:ext uri="{BB962C8B-B14F-4D97-AF65-F5344CB8AC3E}">
        <p14:creationId xmlns:p14="http://schemas.microsoft.com/office/powerpoint/2010/main" val="364397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CD6CBFE-37A4-40FD-AE67-FA544AA1B5C0}"/>
              </a:ext>
            </a:extLst>
          </p:cNvPr>
          <p:cNvSpPr>
            <a:spLocks noGrp="1"/>
          </p:cNvSpPr>
          <p:nvPr>
            <p:ph type="title"/>
          </p:nvPr>
        </p:nvSpPr>
        <p:spPr/>
        <p:txBody>
          <a:bodyPr/>
          <a:lstStyle/>
          <a:p>
            <a:r>
              <a:rPr lang="ru-RU" dirty="0"/>
              <a:t>Недостатки прототипирования</a:t>
            </a:r>
          </a:p>
        </p:txBody>
      </p:sp>
      <p:sp>
        <p:nvSpPr>
          <p:cNvPr id="3" name="Объект 2">
            <a:extLst>
              <a:ext uri="{FF2B5EF4-FFF2-40B4-BE49-F238E27FC236}">
                <a16:creationId xmlns:a16="http://schemas.microsoft.com/office/drawing/2014/main" xmlns="" id="{7E0D7026-CE8A-47DF-9645-C11A2563C94A}"/>
              </a:ext>
            </a:extLst>
          </p:cNvPr>
          <p:cNvSpPr>
            <a:spLocks noGrp="1"/>
          </p:cNvSpPr>
          <p:nvPr>
            <p:ph idx="1"/>
          </p:nvPr>
        </p:nvSpPr>
        <p:spPr/>
        <p:txBody>
          <a:bodyPr/>
          <a:lstStyle/>
          <a:p>
            <a:r>
              <a:rPr lang="ru-RU" dirty="0"/>
              <a:t>Решение сложных задач может отодвигаться на будущее</a:t>
            </a:r>
          </a:p>
          <a:p>
            <a:r>
              <a:rPr lang="ru-RU" dirty="0"/>
              <a:t>Заказчик может предпочесть получить прототип, а не законченную полную версию программного продукта</a:t>
            </a:r>
          </a:p>
          <a:p>
            <a:r>
              <a:rPr lang="ru-RU" dirty="0"/>
              <a:t>Прототипирование может неоправданно затянуться</a:t>
            </a:r>
          </a:p>
          <a:p>
            <a:r>
              <a:rPr lang="ru-RU" dirty="0"/>
              <a:t>Перед началом работы неизвестно, сколько итераций придется выполнить</a:t>
            </a:r>
          </a:p>
          <a:p>
            <a:endParaRPr lang="ru-RU" dirty="0"/>
          </a:p>
        </p:txBody>
      </p:sp>
    </p:spTree>
    <p:extLst>
      <p:ext uri="{BB962C8B-B14F-4D97-AF65-F5344CB8AC3E}">
        <p14:creationId xmlns:p14="http://schemas.microsoft.com/office/powerpoint/2010/main" val="665549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DCE09630-220E-42C5-A903-AC7D05C29971}"/>
              </a:ext>
            </a:extLst>
          </p:cNvPr>
          <p:cNvSpPr>
            <a:spLocks noGrp="1"/>
          </p:cNvSpPr>
          <p:nvPr>
            <p:ph type="title"/>
          </p:nvPr>
        </p:nvSpPr>
        <p:spPr/>
        <p:txBody>
          <a:bodyPr/>
          <a:lstStyle/>
          <a:p>
            <a:r>
              <a:rPr lang="ru-RU" dirty="0"/>
              <a:t>Итеративная модель</a:t>
            </a:r>
          </a:p>
        </p:txBody>
      </p:sp>
      <p:pic>
        <p:nvPicPr>
          <p:cNvPr id="4" name="Объект 3">
            <a:extLst>
              <a:ext uri="{FF2B5EF4-FFF2-40B4-BE49-F238E27FC236}">
                <a16:creationId xmlns:a16="http://schemas.microsoft.com/office/drawing/2014/main" xmlns="" id="{D9CAB139-9BA6-4653-A64B-D0218F17EFDC}"/>
              </a:ext>
            </a:extLst>
          </p:cNvPr>
          <p:cNvPicPr>
            <a:picLocks noGrp="1" noChangeAspect="1"/>
          </p:cNvPicPr>
          <p:nvPr>
            <p:ph idx="1"/>
          </p:nvPr>
        </p:nvPicPr>
        <p:blipFill>
          <a:blip r:embed="rId2"/>
          <a:stretch>
            <a:fillRect/>
          </a:stretch>
        </p:blipFill>
        <p:spPr>
          <a:xfrm>
            <a:off x="2800350" y="2524919"/>
            <a:ext cx="6591300" cy="2952750"/>
          </a:xfrm>
          <a:prstGeom prst="rect">
            <a:avLst/>
          </a:prstGeom>
        </p:spPr>
      </p:pic>
    </p:spTree>
    <p:extLst>
      <p:ext uri="{BB962C8B-B14F-4D97-AF65-F5344CB8AC3E}">
        <p14:creationId xmlns:p14="http://schemas.microsoft.com/office/powerpoint/2010/main" val="1579122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7E1F5662-A524-4CA5-967A-EC322DD5405B}"/>
              </a:ext>
            </a:extLst>
          </p:cNvPr>
          <p:cNvSpPr>
            <a:spLocks noGrp="1"/>
          </p:cNvSpPr>
          <p:nvPr>
            <p:ph type="title"/>
          </p:nvPr>
        </p:nvSpPr>
        <p:spPr/>
        <p:txBody>
          <a:bodyPr/>
          <a:lstStyle/>
          <a:p>
            <a:r>
              <a:rPr lang="ru-RU" dirty="0"/>
              <a:t>Итеративная модель</a:t>
            </a:r>
          </a:p>
        </p:txBody>
      </p:sp>
      <p:sp>
        <p:nvSpPr>
          <p:cNvPr id="3" name="Объект 2">
            <a:extLst>
              <a:ext uri="{FF2B5EF4-FFF2-40B4-BE49-F238E27FC236}">
                <a16:creationId xmlns:a16="http://schemas.microsoft.com/office/drawing/2014/main" xmlns="" id="{2978A5E6-860B-4B0E-A58A-B7780809963C}"/>
              </a:ext>
            </a:extLst>
          </p:cNvPr>
          <p:cNvSpPr>
            <a:spLocks noGrp="1"/>
          </p:cNvSpPr>
          <p:nvPr>
            <p:ph idx="1"/>
          </p:nvPr>
        </p:nvSpPr>
        <p:spPr/>
        <p:txBody>
          <a:bodyPr/>
          <a:lstStyle/>
          <a:p>
            <a:pPr marL="0" indent="0">
              <a:buNone/>
            </a:pPr>
            <a:r>
              <a:rPr lang="ru-RU" dirty="0"/>
              <a:t>Итеративные или инкрементальные модели (известно несколько таких моделей) предполагают разбиение создаваемой системы на набор кусков, которые разрабатываются с помощью нескольких последовательных проходов всех работ или их части.</a:t>
            </a:r>
          </a:p>
          <a:p>
            <a:pPr marL="0" indent="0">
              <a:buNone/>
            </a:pPr>
            <a:endParaRPr lang="ru-RU" dirty="0"/>
          </a:p>
        </p:txBody>
      </p:sp>
    </p:spTree>
    <p:extLst>
      <p:ext uri="{BB962C8B-B14F-4D97-AF65-F5344CB8AC3E}">
        <p14:creationId xmlns:p14="http://schemas.microsoft.com/office/powerpoint/2010/main" val="3893936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0FFD7892-D9E0-4C83-B816-8F2D3697EC34}"/>
              </a:ext>
            </a:extLst>
          </p:cNvPr>
          <p:cNvSpPr>
            <a:spLocks noGrp="1"/>
          </p:cNvSpPr>
          <p:nvPr>
            <p:ph type="title"/>
          </p:nvPr>
        </p:nvSpPr>
        <p:spPr/>
        <p:txBody>
          <a:bodyPr/>
          <a:lstStyle/>
          <a:p>
            <a:r>
              <a:rPr lang="ru-RU" dirty="0"/>
              <a:t>Инкрементная модель</a:t>
            </a:r>
          </a:p>
        </p:txBody>
      </p:sp>
      <p:pic>
        <p:nvPicPr>
          <p:cNvPr id="4" name="Объект 3">
            <a:extLst>
              <a:ext uri="{FF2B5EF4-FFF2-40B4-BE49-F238E27FC236}">
                <a16:creationId xmlns:a16="http://schemas.microsoft.com/office/drawing/2014/main" xmlns="" id="{D27F8A1C-65A3-436A-B13D-ECD7EC22C4E9}"/>
              </a:ext>
            </a:extLst>
          </p:cNvPr>
          <p:cNvPicPr>
            <a:picLocks noGrp="1" noChangeAspect="1"/>
          </p:cNvPicPr>
          <p:nvPr>
            <p:ph idx="1"/>
          </p:nvPr>
        </p:nvPicPr>
        <p:blipFill rotWithShape="1">
          <a:blip r:embed="rId2"/>
          <a:srcRect l="13014" t="24760" r="12389" b="7097"/>
          <a:stretch/>
        </p:blipFill>
        <p:spPr>
          <a:xfrm>
            <a:off x="1870229" y="1855432"/>
            <a:ext cx="8451541" cy="4181950"/>
          </a:xfrm>
          <a:prstGeom prst="rect">
            <a:avLst/>
          </a:prstGeom>
        </p:spPr>
      </p:pic>
    </p:spTree>
    <p:extLst>
      <p:ext uri="{BB962C8B-B14F-4D97-AF65-F5344CB8AC3E}">
        <p14:creationId xmlns:p14="http://schemas.microsoft.com/office/powerpoint/2010/main" val="1847193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EC8E1C8A-2ED8-437A-93F6-C27ADA9DE0C2}"/>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5B7B480C-C010-4C14-9210-22A1FC4B9629}"/>
              </a:ext>
            </a:extLst>
          </p:cNvPr>
          <p:cNvSpPr>
            <a:spLocks noGrp="1"/>
          </p:cNvSpPr>
          <p:nvPr>
            <p:ph idx="1"/>
          </p:nvPr>
        </p:nvSpPr>
        <p:spPr/>
        <p:txBody>
          <a:bodyPr>
            <a:normAutofit fontScale="92500" lnSpcReduction="10000"/>
          </a:bodyPr>
          <a:lstStyle/>
          <a:p>
            <a:pPr marL="0" indent="0">
              <a:buNone/>
            </a:pPr>
            <a:r>
              <a:rPr lang="ru-RU" b="1" dirty="0"/>
              <a:t>Итерационная модель</a:t>
            </a:r>
            <a:r>
              <a:rPr lang="ru-RU" dirty="0"/>
              <a:t> предполагает разбиение проекта на части (этапы, итерации) и прохождение этапов жизненного цикла на каждом их них. Каждый этап является законченным сам по себе, совокупность этапов формирует конечный результат.</a:t>
            </a:r>
          </a:p>
          <a:p>
            <a:pPr marL="0" indent="0">
              <a:buNone/>
            </a:pPr>
            <a:r>
              <a:rPr lang="ru-RU" dirty="0"/>
              <a:t>На каждой итерации мы работали с одним и тем же продуктом и в конце каждой итерации получали результат, которым можно пользоваться (естественно, с определенными ограничениями).</a:t>
            </a:r>
          </a:p>
          <a:p>
            <a:pPr marL="0" indent="0">
              <a:buNone/>
            </a:pPr>
            <a:r>
              <a:rPr lang="ru-RU" dirty="0"/>
              <a:t>С каждым этапом разработка приближается к конечному желаемому результату или уточняются требования к результату по ходу разработки, и соответственно в любой момент текущая итерация может оказаться последней или очередной на пути к завершению.</a:t>
            </a:r>
            <a:br>
              <a:rPr lang="ru-RU" dirty="0"/>
            </a:br>
            <a:endParaRPr lang="ru-RU" dirty="0"/>
          </a:p>
        </p:txBody>
      </p:sp>
    </p:spTree>
    <p:extLst>
      <p:ext uri="{BB962C8B-B14F-4D97-AF65-F5344CB8AC3E}">
        <p14:creationId xmlns:p14="http://schemas.microsoft.com/office/powerpoint/2010/main" val="2139214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ACD7220-E0B5-4FDB-A55D-7116E99AAA03}"/>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8A737A9E-94F0-4749-BB56-D52E0B0C775B}"/>
              </a:ext>
            </a:extLst>
          </p:cNvPr>
          <p:cNvSpPr>
            <a:spLocks noGrp="1"/>
          </p:cNvSpPr>
          <p:nvPr>
            <p:ph idx="1"/>
          </p:nvPr>
        </p:nvSpPr>
        <p:spPr/>
        <p:txBody>
          <a:bodyPr>
            <a:normAutofit/>
          </a:bodyPr>
          <a:lstStyle/>
          <a:p>
            <a:pPr marL="0" indent="0">
              <a:buNone/>
            </a:pPr>
            <a:r>
              <a:rPr lang="ru-RU" dirty="0"/>
              <a:t>Данный подход позволяет бороться с неопределенностью, снимая ее этап за этапом, и проверять правильность технического, маркетингового или любого другого решения на ранних стадиях. </a:t>
            </a:r>
          </a:p>
          <a:p>
            <a:pPr marL="0" indent="0">
              <a:buNone/>
            </a:pPr>
            <a:r>
              <a:rPr lang="ru-RU" dirty="0"/>
              <a:t>Использование итерационной модели снижает риски глобального провала и растраты всего бюджета, получение несинхронизированных ожиданий и ошибочного понимания процессов как клиентом, так и каждым участником команды разработки. Оно также дает возможность завершения разработки в конце любой итерации (в каскадной модели вы должны прежде завершить все этапы).</a:t>
            </a:r>
          </a:p>
        </p:txBody>
      </p:sp>
    </p:spTree>
    <p:extLst>
      <p:ext uri="{BB962C8B-B14F-4D97-AF65-F5344CB8AC3E}">
        <p14:creationId xmlns:p14="http://schemas.microsoft.com/office/powerpoint/2010/main" val="277170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34C77FA5-28D4-4CEE-A01A-F427430E3F91}"/>
              </a:ext>
            </a:extLst>
          </p:cNvPr>
          <p:cNvSpPr>
            <a:spLocks noGrp="1"/>
          </p:cNvSpPr>
          <p:nvPr>
            <p:ph type="title"/>
          </p:nvPr>
        </p:nvSpPr>
        <p:spPr/>
        <p:txBody>
          <a:bodyPr/>
          <a:lstStyle/>
          <a:p>
            <a:r>
              <a:rPr lang="ru-RU" dirty="0"/>
              <a:t>Инкрементная модель</a:t>
            </a:r>
          </a:p>
        </p:txBody>
      </p:sp>
      <p:pic>
        <p:nvPicPr>
          <p:cNvPr id="4" name="Объект 3">
            <a:extLst>
              <a:ext uri="{FF2B5EF4-FFF2-40B4-BE49-F238E27FC236}">
                <a16:creationId xmlns:a16="http://schemas.microsoft.com/office/drawing/2014/main" xmlns="" id="{F10BF0B5-434C-4AB6-AC42-7BC49261F803}"/>
              </a:ext>
            </a:extLst>
          </p:cNvPr>
          <p:cNvPicPr>
            <a:picLocks noGrp="1" noChangeAspect="1"/>
          </p:cNvPicPr>
          <p:nvPr>
            <p:ph idx="1"/>
          </p:nvPr>
        </p:nvPicPr>
        <p:blipFill>
          <a:blip r:embed="rId2"/>
          <a:stretch>
            <a:fillRect/>
          </a:stretch>
        </p:blipFill>
        <p:spPr>
          <a:xfrm>
            <a:off x="3058001" y="1825625"/>
            <a:ext cx="6075997" cy="4351338"/>
          </a:xfrm>
          <a:prstGeom prst="rect">
            <a:avLst/>
          </a:prstGeom>
        </p:spPr>
      </p:pic>
    </p:spTree>
    <p:extLst>
      <p:ext uri="{BB962C8B-B14F-4D97-AF65-F5344CB8AC3E}">
        <p14:creationId xmlns:p14="http://schemas.microsoft.com/office/powerpoint/2010/main" val="3093971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E8E0DAC-94ED-4CF3-A2F8-28237CA3C98C}"/>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66DDB1F3-E539-4F93-B36A-660D698F3436}"/>
              </a:ext>
            </a:extLst>
          </p:cNvPr>
          <p:cNvSpPr>
            <a:spLocks noGrp="1"/>
          </p:cNvSpPr>
          <p:nvPr>
            <p:ph idx="1"/>
          </p:nvPr>
        </p:nvSpPr>
        <p:spPr/>
        <p:txBody>
          <a:bodyPr>
            <a:normAutofit lnSpcReduction="10000"/>
          </a:bodyPr>
          <a:lstStyle/>
          <a:p>
            <a:pPr marL="0" indent="0">
              <a:buNone/>
            </a:pPr>
            <a:r>
              <a:rPr lang="ru-RU" dirty="0"/>
              <a:t>Спиральная стратегия подразумевает разработку в виде последовательности версий, но в начале проекта определены не все требования. Требования уточняются в результате разработки версий.</a:t>
            </a:r>
          </a:p>
          <a:p>
            <a:pPr marL="0" indent="0">
              <a:buNone/>
            </a:pPr>
            <a:r>
              <a:rPr lang="ru-RU" dirty="0"/>
              <a:t>На каждом витке спирали выполняется создание очередной версии продукта, уточняются требования проекта, определяется его качество и планируются работы следующего витка. Особое внимание уделяется начальным этапам разработки — анализу и проектированию, где реализуемость тех или иных технических решений проверяется и обосновывается посредством создания прототипов.</a:t>
            </a:r>
            <a:br>
              <a:rPr lang="ru-RU" dirty="0"/>
            </a:br>
            <a:endParaRPr lang="ru-RU" dirty="0"/>
          </a:p>
        </p:txBody>
      </p:sp>
    </p:spTree>
    <p:extLst>
      <p:ext uri="{BB962C8B-B14F-4D97-AF65-F5344CB8AC3E}">
        <p14:creationId xmlns:p14="http://schemas.microsoft.com/office/powerpoint/2010/main" val="586582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D9955F8-649C-470E-A601-A6B6BFF20668}"/>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4FC20E9A-700F-4D46-A36A-FBD0EE0489BD}"/>
              </a:ext>
            </a:extLst>
          </p:cNvPr>
          <p:cNvSpPr>
            <a:spLocks noGrp="1"/>
          </p:cNvSpPr>
          <p:nvPr>
            <p:ph idx="1"/>
          </p:nvPr>
        </p:nvSpPr>
        <p:spPr/>
        <p:txBody>
          <a:bodyPr/>
          <a:lstStyle/>
          <a:p>
            <a:pPr marL="0" indent="0">
              <a:buNone/>
            </a:pPr>
            <a:r>
              <a:rPr lang="ru-RU" dirty="0"/>
              <a:t>Данная модель представляет собой процесс разработки программного обеспечения, сочетающий в себе как проектирование, так и </a:t>
            </a:r>
            <a:r>
              <a:rPr lang="ru-RU" dirty="0" err="1"/>
              <a:t>постадийное</a:t>
            </a:r>
            <a:r>
              <a:rPr lang="ru-RU" dirty="0"/>
              <a:t> </a:t>
            </a:r>
            <a:r>
              <a:rPr lang="ru-RU" dirty="0" err="1"/>
              <a:t>прототипировнаие</a:t>
            </a:r>
            <a:r>
              <a:rPr lang="ru-RU" dirty="0"/>
              <a:t> с целью сочетания преимуществ восходящей и нисходящей концепции, делающая упор на начальные этапы жизненного цикла: анализ и проектирование. </a:t>
            </a:r>
            <a:r>
              <a:rPr lang="ru-RU" i="1" dirty="0"/>
              <a:t>Отличительной особенностью</a:t>
            </a:r>
            <a:r>
              <a:rPr lang="ru-RU" dirty="0"/>
              <a:t> этой модели является специальное внимание рискам, влияющим на организацию жизненного цикла.</a:t>
            </a:r>
          </a:p>
        </p:txBody>
      </p:sp>
    </p:spTree>
    <p:extLst>
      <p:ext uri="{BB962C8B-B14F-4D97-AF65-F5344CB8AC3E}">
        <p14:creationId xmlns:p14="http://schemas.microsoft.com/office/powerpoint/2010/main" val="2051981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EEF9B3B-115A-44F8-BACD-C1255A2F1D61}"/>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37DD53A1-F03B-4FE7-B977-6B7B3ED5FED5}"/>
              </a:ext>
            </a:extLst>
          </p:cNvPr>
          <p:cNvSpPr>
            <a:spLocks noGrp="1"/>
          </p:cNvSpPr>
          <p:nvPr>
            <p:ph idx="1"/>
          </p:nvPr>
        </p:nvSpPr>
        <p:spPr/>
        <p:txBody>
          <a:bodyPr/>
          <a:lstStyle/>
          <a:p>
            <a:pPr marL="0" indent="0">
              <a:buNone/>
            </a:pPr>
            <a:r>
              <a:rPr lang="ru-RU" dirty="0"/>
              <a:t>На этапах анализа и проектирования реализуемость технических решений и степень удовлетворения потребностей заказчика проверяется путем создания прототипов. Каждый виток спирали соответствует созданию работоспособного фрагмента или версии системы. Это позволяет уточнить требования, цели и характеристики проекта, определить качество разработки, спланировать работы следующего витка спирали. Таким образом углубляются и последовательно конкретизируются детали проекта и в результате выбирается обоснованный вариант, который удовлетворяет действительным требованиям заказчика и доводится до реализации.</a:t>
            </a:r>
          </a:p>
        </p:txBody>
      </p:sp>
    </p:spTree>
    <p:extLst>
      <p:ext uri="{BB962C8B-B14F-4D97-AF65-F5344CB8AC3E}">
        <p14:creationId xmlns:p14="http://schemas.microsoft.com/office/powerpoint/2010/main" val="690246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85ADA43A-1FB3-4E4B-BF1C-A491292B65B5}"/>
              </a:ext>
            </a:extLst>
          </p:cNvPr>
          <p:cNvSpPr>
            <a:spLocks noGrp="1"/>
          </p:cNvSpPr>
          <p:nvPr>
            <p:ph type="title"/>
          </p:nvPr>
        </p:nvSpPr>
        <p:spPr/>
        <p:txBody>
          <a:bodyPr/>
          <a:lstStyle/>
          <a:p>
            <a:r>
              <a:rPr lang="ru-RU" dirty="0"/>
              <a:t>Инкрементная модель</a:t>
            </a:r>
          </a:p>
        </p:txBody>
      </p:sp>
      <p:sp>
        <p:nvSpPr>
          <p:cNvPr id="3" name="Объект 2">
            <a:extLst>
              <a:ext uri="{FF2B5EF4-FFF2-40B4-BE49-F238E27FC236}">
                <a16:creationId xmlns:a16="http://schemas.microsoft.com/office/drawing/2014/main" xmlns="" id="{B23E8F59-B729-420C-B139-DF00004703A8}"/>
              </a:ext>
            </a:extLst>
          </p:cNvPr>
          <p:cNvSpPr>
            <a:spLocks noGrp="1"/>
          </p:cNvSpPr>
          <p:nvPr>
            <p:ph idx="1"/>
          </p:nvPr>
        </p:nvSpPr>
        <p:spPr/>
        <p:txBody>
          <a:bodyPr/>
          <a:lstStyle/>
          <a:p>
            <a:pPr marL="0" indent="0">
              <a:buNone/>
            </a:pPr>
            <a:r>
              <a:rPr lang="ru-RU" dirty="0"/>
              <a:t>Жизненный цикл на каждом витке спирали —  могут применяться разные модели процесса разработки ПО. В конечном итоге на выходе получается готовый продукт. Модель сочетает в себе возможности модели прототипирования и водопадной модели. Разработка итерациями отражает объективно существующий спиральный цикл создания системы. Неполное завершение работ на каждом этапе позволяет переходить на следующий этап, не дожидаясь полного завершения работы на текущем. Главная задача — как можно быстрее показать пользователям системы работоспособный продукт, тем самым активизируя процесс уточнения и дополнения требований.</a:t>
            </a:r>
          </a:p>
        </p:txBody>
      </p:sp>
    </p:spTree>
    <p:extLst>
      <p:ext uri="{BB962C8B-B14F-4D97-AF65-F5344CB8AC3E}">
        <p14:creationId xmlns:p14="http://schemas.microsoft.com/office/powerpoint/2010/main" val="1307252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534C8BA-CA34-47E0-8502-480ECDE84241}"/>
              </a:ext>
            </a:extLst>
          </p:cNvPr>
          <p:cNvSpPr>
            <a:spLocks noGrp="1"/>
          </p:cNvSpPr>
          <p:nvPr>
            <p:ph type="title"/>
          </p:nvPr>
        </p:nvSpPr>
        <p:spPr/>
        <p:txBody>
          <a:bodyPr/>
          <a:lstStyle/>
          <a:p>
            <a:r>
              <a:rPr lang="ru-RU" dirty="0"/>
              <a:t>Преимущества инкрементной модели</a:t>
            </a:r>
          </a:p>
        </p:txBody>
      </p:sp>
      <p:sp>
        <p:nvSpPr>
          <p:cNvPr id="3" name="Объект 2">
            <a:extLst>
              <a:ext uri="{FF2B5EF4-FFF2-40B4-BE49-F238E27FC236}">
                <a16:creationId xmlns:a16="http://schemas.microsoft.com/office/drawing/2014/main" xmlns="" id="{ACCAFA6A-F7F5-406F-B236-AE7761944444}"/>
              </a:ext>
            </a:extLst>
          </p:cNvPr>
          <p:cNvSpPr>
            <a:spLocks noGrp="1"/>
          </p:cNvSpPr>
          <p:nvPr>
            <p:ph idx="1"/>
          </p:nvPr>
        </p:nvSpPr>
        <p:spPr/>
        <p:txBody>
          <a:bodyPr>
            <a:normAutofit/>
          </a:bodyPr>
          <a:lstStyle/>
          <a:p>
            <a:pPr fontAlgn="base"/>
            <a:r>
              <a:rPr lang="ru-RU" dirty="0"/>
              <a:t>Позволяет быстрее показать пользователям системы работоспособный продукт, тем самым, активизируя процесс уточнения и дополнения требований</a:t>
            </a:r>
          </a:p>
          <a:p>
            <a:pPr fontAlgn="base"/>
            <a:r>
              <a:rPr lang="ru-RU" dirty="0"/>
              <a:t>Допускает изменение требований при разработке программного обеспечения, что характерно для большинства разработок, в том числе и типовых</a:t>
            </a:r>
          </a:p>
          <a:p>
            <a:pPr fontAlgn="base"/>
            <a:r>
              <a:rPr lang="ru-RU" dirty="0"/>
              <a:t>В модели предусмотрена возможность гибкого проектирования, поскольку в ней воплощены преимущества каскадной модели, и в то же время разрешены итерации по всем фазам этой же модели</a:t>
            </a:r>
          </a:p>
        </p:txBody>
      </p:sp>
    </p:spTree>
    <p:extLst>
      <p:ext uri="{BB962C8B-B14F-4D97-AF65-F5344CB8AC3E}">
        <p14:creationId xmlns:p14="http://schemas.microsoft.com/office/powerpoint/2010/main" val="2804157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88FC15C-4495-407B-8D6A-902B70BA464F}"/>
              </a:ext>
            </a:extLst>
          </p:cNvPr>
          <p:cNvSpPr>
            <a:spLocks noGrp="1"/>
          </p:cNvSpPr>
          <p:nvPr>
            <p:ph type="title"/>
          </p:nvPr>
        </p:nvSpPr>
        <p:spPr/>
        <p:txBody>
          <a:bodyPr/>
          <a:lstStyle/>
          <a:p>
            <a:r>
              <a:rPr lang="ru-RU" dirty="0"/>
              <a:t>Преимущества инкрементной модели</a:t>
            </a:r>
          </a:p>
        </p:txBody>
      </p:sp>
      <p:sp>
        <p:nvSpPr>
          <p:cNvPr id="3" name="Объект 2">
            <a:extLst>
              <a:ext uri="{FF2B5EF4-FFF2-40B4-BE49-F238E27FC236}">
                <a16:creationId xmlns:a16="http://schemas.microsoft.com/office/drawing/2014/main" xmlns="" id="{7C07D8AA-9027-47E8-9ACB-9B5EBAFBCF63}"/>
              </a:ext>
            </a:extLst>
          </p:cNvPr>
          <p:cNvSpPr>
            <a:spLocks noGrp="1"/>
          </p:cNvSpPr>
          <p:nvPr>
            <p:ph idx="1"/>
          </p:nvPr>
        </p:nvSpPr>
        <p:spPr/>
        <p:txBody>
          <a:bodyPr>
            <a:normAutofit/>
          </a:bodyPr>
          <a:lstStyle/>
          <a:p>
            <a:pPr fontAlgn="base"/>
            <a:r>
              <a:rPr lang="ru-RU" dirty="0"/>
              <a:t>Эта модель разрешает пользователям активно принимать участие при планировании, анализе рисков, разработке, а также при выполнении оценочных действий</a:t>
            </a:r>
          </a:p>
          <a:p>
            <a:pPr fontAlgn="base"/>
            <a:r>
              <a:rPr lang="ru-RU" dirty="0"/>
              <a:t>Уменьшаются риски заказчика. Заказчик может с минимальными для себя финансовыми потерями завершить развитие неперспективного проекта</a:t>
            </a:r>
          </a:p>
          <a:p>
            <a:pPr fontAlgn="base"/>
            <a:r>
              <a:rPr lang="ru-RU" dirty="0"/>
              <a:t>Обратная связь по направлению от пользователей к разработчикам выполняется с высокой частотой и на ранних этапах модели, что обеспечивает создание нужного продукта высокого качества</a:t>
            </a:r>
          </a:p>
          <a:p>
            <a:endParaRPr lang="ru-RU" dirty="0"/>
          </a:p>
        </p:txBody>
      </p:sp>
    </p:spTree>
    <p:extLst>
      <p:ext uri="{BB962C8B-B14F-4D97-AF65-F5344CB8AC3E}">
        <p14:creationId xmlns:p14="http://schemas.microsoft.com/office/powerpoint/2010/main" val="549069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92A499C-8422-4056-BD81-146434FA245E}"/>
              </a:ext>
            </a:extLst>
          </p:cNvPr>
          <p:cNvSpPr>
            <a:spLocks noGrp="1"/>
          </p:cNvSpPr>
          <p:nvPr>
            <p:ph type="title"/>
          </p:nvPr>
        </p:nvSpPr>
        <p:spPr/>
        <p:txBody>
          <a:bodyPr/>
          <a:lstStyle/>
          <a:p>
            <a:r>
              <a:rPr lang="ru-RU" dirty="0"/>
              <a:t>Недостатки инкрементной модели</a:t>
            </a:r>
          </a:p>
        </p:txBody>
      </p:sp>
      <p:sp>
        <p:nvSpPr>
          <p:cNvPr id="3" name="Объект 2">
            <a:extLst>
              <a:ext uri="{FF2B5EF4-FFF2-40B4-BE49-F238E27FC236}">
                <a16:creationId xmlns:a16="http://schemas.microsoft.com/office/drawing/2014/main" xmlns="" id="{6B20FE8C-599A-415D-8B46-9C88C133B9FA}"/>
              </a:ext>
            </a:extLst>
          </p:cNvPr>
          <p:cNvSpPr>
            <a:spLocks noGrp="1"/>
          </p:cNvSpPr>
          <p:nvPr>
            <p:ph idx="1"/>
          </p:nvPr>
        </p:nvSpPr>
        <p:spPr/>
        <p:txBody>
          <a:bodyPr>
            <a:normAutofit lnSpcReduction="10000"/>
          </a:bodyPr>
          <a:lstStyle/>
          <a:p>
            <a:pPr fontAlgn="base"/>
            <a:r>
              <a:rPr lang="ru-RU" dirty="0"/>
              <a:t>Если проект имеет низкую степень риска или небольшие размеры, модель может оказаться дорогостоящей. Оценка рисков после прохождения каждой спирали связана с большими затратами</a:t>
            </a:r>
          </a:p>
          <a:p>
            <a:pPr fontAlgn="base"/>
            <a:r>
              <a:rPr lang="ru-RU" dirty="0"/>
              <a:t>Жизненный цикл модели имеет усложненную структуру, поэтому может быть затруднено её применение разработчиками, менеджерами и заказчиками</a:t>
            </a:r>
          </a:p>
          <a:p>
            <a:pPr fontAlgn="base"/>
            <a:r>
              <a:rPr lang="ru-RU" dirty="0"/>
              <a:t>Спираль может продолжаться до бесконечности, поскольку каждая ответная реакция заказчика на созданную версию может порождать новый цикл, что отдаляет окончание работы над проектом</a:t>
            </a:r>
          </a:p>
        </p:txBody>
      </p:sp>
    </p:spTree>
    <p:extLst>
      <p:ext uri="{BB962C8B-B14F-4D97-AF65-F5344CB8AC3E}">
        <p14:creationId xmlns:p14="http://schemas.microsoft.com/office/powerpoint/2010/main" val="1831642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B9080F-66BA-4FDD-82E2-CE11BAD562D2}"/>
              </a:ext>
            </a:extLst>
          </p:cNvPr>
          <p:cNvSpPr>
            <a:spLocks noGrp="1"/>
          </p:cNvSpPr>
          <p:nvPr>
            <p:ph type="title"/>
          </p:nvPr>
        </p:nvSpPr>
        <p:spPr/>
        <p:txBody>
          <a:bodyPr/>
          <a:lstStyle/>
          <a:p>
            <a:r>
              <a:rPr lang="ru-RU" dirty="0"/>
              <a:t>Недостатки инкрементной модели</a:t>
            </a:r>
          </a:p>
        </p:txBody>
      </p:sp>
      <p:sp>
        <p:nvSpPr>
          <p:cNvPr id="3" name="Объект 2">
            <a:extLst>
              <a:ext uri="{FF2B5EF4-FFF2-40B4-BE49-F238E27FC236}">
                <a16:creationId xmlns:a16="http://schemas.microsoft.com/office/drawing/2014/main" xmlns="" id="{6D7BDD7C-2AD0-4491-A5A3-5612C83BCA27}"/>
              </a:ext>
            </a:extLst>
          </p:cNvPr>
          <p:cNvSpPr>
            <a:spLocks noGrp="1"/>
          </p:cNvSpPr>
          <p:nvPr>
            <p:ph idx="1"/>
          </p:nvPr>
        </p:nvSpPr>
        <p:spPr/>
        <p:txBody>
          <a:bodyPr>
            <a:normAutofit/>
          </a:bodyPr>
          <a:lstStyle/>
          <a:p>
            <a:pPr fontAlgn="base"/>
            <a:r>
              <a:rPr lang="ru-RU" dirty="0"/>
              <a:t>Большое количество промежуточных циклов может привести к необходимости в обработке дополнительной документации;</a:t>
            </a:r>
          </a:p>
          <a:p>
            <a:pPr fontAlgn="base"/>
            <a:r>
              <a:rPr lang="ru-RU" dirty="0"/>
              <a:t>Использование модели может оказаться дорогостоящим и даже недопустимым по средствам, т.к. время. затраченное на планирование, повторное определение целей, выполнение анализа рисков и прототипирование, может быть чрезмерным;</a:t>
            </a:r>
          </a:p>
          <a:p>
            <a:pPr fontAlgn="base"/>
            <a:r>
              <a:rPr lang="ru-RU" dirty="0"/>
              <a:t>Могут возникнуть затруднения при определении целей и стадий, указывающих на готовность продолжать процесс разработки на следующей итерации</a:t>
            </a:r>
          </a:p>
          <a:p>
            <a:endParaRPr lang="ru-RU" dirty="0"/>
          </a:p>
        </p:txBody>
      </p:sp>
    </p:spTree>
    <p:extLst>
      <p:ext uri="{BB962C8B-B14F-4D97-AF65-F5344CB8AC3E}">
        <p14:creationId xmlns:p14="http://schemas.microsoft.com/office/powerpoint/2010/main" val="915703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8D4699-CB28-458B-B829-FBC1AE2A12C3}"/>
              </a:ext>
            </a:extLst>
          </p:cNvPr>
          <p:cNvSpPr>
            <a:spLocks noGrp="1"/>
          </p:cNvSpPr>
          <p:nvPr>
            <p:ph type="title"/>
          </p:nvPr>
        </p:nvSpPr>
        <p:spPr/>
        <p:txBody>
          <a:bodyPr/>
          <a:lstStyle/>
          <a:p>
            <a:r>
              <a:rPr lang="ru-RU" dirty="0"/>
              <a:t>Сравнительный анализ моделей</a:t>
            </a:r>
          </a:p>
        </p:txBody>
      </p:sp>
      <p:pic>
        <p:nvPicPr>
          <p:cNvPr id="4" name="Объект 3">
            <a:extLst>
              <a:ext uri="{FF2B5EF4-FFF2-40B4-BE49-F238E27FC236}">
                <a16:creationId xmlns:a16="http://schemas.microsoft.com/office/drawing/2014/main" xmlns="" id="{0A165618-FD37-4A50-9422-D51346598CC5}"/>
              </a:ext>
            </a:extLst>
          </p:cNvPr>
          <p:cNvPicPr>
            <a:picLocks noGrp="1" noChangeAspect="1"/>
          </p:cNvPicPr>
          <p:nvPr>
            <p:ph idx="1"/>
          </p:nvPr>
        </p:nvPicPr>
        <p:blipFill rotWithShape="1">
          <a:blip r:embed="rId2"/>
          <a:srcRect l="1965" t="43530" r="2774" b="16482"/>
          <a:stretch/>
        </p:blipFill>
        <p:spPr>
          <a:xfrm>
            <a:off x="629895" y="2186126"/>
            <a:ext cx="10932210" cy="2485747"/>
          </a:xfrm>
          <a:prstGeom prst="rect">
            <a:avLst/>
          </a:prstGeom>
        </p:spPr>
      </p:pic>
    </p:spTree>
    <p:extLst>
      <p:ext uri="{BB962C8B-B14F-4D97-AF65-F5344CB8AC3E}">
        <p14:creationId xmlns:p14="http://schemas.microsoft.com/office/powerpoint/2010/main" val="817379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2BC2557E-BA99-48B0-8EA0-D45DF2E03962}"/>
              </a:ext>
            </a:extLst>
          </p:cNvPr>
          <p:cNvSpPr>
            <a:spLocks noGrp="1"/>
          </p:cNvSpPr>
          <p:nvPr>
            <p:ph idx="1"/>
          </p:nvPr>
        </p:nvSpPr>
        <p:spPr/>
        <p:txBody>
          <a:bodyPr>
            <a:normAutofit fontScale="62500" lnSpcReduction="20000"/>
          </a:bodyPr>
          <a:lstStyle/>
          <a:p>
            <a:pPr marL="0" indent="0">
              <a:buNone/>
            </a:pPr>
            <a:r>
              <a:rPr lang="ru-RU" dirty="0"/>
              <a:t>При разработке системы под итоговым продуктом и промежуточным программным обеспечением следует понимать:</a:t>
            </a:r>
          </a:p>
          <a:p>
            <a:r>
              <a:rPr lang="ru-RU" b="1" i="1" dirty="0"/>
              <a:t>Ревизию</a:t>
            </a:r>
            <a:r>
              <a:rPr lang="ru-RU" dirty="0"/>
              <a:t> (исправительную или опытную) – любые оперативные изменения программного и информационного обеспечения, а также БД, необязательные в данный момент к передаче на объекты внедрения и связанные с устранением ошибок и усовершенствованием;</a:t>
            </a:r>
          </a:p>
          <a:p>
            <a:r>
              <a:rPr lang="ru-RU" b="1" i="1" dirty="0"/>
              <a:t>Модификацию</a:t>
            </a:r>
            <a:r>
              <a:rPr lang="ru-RU" dirty="0"/>
              <a:t> – любые оперативные изменения программного и информационного обеспечения, а также БД, обязательные для передачи на объекты внедрения и обусловливающие изменение эксплуатационных характеристик без изменения функций (предусмотренных </a:t>
            </a:r>
            <a:r>
              <a:rPr lang="ru-RU" dirty="0">
                <a:hlinkClick r:id="rId2"/>
              </a:rPr>
              <a:t>ТЗ</a:t>
            </a:r>
            <a:r>
              <a:rPr lang="ru-RU" dirty="0"/>
              <a:t>), а также изменения, связанные с устранением ошибок, усовершенствованием;</a:t>
            </a:r>
          </a:p>
          <a:p>
            <a:r>
              <a:rPr lang="ru-RU" b="1" i="1" dirty="0"/>
              <a:t>Версию</a:t>
            </a:r>
            <a:r>
              <a:rPr lang="ru-RU" dirty="0"/>
              <a:t> – любые изменения программного и информационного обеспечения, а также БД, обязательные для передачи на объекты внедрения, позволяющие выполнять заявленные или дополнительные функции, а также обеспечивающие переход на новые операционные системы и информационную среду;</a:t>
            </a:r>
          </a:p>
          <a:p>
            <a:r>
              <a:rPr lang="ru-RU" b="1" i="1" dirty="0"/>
              <a:t>Развитие (очередь)</a:t>
            </a:r>
            <a:r>
              <a:rPr lang="ru-RU" dirty="0"/>
              <a:t> – плановые изменения информационной системы, связанные с введением новых функций и улучшением эксплуатационных характеристик, переходом на новую информационную среду, внедрением новых комплексов технических средств, новых информационных технологий и пр.</a:t>
            </a:r>
          </a:p>
          <a:p>
            <a:endParaRPr lang="ru-RU" dirty="0"/>
          </a:p>
        </p:txBody>
      </p:sp>
    </p:spTree>
    <p:extLst>
      <p:ext uri="{BB962C8B-B14F-4D97-AF65-F5344CB8AC3E}">
        <p14:creationId xmlns:p14="http://schemas.microsoft.com/office/powerpoint/2010/main" val="3970300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0C9B81E-D402-4805-B8E4-FD7E5428C4DD}"/>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352B5D44-E302-4655-A5A6-B008FEE0931A}"/>
              </a:ext>
            </a:extLst>
          </p:cNvPr>
          <p:cNvSpPr>
            <a:spLocks noGrp="1"/>
          </p:cNvSpPr>
          <p:nvPr>
            <p:ph idx="1"/>
          </p:nvPr>
        </p:nvSpPr>
        <p:spPr/>
        <p:txBody>
          <a:bodyPr/>
          <a:lstStyle/>
          <a:p>
            <a:pPr marL="0" indent="0">
              <a:buNone/>
            </a:pPr>
            <a:r>
              <a:rPr lang="ru-RU" b="1" dirty="0" err="1"/>
              <a:t>Scrum</a:t>
            </a:r>
            <a:r>
              <a:rPr lang="ru-RU" dirty="0"/>
              <a:t> методология основывается на понятии спринта (</a:t>
            </a:r>
            <a:r>
              <a:rPr lang="ru-RU" dirty="0" err="1"/>
              <a:t>sprint</a:t>
            </a:r>
            <a:r>
              <a:rPr lang="ru-RU" dirty="0"/>
              <a:t>), в течении которого выполняется работа над продуктом. Перед началом каждого спринта проводится планирование (</a:t>
            </a:r>
            <a:r>
              <a:rPr lang="ru-RU" dirty="0" err="1"/>
              <a:t>Sprint</a:t>
            </a:r>
            <a:r>
              <a:rPr lang="ru-RU" dirty="0"/>
              <a:t> </a:t>
            </a:r>
            <a:r>
              <a:rPr lang="ru-RU" dirty="0" err="1"/>
              <a:t>Planning</a:t>
            </a:r>
            <a:r>
              <a:rPr lang="ru-RU" dirty="0"/>
              <a:t>), на котором производится оценка содержимого списка задач по развитию продукта (</a:t>
            </a:r>
            <a:r>
              <a:rPr lang="ru-RU" dirty="0" err="1"/>
              <a:t>Product</a:t>
            </a:r>
            <a:r>
              <a:rPr lang="ru-RU" dirty="0"/>
              <a:t> </a:t>
            </a:r>
            <a:r>
              <a:rPr lang="ru-RU" dirty="0" err="1"/>
              <a:t>Backlog</a:t>
            </a:r>
            <a:r>
              <a:rPr lang="ru-RU" dirty="0"/>
              <a:t>) и формирование </a:t>
            </a:r>
            <a:r>
              <a:rPr lang="ru-RU" dirty="0" err="1"/>
              <a:t>бэклога</a:t>
            </a:r>
            <a:r>
              <a:rPr lang="ru-RU" dirty="0"/>
              <a:t> на спринт (</a:t>
            </a:r>
            <a:r>
              <a:rPr lang="ru-RU" dirty="0" err="1"/>
              <a:t>Sprint</a:t>
            </a:r>
            <a:r>
              <a:rPr lang="ru-RU" dirty="0"/>
              <a:t> </a:t>
            </a:r>
            <a:r>
              <a:rPr lang="ru-RU" dirty="0" err="1"/>
              <a:t>Backlog</a:t>
            </a:r>
            <a:r>
              <a:rPr lang="ru-RU" dirty="0"/>
              <a:t>), в рамках которых и действует команда. Для спринта всегда существуют ограничения по времени, обычно от недели до месяца. Жизнь продукта таким образом разбита на равные по продолжительности спринты.</a:t>
            </a:r>
          </a:p>
        </p:txBody>
      </p:sp>
    </p:spTree>
    <p:extLst>
      <p:ext uri="{BB962C8B-B14F-4D97-AF65-F5344CB8AC3E}">
        <p14:creationId xmlns:p14="http://schemas.microsoft.com/office/powerpoint/2010/main" val="158572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D8987267-14A1-46A4-A508-E14AC2587700}"/>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DB71BC24-69C1-45CD-A658-55740679ED54}"/>
              </a:ext>
            </a:extLst>
          </p:cNvPr>
          <p:cNvSpPr>
            <a:spLocks noGrp="1"/>
          </p:cNvSpPr>
          <p:nvPr>
            <p:ph idx="1"/>
          </p:nvPr>
        </p:nvSpPr>
        <p:spPr/>
        <p:txBody>
          <a:bodyPr/>
          <a:lstStyle/>
          <a:p>
            <a:pPr marL="0" indent="0">
              <a:buNone/>
            </a:pPr>
            <a:r>
              <a:rPr lang="ru-RU" dirty="0"/>
              <a:t>По </a:t>
            </a:r>
            <a:r>
              <a:rPr lang="ru-RU" b="1" dirty="0" err="1"/>
              <a:t>Kanban</a:t>
            </a:r>
            <a:r>
              <a:rPr lang="ru-RU" dirty="0"/>
              <a:t> методологии проект делится на этапы, которые визуализируются в виде </a:t>
            </a:r>
            <a:r>
              <a:rPr lang="ru-RU" dirty="0" err="1"/>
              <a:t>канбан</a:t>
            </a:r>
            <a:r>
              <a:rPr lang="ru-RU" dirty="0"/>
              <a:t>-доски. Этапы, это например: планирование, разработка, тестирование, релиз и т.п. Задачи в виде “карточек” перемещаются с этапа на этап. Новые задачи можно добавлять в любое время. Задача закрывается не по истечению конкретного времени, а по смене статуса на “завершено”.  </a:t>
            </a:r>
            <a:r>
              <a:rPr lang="ru-RU" dirty="0" err="1"/>
              <a:t>Канбан</a:t>
            </a:r>
            <a:r>
              <a:rPr lang="ru-RU" dirty="0"/>
              <a:t> это методология из концепции “бережливого производства”.</a:t>
            </a:r>
          </a:p>
        </p:txBody>
      </p:sp>
    </p:spTree>
    <p:extLst>
      <p:ext uri="{BB962C8B-B14F-4D97-AF65-F5344CB8AC3E}">
        <p14:creationId xmlns:p14="http://schemas.microsoft.com/office/powerpoint/2010/main" val="1475191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B958706-E87A-472C-99C5-A9B1D1EA69A6}"/>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25DC7F79-D074-4310-B2FB-63CD5A390036}"/>
              </a:ext>
            </a:extLst>
          </p:cNvPr>
          <p:cNvSpPr>
            <a:spLocks noGrp="1"/>
          </p:cNvSpPr>
          <p:nvPr>
            <p:ph idx="1"/>
          </p:nvPr>
        </p:nvSpPr>
        <p:spPr/>
        <p:txBody>
          <a:bodyPr/>
          <a:lstStyle/>
          <a:p>
            <a:pPr marL="0" indent="0">
              <a:buNone/>
            </a:pPr>
            <a:r>
              <a:rPr lang="ru-RU" b="1" dirty="0"/>
              <a:t>RUP</a:t>
            </a:r>
            <a:r>
              <a:rPr lang="ru-RU" dirty="0"/>
              <a:t> (</a:t>
            </a:r>
            <a:r>
              <a:rPr lang="ru-RU" dirty="0" err="1"/>
              <a:t>Rational</a:t>
            </a:r>
            <a:r>
              <a:rPr lang="ru-RU" dirty="0"/>
              <a:t> </a:t>
            </a:r>
            <a:r>
              <a:rPr lang="ru-RU" dirty="0" err="1"/>
              <a:t>Unified</a:t>
            </a:r>
            <a:r>
              <a:rPr lang="ru-RU" dirty="0"/>
              <a:t> </a:t>
            </a:r>
            <a:r>
              <a:rPr lang="ru-RU" dirty="0" err="1"/>
              <a:t>Process</a:t>
            </a:r>
            <a:r>
              <a:rPr lang="ru-RU" dirty="0"/>
              <a:t>) — разработка продукта при данном методе состоит из четырех фаз (начальная стадия, уточнение, построение, внедрение), каждая из которых включает в себя одну или несколько итераций. RUP огромная методология, которую трудно уложить в абзац текста, но методы, рекомендуемые RUP основаны на статистике коммерчески успешных проектов. </a:t>
            </a:r>
          </a:p>
        </p:txBody>
      </p:sp>
    </p:spTree>
    <p:extLst>
      <p:ext uri="{BB962C8B-B14F-4D97-AF65-F5344CB8AC3E}">
        <p14:creationId xmlns:p14="http://schemas.microsoft.com/office/powerpoint/2010/main" val="1128990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27349D-AED5-42B2-AC29-7964B07139A1}"/>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13AD4724-64E5-4FA0-B7C2-A211EFE3623E}"/>
              </a:ext>
            </a:extLst>
          </p:cNvPr>
          <p:cNvSpPr>
            <a:spLocks noGrp="1"/>
          </p:cNvSpPr>
          <p:nvPr>
            <p:ph idx="1"/>
          </p:nvPr>
        </p:nvSpPr>
        <p:spPr/>
        <p:txBody>
          <a:bodyPr/>
          <a:lstStyle/>
          <a:p>
            <a:pPr marL="0" indent="0">
              <a:buNone/>
            </a:pPr>
            <a:r>
              <a:rPr lang="ru-RU" b="1" dirty="0"/>
              <a:t>DSDM</a:t>
            </a:r>
            <a:r>
              <a:rPr lang="ru-RU" dirty="0"/>
              <a:t> (</a:t>
            </a:r>
            <a:r>
              <a:rPr lang="ru-RU" dirty="0" err="1"/>
              <a:t>Dynamic</a:t>
            </a:r>
            <a:r>
              <a:rPr lang="ru-RU" dirty="0"/>
              <a:t> </a:t>
            </a:r>
            <a:r>
              <a:rPr lang="ru-RU" dirty="0" err="1"/>
              <a:t>Systems</a:t>
            </a:r>
            <a:r>
              <a:rPr lang="ru-RU" dirty="0"/>
              <a:t> </a:t>
            </a:r>
            <a:r>
              <a:rPr lang="ru-RU" dirty="0" err="1"/>
              <a:t>Development</a:t>
            </a:r>
            <a:r>
              <a:rPr lang="ru-RU" dirty="0"/>
              <a:t> </a:t>
            </a:r>
            <a:r>
              <a:rPr lang="ru-RU" dirty="0" err="1"/>
              <a:t>Model</a:t>
            </a:r>
            <a:r>
              <a:rPr lang="ru-RU" dirty="0"/>
              <a:t>) — методология, которая демонстрирует набор принципов, предопределенных типов ролей и техник.</a:t>
            </a:r>
          </a:p>
          <a:p>
            <a:pPr marL="0" indent="0">
              <a:buNone/>
            </a:pPr>
            <a:r>
              <a:rPr lang="ru-RU" dirty="0"/>
              <a:t>Принципы направлены на главную цель  - сдать готовый проект вовремя и уложиться в бюджет, с возможностью регулировать требования во время разработки. DSDM входит в семейство гибкой методологии разработки программного обеспечения, а также разработок не входящих в сферу информационных технологий.</a:t>
            </a:r>
          </a:p>
          <a:p>
            <a:endParaRPr lang="ru-RU" dirty="0"/>
          </a:p>
        </p:txBody>
      </p:sp>
    </p:spTree>
    <p:extLst>
      <p:ext uri="{BB962C8B-B14F-4D97-AF65-F5344CB8AC3E}">
        <p14:creationId xmlns:p14="http://schemas.microsoft.com/office/powerpoint/2010/main" val="1705078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97F68FCE-1E7D-42AB-A8F9-C47F84A7BFEF}"/>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B758BF05-CD23-4C61-B03D-422771F5EDF2}"/>
              </a:ext>
            </a:extLst>
          </p:cNvPr>
          <p:cNvSpPr>
            <a:spLocks noGrp="1"/>
          </p:cNvSpPr>
          <p:nvPr>
            <p:ph idx="1"/>
          </p:nvPr>
        </p:nvSpPr>
        <p:spPr/>
        <p:txBody>
          <a:bodyPr/>
          <a:lstStyle/>
          <a:p>
            <a:pPr marL="0" indent="0">
              <a:buNone/>
            </a:pPr>
            <a:r>
              <a:rPr lang="ru-RU" b="1" dirty="0"/>
              <a:t>RAD</a:t>
            </a:r>
            <a:r>
              <a:rPr lang="ru-RU" dirty="0"/>
              <a:t> (</a:t>
            </a:r>
            <a:r>
              <a:rPr lang="ru-RU" dirty="0" err="1"/>
              <a:t>Rapid</a:t>
            </a:r>
            <a:r>
              <a:rPr lang="ru-RU" dirty="0"/>
              <a:t> </a:t>
            </a:r>
            <a:r>
              <a:rPr lang="ru-RU" dirty="0" err="1"/>
              <a:t>Application</a:t>
            </a:r>
            <a:r>
              <a:rPr lang="ru-RU" dirty="0"/>
              <a:t> </a:t>
            </a:r>
            <a:r>
              <a:rPr lang="ru-RU" dirty="0" err="1"/>
              <a:t>Development</a:t>
            </a:r>
            <a:r>
              <a:rPr lang="ru-RU" dirty="0"/>
              <a:t>) — методология быстрой разработки приложений, которая предполагает применение инструментальных средств визуального моделирования (прототипирования) и разработки. RAD предусматривает небольшие команды </a:t>
            </a:r>
            <a:r>
              <a:rPr lang="ru-RU" dirty="0" err="1"/>
              <a:t>разработки,сроки</a:t>
            </a:r>
            <a:r>
              <a:rPr lang="ru-RU" dirty="0"/>
              <a:t> до 4 месяцев и активное привлечение заказчика с ранних этапов. Данная методология опирается на требования, но также существует возможность их изменений в период разработки системы. Такой подход позволяет сократить расходы и свести время разработки к минимуму. </a:t>
            </a:r>
          </a:p>
        </p:txBody>
      </p:sp>
    </p:spTree>
    <p:extLst>
      <p:ext uri="{BB962C8B-B14F-4D97-AF65-F5344CB8AC3E}">
        <p14:creationId xmlns:p14="http://schemas.microsoft.com/office/powerpoint/2010/main" val="1054382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92A1993C-6878-4580-AE03-C998AAACD7EA}"/>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5289A854-7803-4767-B2BB-F6A9AF27DC5A}"/>
              </a:ext>
            </a:extLst>
          </p:cNvPr>
          <p:cNvSpPr>
            <a:spLocks noGrp="1"/>
          </p:cNvSpPr>
          <p:nvPr>
            <p:ph idx="1"/>
          </p:nvPr>
        </p:nvSpPr>
        <p:spPr/>
        <p:txBody>
          <a:bodyPr>
            <a:normAutofit fontScale="62500" lnSpcReduction="20000"/>
          </a:bodyPr>
          <a:lstStyle/>
          <a:p>
            <a:pPr marL="0" indent="0">
              <a:buNone/>
            </a:pPr>
            <a:r>
              <a:rPr lang="ru-RU" dirty="0"/>
              <a:t>Помимо особенностей, характерных для спиральной модели жизненного цикла, методология RAD подразумевает использование на каждой итерации:</a:t>
            </a:r>
          </a:p>
          <a:p>
            <a:r>
              <a:rPr lang="ru-RU" dirty="0"/>
              <a:t>CASE-средств для формирования и анализа требований, проектирования системы, автоматической генерации кода программ и структуры БД, а также автоматического тестирования программного обеспечения</a:t>
            </a:r>
          </a:p>
          <a:p>
            <a:r>
              <a:rPr lang="ru-RU" dirty="0"/>
              <a:t>Инструментальных средств, обеспечивающих визуальную разработку (программирование) системы. Среда разработки приложений позволяет без написания кода программы создавать («рисовать») сложные графические интерфейсы пользователя, состав и структуру БД, запросы к БД, а также связывать данные с элементами интерфейса (переключателями, полями ввода, таблицами и т. д.)</a:t>
            </a:r>
          </a:p>
          <a:p>
            <a:r>
              <a:rPr lang="ru-RU" dirty="0"/>
              <a:t>Инструментальных средств, поддерживающих объектно-ориентированный подход. Эти средства позволяют создать описание предметной области в виде совокупности объектов – сущностей реального мира, характеризуемых свойствами (атрибутами) и поведением (методами)</a:t>
            </a:r>
          </a:p>
          <a:p>
            <a:r>
              <a:rPr lang="ru-RU" dirty="0"/>
              <a:t>Инструментальных средств, обеспечивающих событийное программирование. Каждый объект, входящий в состав приложения, может генерировать события и реагировать на события, генерируемые другими объектами</a:t>
            </a:r>
          </a:p>
          <a:p>
            <a:r>
              <a:rPr lang="ru-RU" dirty="0"/>
              <a:t>Шаблонов и библиотек готовых решений как собственной разработки, так и сторонних производителей</a:t>
            </a:r>
          </a:p>
          <a:p>
            <a:endParaRPr lang="ru-RU" dirty="0"/>
          </a:p>
        </p:txBody>
      </p:sp>
    </p:spTree>
    <p:extLst>
      <p:ext uri="{BB962C8B-B14F-4D97-AF65-F5344CB8AC3E}">
        <p14:creationId xmlns:p14="http://schemas.microsoft.com/office/powerpoint/2010/main" val="3583016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3613D17F-435E-4D44-94FE-51849B427D64}"/>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CFBA3E3D-3207-42FB-9644-850A9E57D6CE}"/>
              </a:ext>
            </a:extLst>
          </p:cNvPr>
          <p:cNvSpPr>
            <a:spLocks noGrp="1"/>
          </p:cNvSpPr>
          <p:nvPr>
            <p:ph idx="1"/>
          </p:nvPr>
        </p:nvSpPr>
        <p:spPr/>
        <p:txBody>
          <a:bodyPr>
            <a:normAutofit lnSpcReduction="10000"/>
          </a:bodyPr>
          <a:lstStyle/>
          <a:p>
            <a:pPr marL="0" indent="0">
              <a:buNone/>
            </a:pPr>
            <a:r>
              <a:rPr lang="ru-RU" b="1" dirty="0"/>
              <a:t>XP</a:t>
            </a:r>
            <a:r>
              <a:rPr lang="ru-RU" dirty="0"/>
              <a:t> (</a:t>
            </a:r>
            <a:r>
              <a:rPr lang="ru-RU" dirty="0" err="1"/>
              <a:t>Extreme</a:t>
            </a:r>
            <a:r>
              <a:rPr lang="ru-RU" dirty="0"/>
              <a:t> </a:t>
            </a:r>
            <a:r>
              <a:rPr lang="ru-RU" dirty="0" err="1"/>
              <a:t>Programming</a:t>
            </a:r>
            <a:r>
              <a:rPr lang="ru-RU" dirty="0"/>
              <a:t>) — методология, которая ориентируется на постоянное изменение требований к продукту и предлагает 12 подходов для достижения эффективных результатов в подобных условиях. Среди них:</a:t>
            </a:r>
          </a:p>
          <a:p>
            <a:r>
              <a:rPr lang="ru-RU" dirty="0"/>
              <a:t>Быстрый план и его постоянное изменение</a:t>
            </a:r>
          </a:p>
          <a:p>
            <a:r>
              <a:rPr lang="ru-RU" dirty="0"/>
              <a:t>Простой дизайн архитектуры;</a:t>
            </a:r>
          </a:p>
          <a:p>
            <a:r>
              <a:rPr lang="ru-RU" dirty="0"/>
              <a:t>Частое тестирование;</a:t>
            </a:r>
          </a:p>
          <a:p>
            <a:r>
              <a:rPr lang="ru-RU" dirty="0"/>
              <a:t> Участие одновременно двух разработчиков в одной задаче или даже за одним рабочим местом;</a:t>
            </a:r>
          </a:p>
          <a:p>
            <a:r>
              <a:rPr lang="ru-RU" dirty="0"/>
              <a:t>Постоянная интеграция и частые небольшие релизы. </a:t>
            </a:r>
          </a:p>
          <a:p>
            <a:pPr marL="0" indent="0">
              <a:buNone/>
            </a:pPr>
            <a:endParaRPr lang="ru-RU" dirty="0"/>
          </a:p>
        </p:txBody>
      </p:sp>
    </p:spTree>
    <p:extLst>
      <p:ext uri="{BB962C8B-B14F-4D97-AF65-F5344CB8AC3E}">
        <p14:creationId xmlns:p14="http://schemas.microsoft.com/office/powerpoint/2010/main" val="26173870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C92DE307-2A60-47C7-A8CA-03E87C81B9D8}"/>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89F00F8D-29E9-4F3D-B80F-F9950E10719E}"/>
              </a:ext>
            </a:extLst>
          </p:cNvPr>
          <p:cNvSpPr>
            <a:spLocks noGrp="1"/>
          </p:cNvSpPr>
          <p:nvPr>
            <p:ph idx="1"/>
          </p:nvPr>
        </p:nvSpPr>
        <p:spPr/>
        <p:txBody>
          <a:bodyPr>
            <a:normAutofit fontScale="70000" lnSpcReduction="20000"/>
          </a:bodyPr>
          <a:lstStyle/>
          <a:p>
            <a:pPr marL="0" indent="0">
              <a:buNone/>
            </a:pPr>
            <a:r>
              <a:rPr lang="ru-RU" dirty="0"/>
              <a:t>Отличительными особенностями XP-разработки являются:</a:t>
            </a:r>
          </a:p>
          <a:p>
            <a:r>
              <a:rPr lang="ru-RU" dirty="0"/>
              <a:t>Частая смена версий и модификаций (длительность итераций вплоть до часов и минут, а обычно – 2 недели; в RAD – минимум 2 месяца)</a:t>
            </a:r>
          </a:p>
          <a:p>
            <a:r>
              <a:rPr lang="ru-RU" dirty="0"/>
              <a:t>Непрерывная связь с заказчиком – в группе все время находится квалифицированный представитель заказчика. Это самое сокровенное желание любого разработчика. Как правило, очень трудно убедить заказчика выделить такого представителя, чтобы он целыми днями (неделями) не выполнял своих прямых обязанностей на работе. Но еще труднее бывает найти именно квалифицированного специалиста, который может оперативно ответить на все увеличивающее количество вопросов со стороны команды разработчиков</a:t>
            </a:r>
          </a:p>
          <a:p>
            <a:r>
              <a:rPr lang="ru-RU" dirty="0"/>
              <a:t>Простое проектирование – при разработке всегда выбирается наиболее простое решение. «Лучше сделать простую вещь сегодня и завтра заплатить еще немного за внесение небольших изменений, чем делать сегодня сложную вещь, которая завтра может не понадобиться». Спорное утверждение, на которое можно возразить, что «скупой платит дважды». Нередко опытному разработчику, особенно неплохо разбирающемуся в поставленной задаче, видно, что если применить более сложную схему реализации некоторой функции или расширить структуру данных, то это увеличит круг решаемых задач, позволит с меньшими затратами адаптировать систему под изменяющиеся или новые требования заказчика и т. д.</a:t>
            </a:r>
          </a:p>
        </p:txBody>
      </p:sp>
    </p:spTree>
    <p:extLst>
      <p:ext uri="{BB962C8B-B14F-4D97-AF65-F5344CB8AC3E}">
        <p14:creationId xmlns:p14="http://schemas.microsoft.com/office/powerpoint/2010/main" val="4186776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F30669B-8E16-4A2C-A613-A0805BAEF3D5}"/>
              </a:ext>
            </a:extLst>
          </p:cNvPr>
          <p:cNvSpPr>
            <a:spLocks noGrp="1"/>
          </p:cNvSpPr>
          <p:nvPr>
            <p:ph type="title"/>
          </p:nvPr>
        </p:nvSpPr>
        <p:spPr/>
        <p:txBody>
          <a:bodyPr/>
          <a:lstStyle/>
          <a:p>
            <a:r>
              <a:rPr lang="ru-RU" dirty="0"/>
              <a:t>Гибкие методологии</a:t>
            </a:r>
          </a:p>
        </p:txBody>
      </p:sp>
      <p:sp>
        <p:nvSpPr>
          <p:cNvPr id="3" name="Объект 2">
            <a:extLst>
              <a:ext uri="{FF2B5EF4-FFF2-40B4-BE49-F238E27FC236}">
                <a16:creationId xmlns:a16="http://schemas.microsoft.com/office/drawing/2014/main" xmlns="" id="{432D00A5-5243-46FF-8C24-EF02A5AF3578}"/>
              </a:ext>
            </a:extLst>
          </p:cNvPr>
          <p:cNvSpPr>
            <a:spLocks noGrp="1"/>
          </p:cNvSpPr>
          <p:nvPr>
            <p:ph idx="1"/>
          </p:nvPr>
        </p:nvSpPr>
        <p:spPr/>
        <p:txBody>
          <a:bodyPr>
            <a:normAutofit fontScale="62500" lnSpcReduction="20000"/>
          </a:bodyPr>
          <a:lstStyle/>
          <a:p>
            <a:r>
              <a:rPr lang="ru-RU" dirty="0"/>
              <a:t>Простой дизайн – система должна быть спроектирована настолько просто, насколько это возможно на каждый момент времени. Чем интерфейс проще, тем быстрее и качественнее идет освоение системы пользователями. Это не означает, что интерфейс «командной строки» самый предпочтительный. Как раз наоборот, «дружественный» и простой интерфейс должен быть интуитивно-понятным для пользователя; в нем должны отсутствовать бесполезные элементы, основная цель которых – произвести визуальное впечатление на пользователя; дополнительные диалоговые окна по вводу данных в строку таблицы, когда это можно сделать непосредственно в строке этой таблицы и т. д.</a:t>
            </a:r>
          </a:p>
          <a:p>
            <a:r>
              <a:rPr lang="ru-RU" dirty="0"/>
              <a:t>Коллективное владение кодом – любой, кто видит возможность улучшить какую-то часть кода, может сделать это в любой момент времени. Это подразумевает применение одинаковых стандартов и правил оформления кода с исчерпывающими комментариями, а также и ведение общедоступной истории развития системы</a:t>
            </a:r>
          </a:p>
          <a:p>
            <a:r>
              <a:rPr lang="ru-RU" dirty="0"/>
              <a:t>Программирование в парах – на пару программистов приходится один компьютер. Пока один из них непосредственно программирует, другой обдумывает вопросы реализации требований (функций, БД и т.п.). Смысл положения заключается не в экономии на материально-техническом обеспечении команды разработчиков, а в более разумном сочетании разных видов деятельности каждого из них. Как показывает опыт, при непосредственном программировании, исправлении ошибок и т.п. программист начинает думать односторонне и все более узкими категориями. Именно поэтому во время «отдыха от компьютера» приходят наиболее удачные решения</a:t>
            </a:r>
          </a:p>
          <a:p>
            <a:r>
              <a:rPr lang="ru-RU" dirty="0"/>
              <a:t>Непрерывное и пересекающееся проектирование, разработка, интеграция и тестирование системы</a:t>
            </a:r>
          </a:p>
          <a:p>
            <a:endParaRPr lang="ru-RU" dirty="0"/>
          </a:p>
        </p:txBody>
      </p:sp>
    </p:spTree>
    <p:extLst>
      <p:ext uri="{BB962C8B-B14F-4D97-AF65-F5344CB8AC3E}">
        <p14:creationId xmlns:p14="http://schemas.microsoft.com/office/powerpoint/2010/main" val="94753967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1945</Words>
  <Application>Microsoft Office PowerPoint</Application>
  <PresentationFormat>Широкоэкранный</PresentationFormat>
  <Paragraphs>145</Paragraphs>
  <Slides>44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44</vt:i4>
      </vt:variant>
    </vt:vector>
  </HeadingPairs>
  <TitlesOfParts>
    <vt:vector size="48" baseType="lpstr">
      <vt:lpstr>Arial</vt:lpstr>
      <vt:lpstr>Calibri</vt:lpstr>
      <vt:lpstr>Calibri Light</vt:lpstr>
      <vt:lpstr>Тема Office</vt:lpstr>
      <vt:lpstr>В настоящее время наиболее распространенными являются следующие модели жизненного цикла</vt:lpstr>
      <vt:lpstr>Презентация PowerPoint</vt:lpstr>
      <vt:lpstr>Каскадная модель жизненного цикла программного обеспечения (водопад)</vt:lpstr>
      <vt:lpstr>Презентация PowerPoint</vt:lpstr>
      <vt:lpstr>Презентация PowerPoint</vt:lpstr>
      <vt:lpstr>Презентация PowerPoint</vt:lpstr>
      <vt:lpstr>Преимущества каскадной модели</vt:lpstr>
      <vt:lpstr>Недостатки каскадной модели</vt:lpstr>
      <vt:lpstr>Каскадная модель с промежуточным контролем (водоворот)</vt:lpstr>
      <vt:lpstr>Каскадная модель с промежуточным контролем (водоворот)</vt:lpstr>
      <vt:lpstr>V модель (разработка через тестирование)</vt:lpstr>
      <vt:lpstr>V модель (разработка через тестирование)</vt:lpstr>
      <vt:lpstr>Преимущества V модели</vt:lpstr>
      <vt:lpstr>Недостатки V модели</vt:lpstr>
      <vt:lpstr>Модель на основе разработки прототипа</vt:lpstr>
      <vt:lpstr>Модель на основе разработки прототипа</vt:lpstr>
      <vt:lpstr>Модель на основе разработки прототипа</vt:lpstr>
      <vt:lpstr>Преимущества прототипирования</vt:lpstr>
      <vt:lpstr>Недостатки прототипирования</vt:lpstr>
      <vt:lpstr>Итеративная модель</vt:lpstr>
      <vt:lpstr>Итеративная модель</vt:lpstr>
      <vt:lpstr>Инкрементная модель</vt:lpstr>
      <vt:lpstr>Инкрементная модель</vt:lpstr>
      <vt:lpstr>Инкрементная модель</vt:lpstr>
      <vt:lpstr>Инкрементная модель</vt:lpstr>
      <vt:lpstr>Инкрементная модель</vt:lpstr>
      <vt:lpstr>Инкрементная модель</vt:lpstr>
      <vt:lpstr>Инкрементная модель</vt:lpstr>
      <vt:lpstr>Инкрементная модель</vt:lpstr>
      <vt:lpstr>Преимущества инкрементной модели</vt:lpstr>
      <vt:lpstr>Преимущества инкрементной модели</vt:lpstr>
      <vt:lpstr>Недостатки инкрементной модели</vt:lpstr>
      <vt:lpstr>Недостатки инкрементной модели</vt:lpstr>
      <vt:lpstr>Сравнительный анализ моделей</vt:lpstr>
      <vt:lpstr>Презентация PowerPoint</vt:lpstr>
      <vt:lpstr>Гибкие методологии</vt:lpstr>
      <vt:lpstr>Гибкие методологии</vt:lpstr>
      <vt:lpstr>Гибкие методологии</vt:lpstr>
      <vt:lpstr>Гибкие методологии</vt:lpstr>
      <vt:lpstr>Гибкие методологии</vt:lpstr>
      <vt:lpstr>Гибкие методологии</vt:lpstr>
      <vt:lpstr>Гибкие методологии</vt:lpstr>
      <vt:lpstr>Гибкие методологии</vt:lpstr>
      <vt:lpstr>Гибкие методологии</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Alex</dc:creator>
  <cp:lastModifiedBy>Учетная запись Майкрософт</cp:lastModifiedBy>
  <cp:revision>13</cp:revision>
  <dcterms:created xsi:type="dcterms:W3CDTF">2021-03-02T20:11:58Z</dcterms:created>
  <dcterms:modified xsi:type="dcterms:W3CDTF">2025-12-16T00:41:17Z</dcterms:modified>
</cp:coreProperties>
</file>