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2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>
          <a:blip r:embed="rId14"/>
          <a:stretch/>
        </p:blipFill>
        <p:spPr>
          <a:xfrm>
            <a:off x="0" y="0"/>
            <a:ext cx="10083960" cy="5668200"/>
          </a:xfrm>
          <a:prstGeom prst="rect">
            <a:avLst/>
          </a:prstGeom>
          <a:ln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8"/>
          <p:cNvPicPr/>
          <p:nvPr/>
        </p:nvPicPr>
        <p:blipFill>
          <a:blip r:embed="rId14"/>
          <a:stretch/>
        </p:blipFill>
        <p:spPr>
          <a:xfrm>
            <a:off x="0" y="0"/>
            <a:ext cx="10083960" cy="5668200"/>
          </a:xfrm>
          <a:prstGeom prst="rect">
            <a:avLst/>
          </a:prstGeom>
          <a:ln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ru-RU" sz="3300" b="0" strike="noStrike" spc="-1">
                <a:solidFill>
                  <a:srgbClr val="050505"/>
                </a:solidFill>
                <a:latin typeface="Times New Roman"/>
                <a:ea typeface="DejaVu Sans"/>
              </a:rPr>
              <a:t>Инструменты проектирования информационных систем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1620000" y="1368000"/>
            <a:ext cx="8098200" cy="328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Лекция </a:t>
            </a: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  <a:ea typeface="DejaVu Sans"/>
              </a:rPr>
              <a:t>2. </a:t>
            </a:r>
            <a:r>
              <a:rPr lang="ru-RU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Графическое проектирование ИС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977" y="1509280"/>
            <a:ext cx="5410669" cy="2651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Моделирование бизнес-процессов (Business</a:t>
            </a:r>
            <a:endParaRPr lang="ru-RU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Process Modeling)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82" name="Рисунок 81"/>
          <p:cNvPicPr/>
          <p:nvPr/>
        </p:nvPicPr>
        <p:blipFill>
          <a:blip r:embed="rId2"/>
          <a:stretch/>
        </p:blipFill>
        <p:spPr>
          <a:xfrm>
            <a:off x="2664000" y="970200"/>
            <a:ext cx="5976000" cy="4414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Моделирование бизнес-процессов (Business</a:t>
            </a:r>
            <a:endParaRPr lang="ru-RU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Process Modeling)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84" name="Рисунок 83"/>
          <p:cNvPicPr/>
          <p:nvPr/>
        </p:nvPicPr>
        <p:blipFill>
          <a:blip r:embed="rId2"/>
          <a:stretch/>
        </p:blipFill>
        <p:spPr>
          <a:xfrm>
            <a:off x="2461320" y="1185120"/>
            <a:ext cx="6610680" cy="4193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Рисунок 85"/>
          <p:cNvPicPr/>
          <p:nvPr/>
        </p:nvPicPr>
        <p:blipFill>
          <a:blip r:embed="rId2"/>
          <a:stretch/>
        </p:blipFill>
        <p:spPr>
          <a:xfrm>
            <a:off x="2962354" y="3261"/>
            <a:ext cx="4707431" cy="566728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Моделирование бизнес-процессов (Business</a:t>
            </a:r>
            <a:endParaRPr lang="ru-RU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Process Modeling)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88" name="Рисунок 87"/>
          <p:cNvPicPr/>
          <p:nvPr/>
        </p:nvPicPr>
        <p:blipFill>
          <a:blip r:embed="rId2"/>
          <a:stretch/>
        </p:blipFill>
        <p:spPr>
          <a:xfrm>
            <a:off x="1872000" y="1101600"/>
            <a:ext cx="8077680" cy="3146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90" name="Рисунок 89"/>
          <p:cNvPicPr/>
          <p:nvPr/>
        </p:nvPicPr>
        <p:blipFill>
          <a:blip r:embed="rId2"/>
          <a:stretch/>
        </p:blipFill>
        <p:spPr>
          <a:xfrm>
            <a:off x="2672640" y="1067040"/>
            <a:ext cx="5895360" cy="4371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92" name="Рисунок 91"/>
          <p:cNvPicPr/>
          <p:nvPr/>
        </p:nvPicPr>
        <p:blipFill>
          <a:blip r:embed="rId2"/>
          <a:stretch/>
        </p:blipFill>
        <p:spPr>
          <a:xfrm>
            <a:off x="2611800" y="1016280"/>
            <a:ext cx="5848200" cy="4416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94" name="Рисунок 93"/>
          <p:cNvPicPr/>
          <p:nvPr/>
        </p:nvPicPr>
        <p:blipFill>
          <a:blip r:embed="rId2"/>
          <a:stretch/>
        </p:blipFill>
        <p:spPr>
          <a:xfrm>
            <a:off x="2125440" y="1008000"/>
            <a:ext cx="6946560" cy="4504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96" name="Рисунок 95"/>
          <p:cNvPicPr/>
          <p:nvPr/>
        </p:nvPicPr>
        <p:blipFill>
          <a:blip r:embed="rId2"/>
          <a:stretch/>
        </p:blipFill>
        <p:spPr>
          <a:xfrm>
            <a:off x="2052360" y="1010520"/>
            <a:ext cx="7220880" cy="4317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98" name="Рисунок 97"/>
          <p:cNvPicPr/>
          <p:nvPr/>
        </p:nvPicPr>
        <p:blipFill>
          <a:blip r:embed="rId2"/>
          <a:stretch/>
        </p:blipFill>
        <p:spPr>
          <a:xfrm>
            <a:off x="1962360" y="982080"/>
            <a:ext cx="7571880" cy="4417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00" name="Рисунок 99"/>
          <p:cNvPicPr/>
          <p:nvPr/>
        </p:nvPicPr>
        <p:blipFill>
          <a:blip r:embed="rId2"/>
          <a:stretch/>
        </p:blipFill>
        <p:spPr>
          <a:xfrm>
            <a:off x="1728000" y="975600"/>
            <a:ext cx="7874280" cy="4280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IDEF0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02" name="Рисунок 101"/>
          <p:cNvPicPr/>
          <p:nvPr/>
        </p:nvPicPr>
        <p:blipFill>
          <a:blip r:embed="rId2"/>
          <a:stretch/>
        </p:blipFill>
        <p:spPr>
          <a:xfrm>
            <a:off x="1797840" y="1008000"/>
            <a:ext cx="7994160" cy="324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1620000" y="3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IDEF0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04" name="Рисунок 103"/>
          <p:cNvPicPr/>
          <p:nvPr/>
        </p:nvPicPr>
        <p:blipFill>
          <a:blip r:embed="rId2"/>
          <a:stretch/>
        </p:blipFill>
        <p:spPr>
          <a:xfrm>
            <a:off x="2916360" y="648000"/>
            <a:ext cx="4895640" cy="4990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IDEF3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06" name="Рисунок 105"/>
          <p:cNvPicPr/>
          <p:nvPr/>
        </p:nvPicPr>
        <p:blipFill>
          <a:blip r:embed="rId2"/>
          <a:stretch/>
        </p:blipFill>
        <p:spPr>
          <a:xfrm>
            <a:off x="1972440" y="1287360"/>
            <a:ext cx="7353000" cy="3392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IDEF3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08" name="Рисунок 107"/>
          <p:cNvPicPr/>
          <p:nvPr/>
        </p:nvPicPr>
        <p:blipFill>
          <a:blip r:embed="rId2"/>
          <a:stretch/>
        </p:blipFill>
        <p:spPr>
          <a:xfrm>
            <a:off x="1874880" y="1150200"/>
            <a:ext cx="7723800" cy="4105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IDEF0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10" name="Рисунок 109"/>
          <p:cNvPicPr/>
          <p:nvPr/>
        </p:nvPicPr>
        <p:blipFill>
          <a:blip r:embed="rId2"/>
          <a:stretch/>
        </p:blipFill>
        <p:spPr>
          <a:xfrm>
            <a:off x="2232000" y="1046160"/>
            <a:ext cx="6696000" cy="424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IDEF0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12" name="Рисунок 111"/>
          <p:cNvPicPr/>
          <p:nvPr/>
        </p:nvPicPr>
        <p:blipFill>
          <a:blip r:embed="rId2"/>
          <a:stretch/>
        </p:blipFill>
        <p:spPr>
          <a:xfrm rot="5417400">
            <a:off x="3633840" y="-793440"/>
            <a:ext cx="4540320" cy="8184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IDEF0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14" name="Рисунок 113"/>
          <p:cNvPicPr/>
          <p:nvPr/>
        </p:nvPicPr>
        <p:blipFill>
          <a:blip r:embed="rId2"/>
          <a:stretch/>
        </p:blipFill>
        <p:spPr>
          <a:xfrm rot="5416800">
            <a:off x="3527640" y="-866520"/>
            <a:ext cx="4464360" cy="8186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IDEF3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16" name="Рисунок 115"/>
          <p:cNvPicPr/>
          <p:nvPr/>
        </p:nvPicPr>
        <p:blipFill>
          <a:blip r:embed="rId2"/>
          <a:stretch/>
        </p:blipFill>
        <p:spPr>
          <a:xfrm>
            <a:off x="1692360" y="1008000"/>
            <a:ext cx="8148600" cy="4176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IDEF3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18" name="Рисунок 117"/>
          <p:cNvPicPr/>
          <p:nvPr/>
        </p:nvPicPr>
        <p:blipFill>
          <a:blip r:embed="rId2"/>
          <a:stretch/>
        </p:blipFill>
        <p:spPr>
          <a:xfrm>
            <a:off x="2304000" y="908640"/>
            <a:ext cx="6552000" cy="4588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IDEF3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20" name="Рисунок 119"/>
          <p:cNvPicPr/>
          <p:nvPr/>
        </p:nvPicPr>
        <p:blipFill>
          <a:blip r:embed="rId2"/>
          <a:stretch/>
        </p:blipFill>
        <p:spPr>
          <a:xfrm rot="5403000">
            <a:off x="3704760" y="-1104840"/>
            <a:ext cx="4244040" cy="825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DFD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22" name="Рисунок 121"/>
          <p:cNvPicPr/>
          <p:nvPr/>
        </p:nvPicPr>
        <p:blipFill>
          <a:blip r:embed="rId2"/>
          <a:stretch/>
        </p:blipFill>
        <p:spPr>
          <a:xfrm>
            <a:off x="1740960" y="920160"/>
            <a:ext cx="8027640" cy="2751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DFD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24" name="Рисунок 123"/>
          <p:cNvPicPr/>
          <p:nvPr/>
        </p:nvPicPr>
        <p:blipFill>
          <a:blip r:embed="rId2"/>
          <a:stretch/>
        </p:blipFill>
        <p:spPr>
          <a:xfrm>
            <a:off x="2844000" y="936000"/>
            <a:ext cx="5976000" cy="45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DFD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26" name="Рисунок 125"/>
          <p:cNvPicPr/>
          <p:nvPr/>
        </p:nvPicPr>
        <p:blipFill>
          <a:blip r:embed="rId2"/>
          <a:stretch/>
        </p:blipFill>
        <p:spPr>
          <a:xfrm rot="5383800">
            <a:off x="3579120" y="-923400"/>
            <a:ext cx="4464000" cy="81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UML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28" name="Рисунок 127"/>
          <p:cNvPicPr/>
          <p:nvPr/>
        </p:nvPicPr>
        <p:blipFill>
          <a:blip r:embed="rId2"/>
          <a:stretch/>
        </p:blipFill>
        <p:spPr>
          <a:xfrm>
            <a:off x="1654560" y="864000"/>
            <a:ext cx="7849440" cy="4559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UML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30" name="Рисунок 129"/>
          <p:cNvPicPr/>
          <p:nvPr/>
        </p:nvPicPr>
        <p:blipFill>
          <a:blip r:embed="rId2"/>
          <a:stretch/>
        </p:blipFill>
        <p:spPr>
          <a:xfrm>
            <a:off x="46800" y="2021040"/>
            <a:ext cx="10080360" cy="1673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UML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32" name="Рисунок 131"/>
          <p:cNvPicPr/>
          <p:nvPr/>
        </p:nvPicPr>
        <p:blipFill>
          <a:blip r:embed="rId2"/>
          <a:stretch/>
        </p:blipFill>
        <p:spPr>
          <a:xfrm>
            <a:off x="2448000" y="864000"/>
            <a:ext cx="6408000" cy="4667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34" name="Рисунок 133"/>
          <p:cNvPicPr/>
          <p:nvPr/>
        </p:nvPicPr>
        <p:blipFill>
          <a:blip r:embed="rId2"/>
          <a:stretch/>
        </p:blipFill>
        <p:spPr>
          <a:xfrm>
            <a:off x="1813320" y="993960"/>
            <a:ext cx="7186680" cy="1674000"/>
          </a:xfrm>
          <a:prstGeom prst="rect">
            <a:avLst/>
          </a:prstGeom>
          <a:ln>
            <a:noFill/>
          </a:ln>
        </p:spPr>
      </p:pic>
      <p:pic>
        <p:nvPicPr>
          <p:cNvPr id="135" name="Рисунок 134"/>
          <p:cNvPicPr/>
          <p:nvPr/>
        </p:nvPicPr>
        <p:blipFill>
          <a:blip r:embed="rId3"/>
          <a:stretch/>
        </p:blipFill>
        <p:spPr>
          <a:xfrm>
            <a:off x="1853280" y="2736000"/>
            <a:ext cx="7048080" cy="187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37" name="Рисунок 136"/>
          <p:cNvPicPr/>
          <p:nvPr/>
        </p:nvPicPr>
        <p:blipFill>
          <a:blip r:embed="rId2"/>
          <a:stretch/>
        </p:blipFill>
        <p:spPr>
          <a:xfrm>
            <a:off x="2329560" y="860400"/>
            <a:ext cx="6562440" cy="4700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39" name="Рисунок 138"/>
          <p:cNvPicPr/>
          <p:nvPr/>
        </p:nvPicPr>
        <p:blipFill>
          <a:blip r:embed="rId2"/>
          <a:stretch/>
        </p:blipFill>
        <p:spPr>
          <a:xfrm>
            <a:off x="1728000" y="952200"/>
            <a:ext cx="8241120" cy="3151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41" name="Рисунок 140"/>
          <p:cNvPicPr/>
          <p:nvPr/>
        </p:nvPicPr>
        <p:blipFill>
          <a:blip r:embed="rId2"/>
          <a:stretch/>
        </p:blipFill>
        <p:spPr>
          <a:xfrm>
            <a:off x="1688400" y="936000"/>
            <a:ext cx="8140680" cy="352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43" name="Рисунок 142"/>
          <p:cNvPicPr/>
          <p:nvPr/>
        </p:nvPicPr>
        <p:blipFill>
          <a:blip r:embed="rId2"/>
          <a:stretch/>
        </p:blipFill>
        <p:spPr>
          <a:xfrm>
            <a:off x="1656000" y="898200"/>
            <a:ext cx="8208000" cy="3859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45" name="Рисунок 144"/>
          <p:cNvPicPr/>
          <p:nvPr/>
        </p:nvPicPr>
        <p:blipFill>
          <a:blip r:embed="rId2"/>
          <a:stretch/>
        </p:blipFill>
        <p:spPr>
          <a:xfrm>
            <a:off x="1728000" y="936000"/>
            <a:ext cx="8207280" cy="316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47" name="Рисунок 146"/>
          <p:cNvPicPr/>
          <p:nvPr/>
        </p:nvPicPr>
        <p:blipFill>
          <a:blip r:embed="rId2"/>
          <a:stretch/>
        </p:blipFill>
        <p:spPr>
          <a:xfrm>
            <a:off x="1789200" y="864000"/>
            <a:ext cx="8179920" cy="3816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49" name="Рисунок 148"/>
          <p:cNvPicPr/>
          <p:nvPr/>
        </p:nvPicPr>
        <p:blipFill>
          <a:blip r:embed="rId2"/>
          <a:stretch/>
        </p:blipFill>
        <p:spPr>
          <a:xfrm>
            <a:off x="1872000" y="1008000"/>
            <a:ext cx="7543080" cy="331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51" name="Рисунок 150"/>
          <p:cNvPicPr/>
          <p:nvPr/>
        </p:nvPicPr>
        <p:blipFill>
          <a:blip r:embed="rId2"/>
          <a:stretch/>
        </p:blipFill>
        <p:spPr>
          <a:xfrm>
            <a:off x="1728000" y="864000"/>
            <a:ext cx="7992000" cy="4458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53" name="Рисунок 152"/>
          <p:cNvPicPr/>
          <p:nvPr/>
        </p:nvPicPr>
        <p:blipFill>
          <a:blip r:embed="rId2"/>
          <a:stretch/>
        </p:blipFill>
        <p:spPr>
          <a:xfrm>
            <a:off x="1772280" y="1012320"/>
            <a:ext cx="7710480" cy="3523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55" name="Рисунок 154"/>
          <p:cNvPicPr/>
          <p:nvPr/>
        </p:nvPicPr>
        <p:blipFill>
          <a:blip r:embed="rId2"/>
          <a:stretch/>
        </p:blipFill>
        <p:spPr>
          <a:xfrm>
            <a:off x="1728000" y="1001520"/>
            <a:ext cx="8089560" cy="2382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620000" y="216000"/>
            <a:ext cx="8098200" cy="9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USE CASE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57" name="Рисунок 156"/>
          <p:cNvPicPr/>
          <p:nvPr/>
        </p:nvPicPr>
        <p:blipFill>
          <a:blip r:embed="rId2"/>
          <a:stretch/>
        </p:blipFill>
        <p:spPr>
          <a:xfrm>
            <a:off x="1752120" y="936000"/>
            <a:ext cx="7904520" cy="2736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77</Words>
  <Application>Microsoft Office PowerPoint</Application>
  <PresentationFormat>Произвольный</PresentationFormat>
  <Paragraphs>42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40</vt:i4>
      </vt:variant>
    </vt:vector>
  </HeadingPairs>
  <TitlesOfParts>
    <vt:vector size="47" baseType="lpstr">
      <vt:lpstr>Arial</vt:lpstr>
      <vt:lpstr>DejaVu Sans</vt:lpstr>
      <vt:lpstr>Symbol</vt:lpstr>
      <vt:lpstr>Times New Roman</vt:lpstr>
      <vt:lpstr>Wingdings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</dc:title>
  <dc:subject/>
  <dc:creator/>
  <dc:description/>
  <cp:lastModifiedBy>Учетная запись Майкрософт</cp:lastModifiedBy>
  <cp:revision>14</cp:revision>
  <dcterms:created xsi:type="dcterms:W3CDTF">2021-01-14T11:23:14Z</dcterms:created>
  <dcterms:modified xsi:type="dcterms:W3CDTF">2025-09-22T07:11:19Z</dcterms:modified>
  <dc:language>ru-RU</dc:language>
</cp:coreProperties>
</file>