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2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200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 fontScale="56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>
          <a:blip r:embed="rId14"/>
          <a:stretch/>
        </p:blipFill>
        <p:spPr>
          <a:xfrm>
            <a:off x="0" y="0"/>
            <a:ext cx="10084680" cy="5668920"/>
          </a:xfrm>
          <a:prstGeom prst="rect">
            <a:avLst/>
          </a:prstGeom>
          <a:ln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8"/>
          <p:cNvPicPr/>
          <p:nvPr/>
        </p:nvPicPr>
        <p:blipFill>
          <a:blip r:embed="rId14"/>
          <a:stretch/>
        </p:blipFill>
        <p:spPr>
          <a:xfrm>
            <a:off x="0" y="0"/>
            <a:ext cx="10084680" cy="5668920"/>
          </a:xfrm>
          <a:prstGeom prst="rect">
            <a:avLst/>
          </a:prstGeom>
          <a:ln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ru-RU" sz="3300" b="0" strike="noStrike" spc="-1">
                <a:solidFill>
                  <a:srgbClr val="050505"/>
                </a:solidFill>
                <a:latin typeface="Times New Roman"/>
                <a:ea typeface="DejaVu Sans"/>
              </a:rPr>
              <a:t>Инструменты проектирования информационных систем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Лекция </a:t>
            </a:r>
            <a:r>
              <a:rPr lang="en-US" sz="3200" b="0" strike="noStrike" spc="-1" dirty="0" smtClean="0">
                <a:solidFill>
                  <a:srgbClr val="000000"/>
                </a:solidFill>
                <a:latin typeface="Times New Roman"/>
                <a:ea typeface="DejaVu Sans"/>
              </a:rPr>
              <a:t>5</a:t>
            </a: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  <a:ea typeface="DejaVu Sans"/>
              </a:rPr>
              <a:t>. </a:t>
            </a:r>
            <a:r>
              <a:rPr lang="ru-RU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Стандарты Жизненного цикла и проектной деятельности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3300" b="0" strike="noStrike" spc="-1">
                <a:solidFill>
                  <a:srgbClr val="050505"/>
                </a:solidFill>
                <a:latin typeface="Times New Roman"/>
                <a:ea typeface="DejaVu Sans"/>
              </a:rPr>
              <a:t>Учебные вопросы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fontScale="92000"/>
          </a:bodyPr>
          <a:lstStyle/>
          <a:p>
            <a:pPr algn="ctr">
              <a:lnSpc>
                <a:spcPct val="100000"/>
              </a:lnSpc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1. Нормативно-методическое обеспечение (НМО) ЖЦ ИС</a:t>
            </a:r>
            <a:endParaRPr lang="ru-RU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2. Стандарты на процессы жизненного цикла</a:t>
            </a:r>
            <a:endParaRPr lang="ru-RU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3. ISO/IEC 12207</a:t>
            </a:r>
            <a:endParaRPr lang="ru-RU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4. ISO/IEC 15288</a:t>
            </a:r>
            <a:endParaRPr lang="ru-RU" sz="24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5. ГОСТы 34.xxx и 19.ххх</a:t>
            </a:r>
            <a:endParaRPr lang="ru-RU" sz="24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6. </a:t>
            </a: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Стандарт ISO 21 500:2012</a:t>
            </a:r>
            <a:endParaRPr lang="ru-RU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7. Документирование проекта</a:t>
            </a:r>
            <a:endParaRPr lang="ru-RU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8. ЕСПД</a:t>
            </a:r>
            <a:endParaRPr lang="ru-RU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1060"/>
              </a:spcAft>
            </a:pPr>
            <a:endParaRPr lang="ru-RU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1060"/>
              </a:spcAft>
            </a:pP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83" name="Рисунок 82"/>
          <p:cNvPicPr/>
          <p:nvPr/>
        </p:nvPicPr>
        <p:blipFill>
          <a:blip r:embed="rId2"/>
          <a:stretch/>
        </p:blipFill>
        <p:spPr>
          <a:xfrm>
            <a:off x="1644480" y="1146960"/>
            <a:ext cx="6790680" cy="3637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85" name="Рисунок 84"/>
          <p:cNvPicPr/>
          <p:nvPr/>
        </p:nvPicPr>
        <p:blipFill>
          <a:blip r:embed="rId2"/>
          <a:stretch/>
        </p:blipFill>
        <p:spPr>
          <a:xfrm>
            <a:off x="1668240" y="965880"/>
            <a:ext cx="6743160" cy="3999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87" name="Рисунок 86"/>
          <p:cNvPicPr/>
          <p:nvPr/>
        </p:nvPicPr>
        <p:blipFill>
          <a:blip r:embed="rId2"/>
          <a:stretch/>
        </p:blipFill>
        <p:spPr>
          <a:xfrm>
            <a:off x="1715760" y="1141920"/>
            <a:ext cx="6647760" cy="3647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89" name="Рисунок 88"/>
          <p:cNvPicPr/>
          <p:nvPr/>
        </p:nvPicPr>
        <p:blipFill>
          <a:blip r:embed="rId2"/>
          <a:stretch/>
        </p:blipFill>
        <p:spPr>
          <a:xfrm>
            <a:off x="1939680" y="1180080"/>
            <a:ext cx="6199920" cy="3571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91" name="Рисунок 90"/>
          <p:cNvPicPr/>
          <p:nvPr/>
        </p:nvPicPr>
        <p:blipFill>
          <a:blip r:embed="rId2"/>
          <a:stretch/>
        </p:blipFill>
        <p:spPr>
          <a:xfrm>
            <a:off x="1844280" y="1666080"/>
            <a:ext cx="6390720" cy="2599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93" name="Рисунок 92"/>
          <p:cNvPicPr/>
          <p:nvPr/>
        </p:nvPicPr>
        <p:blipFill>
          <a:blip r:embed="rId2"/>
          <a:stretch/>
        </p:blipFill>
        <p:spPr>
          <a:xfrm>
            <a:off x="1906200" y="1337400"/>
            <a:ext cx="6266880" cy="325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95" name="Рисунок 94"/>
          <p:cNvPicPr/>
          <p:nvPr/>
        </p:nvPicPr>
        <p:blipFill>
          <a:blip r:embed="rId2"/>
          <a:stretch/>
        </p:blipFill>
        <p:spPr>
          <a:xfrm>
            <a:off x="1706400" y="945360"/>
            <a:ext cx="6666840" cy="4257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97" name="Рисунок 96"/>
          <p:cNvPicPr/>
          <p:nvPr/>
        </p:nvPicPr>
        <p:blipFill>
          <a:blip r:embed="rId2"/>
          <a:stretch/>
        </p:blipFill>
        <p:spPr>
          <a:xfrm>
            <a:off x="1779120" y="516600"/>
            <a:ext cx="6428520" cy="1571040"/>
          </a:xfrm>
          <a:prstGeom prst="rect">
            <a:avLst/>
          </a:prstGeom>
          <a:ln>
            <a:noFill/>
          </a:ln>
        </p:spPr>
      </p:pic>
      <p:pic>
        <p:nvPicPr>
          <p:cNvPr id="98" name="Рисунок 97"/>
          <p:cNvPicPr/>
          <p:nvPr/>
        </p:nvPicPr>
        <p:blipFill>
          <a:blip r:embed="rId3"/>
          <a:stretch/>
        </p:blipFill>
        <p:spPr>
          <a:xfrm>
            <a:off x="1908000" y="2052000"/>
            <a:ext cx="6295320" cy="3590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00" name="Рисунок 99"/>
          <p:cNvPicPr/>
          <p:nvPr/>
        </p:nvPicPr>
        <p:blipFill>
          <a:blip r:embed="rId2"/>
          <a:stretch/>
        </p:blipFill>
        <p:spPr>
          <a:xfrm>
            <a:off x="1696680" y="937440"/>
            <a:ext cx="6685920" cy="4056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Нормативно-методическое обеспечение (НМО)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02" name="Рисунок 101"/>
          <p:cNvPicPr/>
          <p:nvPr/>
        </p:nvPicPr>
        <p:blipFill>
          <a:blip r:embed="rId2"/>
          <a:stretch/>
        </p:blipFill>
        <p:spPr>
          <a:xfrm>
            <a:off x="1834920" y="1008000"/>
            <a:ext cx="6409440" cy="1647000"/>
          </a:xfrm>
          <a:prstGeom prst="rect">
            <a:avLst/>
          </a:prstGeom>
          <a:ln>
            <a:noFill/>
          </a:ln>
        </p:spPr>
      </p:pic>
      <p:pic>
        <p:nvPicPr>
          <p:cNvPr id="103" name="Рисунок 102"/>
          <p:cNvPicPr/>
          <p:nvPr/>
        </p:nvPicPr>
        <p:blipFill>
          <a:blip r:embed="rId3"/>
          <a:stretch/>
        </p:blipFill>
        <p:spPr>
          <a:xfrm>
            <a:off x="1885680" y="2611080"/>
            <a:ext cx="6523920" cy="637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Стандарты на процессы ЖЦ ИС.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05" name="Рисунок 104"/>
          <p:cNvPicPr/>
          <p:nvPr/>
        </p:nvPicPr>
        <p:blipFill>
          <a:blip r:embed="rId2"/>
          <a:stretch/>
        </p:blipFill>
        <p:spPr>
          <a:xfrm>
            <a:off x="1672920" y="1751760"/>
            <a:ext cx="6733440" cy="242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07" name="Рисунок 106"/>
          <p:cNvPicPr/>
          <p:nvPr/>
        </p:nvPicPr>
        <p:blipFill>
          <a:blip r:embed="rId2"/>
          <a:stretch/>
        </p:blipFill>
        <p:spPr>
          <a:xfrm>
            <a:off x="1692000" y="1484280"/>
            <a:ext cx="8207640" cy="229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09" name="Рисунок 108"/>
          <p:cNvPicPr/>
          <p:nvPr/>
        </p:nvPicPr>
        <p:blipFill>
          <a:blip r:embed="rId2"/>
          <a:stretch/>
        </p:blipFill>
        <p:spPr>
          <a:xfrm>
            <a:off x="4816440" y="274680"/>
            <a:ext cx="3400200" cy="5124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11" name="Рисунок 110"/>
          <p:cNvPicPr/>
          <p:nvPr/>
        </p:nvPicPr>
        <p:blipFill>
          <a:blip r:embed="rId2"/>
          <a:stretch/>
        </p:blipFill>
        <p:spPr>
          <a:xfrm>
            <a:off x="1672920" y="1180080"/>
            <a:ext cx="6733440" cy="3571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13" name="Рисунок 112"/>
          <p:cNvPicPr/>
          <p:nvPr/>
        </p:nvPicPr>
        <p:blipFill>
          <a:blip r:embed="rId2"/>
          <a:stretch/>
        </p:blipFill>
        <p:spPr>
          <a:xfrm>
            <a:off x="1877760" y="875520"/>
            <a:ext cx="6323760" cy="4180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15" name="Рисунок 114"/>
          <p:cNvPicPr/>
          <p:nvPr/>
        </p:nvPicPr>
        <p:blipFill>
          <a:blip r:embed="rId2"/>
          <a:stretch/>
        </p:blipFill>
        <p:spPr>
          <a:xfrm>
            <a:off x="1730160" y="1166040"/>
            <a:ext cx="6619320" cy="3599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17" name="Рисунок 116"/>
          <p:cNvPicPr/>
          <p:nvPr/>
        </p:nvPicPr>
        <p:blipFill>
          <a:blip r:embed="rId2"/>
          <a:stretch/>
        </p:blipFill>
        <p:spPr>
          <a:xfrm>
            <a:off x="1701720" y="1756440"/>
            <a:ext cx="6676200" cy="2418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19" name="Рисунок 118"/>
          <p:cNvPicPr/>
          <p:nvPr/>
        </p:nvPicPr>
        <p:blipFill>
          <a:blip r:embed="rId2"/>
          <a:stretch/>
        </p:blipFill>
        <p:spPr>
          <a:xfrm>
            <a:off x="1525320" y="1794600"/>
            <a:ext cx="7028640" cy="2342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21" name="Рисунок 120"/>
          <p:cNvPicPr/>
          <p:nvPr/>
        </p:nvPicPr>
        <p:blipFill>
          <a:blip r:embed="rId2"/>
          <a:stretch/>
        </p:blipFill>
        <p:spPr>
          <a:xfrm>
            <a:off x="1382400" y="1846800"/>
            <a:ext cx="7314480" cy="2237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23" name="Рисунок 122"/>
          <p:cNvPicPr/>
          <p:nvPr/>
        </p:nvPicPr>
        <p:blipFill>
          <a:blip r:embed="rId2"/>
          <a:stretch/>
        </p:blipFill>
        <p:spPr>
          <a:xfrm>
            <a:off x="1358640" y="1756440"/>
            <a:ext cx="7362000" cy="2418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25" name="Рисунок 124"/>
          <p:cNvPicPr/>
          <p:nvPr/>
        </p:nvPicPr>
        <p:blipFill>
          <a:blip r:embed="rId2"/>
          <a:stretch/>
        </p:blipFill>
        <p:spPr>
          <a:xfrm>
            <a:off x="1434960" y="913320"/>
            <a:ext cx="7209720" cy="4104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12207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27" name="Рисунок 126"/>
          <p:cNvPicPr/>
          <p:nvPr/>
        </p:nvPicPr>
        <p:blipFill>
          <a:blip r:embed="rId2"/>
          <a:stretch/>
        </p:blipFill>
        <p:spPr>
          <a:xfrm>
            <a:off x="1572840" y="1670760"/>
            <a:ext cx="6933600" cy="2590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15288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29" name="Рисунок 128"/>
          <p:cNvPicPr/>
          <p:nvPr/>
        </p:nvPicPr>
        <p:blipFill>
          <a:blip r:embed="rId2"/>
          <a:stretch/>
        </p:blipFill>
        <p:spPr>
          <a:xfrm>
            <a:off x="1625400" y="1294560"/>
            <a:ext cx="6828840" cy="3342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15288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31" name="Рисунок 130"/>
          <p:cNvPicPr/>
          <p:nvPr/>
        </p:nvPicPr>
        <p:blipFill>
          <a:blip r:embed="rId2"/>
          <a:stretch/>
        </p:blipFill>
        <p:spPr>
          <a:xfrm>
            <a:off x="1734840" y="1351800"/>
            <a:ext cx="6609600" cy="3228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15288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33" name="Рисунок 132"/>
          <p:cNvPicPr/>
          <p:nvPr/>
        </p:nvPicPr>
        <p:blipFill>
          <a:blip r:embed="rId2"/>
          <a:stretch/>
        </p:blipFill>
        <p:spPr>
          <a:xfrm>
            <a:off x="2411280" y="1670760"/>
            <a:ext cx="5257080" cy="2590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15288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35" name="Рисунок 134"/>
          <p:cNvPicPr/>
          <p:nvPr/>
        </p:nvPicPr>
        <p:blipFill>
          <a:blip r:embed="rId2"/>
          <a:stretch/>
        </p:blipFill>
        <p:spPr>
          <a:xfrm>
            <a:off x="1849320" y="935640"/>
            <a:ext cx="6381000" cy="4276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ISO\IEC 15288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37" name="Рисунок 136"/>
          <p:cNvPicPr/>
          <p:nvPr/>
        </p:nvPicPr>
        <p:blipFill>
          <a:blip r:embed="rId2"/>
          <a:stretch/>
        </p:blipFill>
        <p:spPr>
          <a:xfrm>
            <a:off x="1849320" y="1456560"/>
            <a:ext cx="6381000" cy="3018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39" name="Рисунок 138"/>
          <p:cNvPicPr/>
          <p:nvPr/>
        </p:nvPicPr>
        <p:blipFill>
          <a:blip r:embed="rId2"/>
          <a:stretch/>
        </p:blipFill>
        <p:spPr>
          <a:xfrm>
            <a:off x="1768320" y="1675440"/>
            <a:ext cx="6543000" cy="2580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41" name="Рисунок 140"/>
          <p:cNvPicPr/>
          <p:nvPr/>
        </p:nvPicPr>
        <p:blipFill>
          <a:blip r:embed="rId2"/>
          <a:stretch/>
        </p:blipFill>
        <p:spPr>
          <a:xfrm>
            <a:off x="1606320" y="1789920"/>
            <a:ext cx="6866640" cy="2351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43" name="Рисунок 142"/>
          <p:cNvPicPr/>
          <p:nvPr/>
        </p:nvPicPr>
        <p:blipFill>
          <a:blip r:embed="rId2"/>
          <a:stretch/>
        </p:blipFill>
        <p:spPr>
          <a:xfrm>
            <a:off x="1725480" y="1656360"/>
            <a:ext cx="6628680" cy="2618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45" name="Рисунок 144"/>
          <p:cNvPicPr/>
          <p:nvPr/>
        </p:nvPicPr>
        <p:blipFill>
          <a:blip r:embed="rId2"/>
          <a:stretch/>
        </p:blipFill>
        <p:spPr>
          <a:xfrm>
            <a:off x="1806480" y="1303920"/>
            <a:ext cx="6466680" cy="3323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47" name="Рисунок 146"/>
          <p:cNvPicPr/>
          <p:nvPr/>
        </p:nvPicPr>
        <p:blipFill>
          <a:blip r:embed="rId2"/>
          <a:stretch/>
        </p:blipFill>
        <p:spPr>
          <a:xfrm>
            <a:off x="1792080" y="1480320"/>
            <a:ext cx="6495480" cy="2971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49" name="Рисунок 148"/>
          <p:cNvPicPr/>
          <p:nvPr/>
        </p:nvPicPr>
        <p:blipFill>
          <a:blip r:embed="rId2"/>
          <a:stretch/>
        </p:blipFill>
        <p:spPr>
          <a:xfrm>
            <a:off x="1800360" y="933120"/>
            <a:ext cx="6695280" cy="4466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51" name="Рисунок 150"/>
          <p:cNvPicPr/>
          <p:nvPr/>
        </p:nvPicPr>
        <p:blipFill>
          <a:blip r:embed="rId2"/>
          <a:stretch/>
        </p:blipFill>
        <p:spPr>
          <a:xfrm>
            <a:off x="1672920" y="1799280"/>
            <a:ext cx="6733440" cy="2332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53" name="Рисунок 152"/>
          <p:cNvPicPr/>
          <p:nvPr/>
        </p:nvPicPr>
        <p:blipFill>
          <a:blip r:embed="rId2"/>
          <a:stretch/>
        </p:blipFill>
        <p:spPr>
          <a:xfrm>
            <a:off x="1625400" y="1313640"/>
            <a:ext cx="6828840" cy="330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 34.601-90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55" name="Рисунок 154"/>
          <p:cNvPicPr/>
          <p:nvPr/>
        </p:nvPicPr>
        <p:blipFill>
          <a:blip r:embed="rId2"/>
          <a:stretch/>
        </p:blipFill>
        <p:spPr>
          <a:xfrm>
            <a:off x="1649160" y="1189800"/>
            <a:ext cx="6780960" cy="3552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ГОСТы 34.xxx и 19.ххх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57" name="Рисунок 156"/>
          <p:cNvPicPr/>
          <p:nvPr/>
        </p:nvPicPr>
        <p:blipFill>
          <a:blip r:embed="rId2"/>
          <a:stretch/>
        </p:blipFill>
        <p:spPr>
          <a:xfrm>
            <a:off x="1722600" y="818280"/>
            <a:ext cx="7714440" cy="4295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ГОСТы 34.xxx и 19.ххх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59" name="Рисунок 158"/>
          <p:cNvPicPr/>
          <p:nvPr/>
        </p:nvPicPr>
        <p:blipFill>
          <a:blip r:embed="rId2"/>
          <a:stretch/>
        </p:blipFill>
        <p:spPr>
          <a:xfrm>
            <a:off x="1758600" y="1513440"/>
            <a:ext cx="7714440" cy="2904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ГОСТы 34.xxx и 19.ххх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61" name="Рисунок 160"/>
          <p:cNvPicPr/>
          <p:nvPr/>
        </p:nvPicPr>
        <p:blipFill>
          <a:blip r:embed="rId2"/>
          <a:stretch/>
        </p:blipFill>
        <p:spPr>
          <a:xfrm>
            <a:off x="1685880" y="1775520"/>
            <a:ext cx="7571520" cy="2380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ГОСТы 34.xxx и 19.ххх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63" name="Рисунок 162"/>
          <p:cNvPicPr/>
          <p:nvPr/>
        </p:nvPicPr>
        <p:blipFill>
          <a:blip r:embed="rId2"/>
          <a:stretch/>
        </p:blipFill>
        <p:spPr>
          <a:xfrm>
            <a:off x="1650600" y="1784880"/>
            <a:ext cx="7714440" cy="2361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2400" b="0" strike="noStrike" spc="-1">
                <a:solidFill>
                  <a:srgbClr val="050505"/>
                </a:solidFill>
                <a:latin typeface="Arial"/>
                <a:ea typeface="DejaVu Sans"/>
              </a:rPr>
              <a:t>ГОСТы 34.xxx и 19.ххх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165" name="Рисунок 164"/>
          <p:cNvPicPr/>
          <p:nvPr/>
        </p:nvPicPr>
        <p:blipFill>
          <a:blip r:embed="rId2"/>
          <a:stretch/>
        </p:blipFill>
        <p:spPr>
          <a:xfrm>
            <a:off x="1674360" y="1918440"/>
            <a:ext cx="7666920" cy="2094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Стандарт ISO 21 500:2012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67" name="Рисунок 166"/>
          <p:cNvPicPr/>
          <p:nvPr/>
        </p:nvPicPr>
        <p:blipFill>
          <a:blip r:embed="rId2"/>
          <a:stretch/>
        </p:blipFill>
        <p:spPr>
          <a:xfrm>
            <a:off x="1679040" y="1247040"/>
            <a:ext cx="7657560" cy="343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Стандарт ISO 21 500:2012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69" name="Рисунок 168"/>
          <p:cNvPicPr/>
          <p:nvPr/>
        </p:nvPicPr>
        <p:blipFill>
          <a:blip r:embed="rId2"/>
          <a:stretch/>
        </p:blipFill>
        <p:spPr>
          <a:xfrm>
            <a:off x="1597680" y="1123200"/>
            <a:ext cx="7676280" cy="368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Стандарт ISO 21 500:2012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71" name="Рисунок 170"/>
          <p:cNvPicPr/>
          <p:nvPr/>
        </p:nvPicPr>
        <p:blipFill>
          <a:blip r:embed="rId2"/>
          <a:stretch/>
        </p:blipFill>
        <p:spPr>
          <a:xfrm>
            <a:off x="1783800" y="1899360"/>
            <a:ext cx="7647840" cy="2133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Стандарт ISO 21 500:2012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73" name="Рисунок 172"/>
          <p:cNvPicPr/>
          <p:nvPr/>
        </p:nvPicPr>
        <p:blipFill>
          <a:blip r:embed="rId2"/>
          <a:stretch/>
        </p:blipFill>
        <p:spPr>
          <a:xfrm>
            <a:off x="1709640" y="807120"/>
            <a:ext cx="6714360" cy="4873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Документирование проекта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75" name="Рисунок 174"/>
          <p:cNvPicPr/>
          <p:nvPr/>
        </p:nvPicPr>
        <p:blipFill>
          <a:blip r:embed="rId2"/>
          <a:stretch/>
        </p:blipFill>
        <p:spPr>
          <a:xfrm>
            <a:off x="1764000" y="923040"/>
            <a:ext cx="6695640" cy="4276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Документирование проекта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77" name="Рисунок 176"/>
          <p:cNvPicPr/>
          <p:nvPr/>
        </p:nvPicPr>
        <p:blipFill>
          <a:blip r:embed="rId2"/>
          <a:stretch/>
        </p:blipFill>
        <p:spPr>
          <a:xfrm>
            <a:off x="1815840" y="1026360"/>
            <a:ext cx="6447960" cy="3638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Документирование проекта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79" name="Рисунок 178"/>
          <p:cNvPicPr/>
          <p:nvPr/>
        </p:nvPicPr>
        <p:blipFill>
          <a:blip r:embed="rId2"/>
          <a:stretch/>
        </p:blipFill>
        <p:spPr>
          <a:xfrm>
            <a:off x="1811160" y="967680"/>
            <a:ext cx="6457680" cy="3971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Документирование проекта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81" name="Рисунок 180"/>
          <p:cNvPicPr/>
          <p:nvPr/>
        </p:nvPicPr>
        <p:blipFill>
          <a:blip r:embed="rId2"/>
          <a:stretch/>
        </p:blipFill>
        <p:spPr>
          <a:xfrm>
            <a:off x="1861920" y="568800"/>
            <a:ext cx="6571800" cy="505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Документирование проекта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83" name="Рисунок 182"/>
          <p:cNvPicPr/>
          <p:nvPr/>
        </p:nvPicPr>
        <p:blipFill>
          <a:blip r:embed="rId2"/>
          <a:stretch/>
        </p:blipFill>
        <p:spPr>
          <a:xfrm>
            <a:off x="1682640" y="577440"/>
            <a:ext cx="6714720" cy="4343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Документирование проекта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85" name="Рисунок 184"/>
          <p:cNvPicPr/>
          <p:nvPr/>
        </p:nvPicPr>
        <p:blipFill>
          <a:blip r:embed="rId2"/>
          <a:stretch/>
        </p:blipFill>
        <p:spPr>
          <a:xfrm>
            <a:off x="1734840" y="1546200"/>
            <a:ext cx="6609960" cy="2333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Документирование проекта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87" name="Рисунок 186"/>
          <p:cNvPicPr/>
          <p:nvPr/>
        </p:nvPicPr>
        <p:blipFill>
          <a:blip r:embed="rId2"/>
          <a:stretch/>
        </p:blipFill>
        <p:spPr>
          <a:xfrm>
            <a:off x="1720800" y="603000"/>
            <a:ext cx="6638400" cy="472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89" name="Рисунок 188"/>
          <p:cNvPicPr/>
          <p:nvPr/>
        </p:nvPicPr>
        <p:blipFill>
          <a:blip r:embed="rId2"/>
          <a:stretch/>
        </p:blipFill>
        <p:spPr>
          <a:xfrm>
            <a:off x="1711080" y="1341360"/>
            <a:ext cx="6657480" cy="2742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91" name="Рисунок 190"/>
          <p:cNvPicPr/>
          <p:nvPr/>
        </p:nvPicPr>
        <p:blipFill>
          <a:blip r:embed="rId2"/>
          <a:stretch/>
        </p:blipFill>
        <p:spPr>
          <a:xfrm>
            <a:off x="2463480" y="1284120"/>
            <a:ext cx="5152680" cy="2857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93" name="Рисунок 192"/>
          <p:cNvPicPr/>
          <p:nvPr/>
        </p:nvPicPr>
        <p:blipFill>
          <a:blip r:embed="rId2"/>
          <a:stretch/>
        </p:blipFill>
        <p:spPr>
          <a:xfrm>
            <a:off x="1668240" y="587520"/>
            <a:ext cx="6743520" cy="4466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95" name="Рисунок 194"/>
          <p:cNvPicPr/>
          <p:nvPr/>
        </p:nvPicPr>
        <p:blipFill>
          <a:blip r:embed="rId2"/>
          <a:stretch/>
        </p:blipFill>
        <p:spPr>
          <a:xfrm>
            <a:off x="1686960" y="632520"/>
            <a:ext cx="4037040" cy="4807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97" name="Рисунок 196"/>
          <p:cNvPicPr/>
          <p:nvPr/>
        </p:nvPicPr>
        <p:blipFill>
          <a:blip r:embed="rId2"/>
          <a:stretch/>
        </p:blipFill>
        <p:spPr>
          <a:xfrm>
            <a:off x="1744560" y="1712880"/>
            <a:ext cx="6590880" cy="1999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99" name="Рисунок 198"/>
          <p:cNvPicPr/>
          <p:nvPr/>
        </p:nvPicPr>
        <p:blipFill>
          <a:blip r:embed="rId2"/>
          <a:stretch/>
        </p:blipFill>
        <p:spPr>
          <a:xfrm>
            <a:off x="1758600" y="555480"/>
            <a:ext cx="6562440" cy="4314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01" name="Рисунок 200"/>
          <p:cNvPicPr/>
          <p:nvPr/>
        </p:nvPicPr>
        <p:blipFill>
          <a:blip r:embed="rId2"/>
          <a:stretch/>
        </p:blipFill>
        <p:spPr>
          <a:xfrm>
            <a:off x="2382840" y="312480"/>
            <a:ext cx="6609960" cy="5304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03" name="Рисунок 202"/>
          <p:cNvPicPr/>
          <p:nvPr/>
        </p:nvPicPr>
        <p:blipFill>
          <a:blip r:embed="rId2"/>
          <a:stretch/>
        </p:blipFill>
        <p:spPr>
          <a:xfrm>
            <a:off x="1706400" y="498600"/>
            <a:ext cx="6667200" cy="4428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05" name="Рисунок 204"/>
          <p:cNvPicPr/>
          <p:nvPr/>
        </p:nvPicPr>
        <p:blipFill>
          <a:blip r:embed="rId2"/>
          <a:stretch/>
        </p:blipFill>
        <p:spPr>
          <a:xfrm>
            <a:off x="1535040" y="1027080"/>
            <a:ext cx="7009920" cy="3371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07" name="Рисунок 206"/>
          <p:cNvPicPr/>
          <p:nvPr/>
        </p:nvPicPr>
        <p:blipFill>
          <a:blip r:embed="rId2"/>
          <a:stretch/>
        </p:blipFill>
        <p:spPr>
          <a:xfrm>
            <a:off x="2494080" y="146160"/>
            <a:ext cx="6819480" cy="513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09" name="Рисунок 208"/>
          <p:cNvPicPr/>
          <p:nvPr/>
        </p:nvPicPr>
        <p:blipFill>
          <a:blip r:embed="rId2"/>
          <a:stretch/>
        </p:blipFill>
        <p:spPr>
          <a:xfrm>
            <a:off x="1773000" y="851040"/>
            <a:ext cx="6533640" cy="3723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1620000" y="36000"/>
            <a:ext cx="8098920" cy="6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just">
              <a:lnSpc>
                <a:spcPct val="100000"/>
              </a:lnSpc>
              <a:spcAft>
                <a:spcPts val="1060"/>
              </a:spcAft>
            </a:pPr>
            <a:r>
              <a:rPr lang="ru-RU" sz="1800" b="0" strike="noStrike" spc="-1">
                <a:solidFill>
                  <a:srgbClr val="050505"/>
                </a:solidFill>
                <a:latin typeface="Arial"/>
                <a:ea typeface="DejaVu Sans"/>
              </a:rPr>
              <a:t>ЕСПД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11" name="Рисунок 210"/>
          <p:cNvPicPr/>
          <p:nvPr/>
        </p:nvPicPr>
        <p:blipFill>
          <a:blip r:embed="rId2"/>
          <a:stretch/>
        </p:blipFill>
        <p:spPr>
          <a:xfrm>
            <a:off x="1649160" y="1146240"/>
            <a:ext cx="6781320" cy="313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256</Words>
  <Application>Microsoft Office PowerPoint</Application>
  <PresentationFormat>Произвольный</PresentationFormat>
  <Paragraphs>75</Paragraphs>
  <Slides>66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66</vt:i4>
      </vt:variant>
    </vt:vector>
  </HeadingPairs>
  <TitlesOfParts>
    <vt:vector size="73" baseType="lpstr">
      <vt:lpstr>Arial</vt:lpstr>
      <vt:lpstr>DejaVu Sans</vt:lpstr>
      <vt:lpstr>Symbol</vt:lpstr>
      <vt:lpstr>Times New Roman</vt:lpstr>
      <vt:lpstr>Wingdings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</dc:title>
  <dc:subject/>
  <dc:creator/>
  <dc:description/>
  <cp:lastModifiedBy>Учетная запись Майкрософт</cp:lastModifiedBy>
  <cp:revision>9</cp:revision>
  <dcterms:created xsi:type="dcterms:W3CDTF">2021-01-14T11:23:14Z</dcterms:created>
  <dcterms:modified xsi:type="dcterms:W3CDTF">2025-11-17T00:43:29Z</dcterms:modified>
  <dc:language>ru-RU</dc:language>
</cp:coreProperties>
</file>