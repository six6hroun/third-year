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omar.website/tabfs/" TargetMode="External"/><Relationship Id="rId3" Type="http://schemas.openxmlformats.org/officeDocument/2006/relationships/hyperlink" Target="https://habr.com/ru/company/mailru/blog/529516/" TargetMode="External"/><Relationship Id="rId4" Type="http://schemas.openxmlformats.org/officeDocument/2006/relationships/hyperlink" Target="https://habr.com/ru/post/424651/" TargetMode="External"/><Relationship Id="rId5" Type="http://schemas.openxmlformats.org/officeDocument/2006/relationships/hyperlink" Target="https://habr.com/ru/post/67283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0097A7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https://omar.website/tabfs/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ZFS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https://habr.com/ru/company/mailru/blog/529516/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https://habr.com/ru/post/424651/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LVM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https://habr.com/ru/post/67283/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https://habr.com/ru/companies/ruvds/articles/750370/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b2b89d618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b2b89d618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/bin, /usr/bin, /usr/local/bin, /sbin...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b2b89d6183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b2b89d6183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b2b89d618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b2b89d618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/run и /dev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b74cbdbb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b74cbdbb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fc5c48a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bfc5c48a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https://habr.com/ru/companies/timeweb/articles/944454/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c12898b19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c12898b19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c12898b19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c12898b19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bfc5c48a1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bfc5c48a1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b74cbdbb6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b74cbdbb6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b74cbdbb6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b74cbdbb6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b89492cd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b89492cd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hyperlink" Target="https://habr.com/ru/company/flant/blog/34832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Файловая система и дерево каталогов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Структура каталогов</a:t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573850" y="828900"/>
            <a:ext cx="4307400" cy="37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/</a:t>
            </a:r>
            <a:r>
              <a:rPr lang="en"/>
              <a:t> - корень (root)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b</a:t>
            </a:r>
            <a:r>
              <a:rPr b="1" lang="en"/>
              <a:t>in/</a:t>
            </a:r>
            <a:r>
              <a:rPr lang="en"/>
              <a:t> - стандартные утилиты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b</a:t>
            </a:r>
            <a:r>
              <a:rPr b="1" lang="en"/>
              <a:t>oot/</a:t>
            </a:r>
            <a:r>
              <a:rPr lang="en"/>
              <a:t> - образы ядра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</a:t>
            </a:r>
            <a:r>
              <a:rPr b="1" lang="en"/>
              <a:t>ev/</a:t>
            </a:r>
            <a:r>
              <a:rPr lang="en"/>
              <a:t> - файлы устройств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>
                <a:solidFill>
                  <a:schemeClr val="dk1"/>
                </a:solidFill>
              </a:rPr>
              <a:t>etc/</a:t>
            </a:r>
            <a:r>
              <a:rPr lang="en">
                <a:solidFill>
                  <a:schemeClr val="dk1"/>
                </a:solidFill>
              </a:rPr>
              <a:t> - конфигурационные файлы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h</a:t>
            </a:r>
            <a:r>
              <a:rPr b="1" lang="en"/>
              <a:t>ome/</a:t>
            </a:r>
            <a:r>
              <a:rPr lang="en"/>
              <a:t> - домашние каталоги пользователей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lib/</a:t>
            </a:r>
            <a:r>
              <a:rPr lang="en"/>
              <a:t> - системные библиотеки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media/</a:t>
            </a:r>
            <a:r>
              <a:rPr lang="en"/>
              <a:t> - подключаемые носители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mnt/</a:t>
            </a:r>
            <a:r>
              <a:rPr lang="en"/>
              <a:t> - точки монтирования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o</a:t>
            </a:r>
            <a:r>
              <a:rPr b="1" lang="en"/>
              <a:t>pt/</a:t>
            </a:r>
            <a:r>
              <a:rPr lang="en"/>
              <a:t> - дополнительные пакеты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proc/</a:t>
            </a:r>
            <a:r>
              <a:rPr lang="en"/>
              <a:t> - информация о процессах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root/</a:t>
            </a:r>
            <a:r>
              <a:rPr lang="en"/>
              <a:t> - домашний каталог пользователя root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run/</a:t>
            </a:r>
            <a:r>
              <a:rPr lang="en"/>
              <a:t> - идентификаторы процессов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</a:t>
            </a:r>
            <a:r>
              <a:rPr b="1" lang="en"/>
              <a:t>bin/</a:t>
            </a:r>
            <a:r>
              <a:rPr lang="en"/>
              <a:t> - системные утилиты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tmp/</a:t>
            </a:r>
            <a:r>
              <a:rPr lang="en"/>
              <a:t> - временные файлы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u</a:t>
            </a:r>
            <a:r>
              <a:rPr b="1" lang="en"/>
              <a:t>sr/</a:t>
            </a:r>
            <a:r>
              <a:rPr lang="en"/>
              <a:t> - каталоги приложений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v</a:t>
            </a:r>
            <a:r>
              <a:rPr b="1" lang="en"/>
              <a:t>ar/</a:t>
            </a:r>
            <a:r>
              <a:rPr lang="en"/>
              <a:t> - часто изменяющиеся файлы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5051425" y="828900"/>
            <a:ext cx="3780900" cy="20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/usr/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bin/</a:t>
            </a:r>
            <a:r>
              <a:rPr lang="en"/>
              <a:t> - исполняемые файлы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include/</a:t>
            </a:r>
            <a:r>
              <a:rPr lang="en"/>
              <a:t> - заголовочные файлы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lib/</a:t>
            </a:r>
            <a:r>
              <a:rPr lang="en"/>
              <a:t> - библиотеки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local/</a:t>
            </a:r>
            <a:r>
              <a:rPr lang="en"/>
              <a:t> - приложения, установленные не через пакетный менеджер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sbin/</a:t>
            </a:r>
            <a:r>
              <a:rPr lang="en"/>
              <a:t> - исполняемые систем. файлы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share/</a:t>
            </a:r>
            <a:r>
              <a:rPr lang="en"/>
              <a:t> - каталоги приложений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src/</a:t>
            </a:r>
            <a:r>
              <a:rPr lang="en"/>
              <a:t> - исходники программ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5051425" y="2909275"/>
            <a:ext cx="3780900" cy="16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/var/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cache/</a:t>
            </a:r>
            <a:r>
              <a:rPr lang="en"/>
              <a:t> - кеши программ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log/</a:t>
            </a:r>
            <a:r>
              <a:rPr lang="en"/>
              <a:t> - логи программ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lib/</a:t>
            </a:r>
            <a:r>
              <a:rPr lang="en"/>
              <a:t> - базы данных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spool/</a:t>
            </a:r>
            <a:r>
              <a:rPr lang="en"/>
              <a:t> - очередь печати CUPS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lock/</a:t>
            </a:r>
            <a:r>
              <a:rPr lang="en"/>
              <a:t> - файлы блокировок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run/</a:t>
            </a:r>
            <a:r>
              <a:rPr lang="en"/>
              <a:t> - PID программ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73850" y="4683000"/>
            <a:ext cx="10416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$ man hier</a:t>
            </a:r>
            <a:endParaRPr i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Использование ФС</a:t>
            </a:r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311725" y="651800"/>
            <a:ext cx="8520600" cy="42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</a:t>
            </a:r>
            <a:r>
              <a:rPr lang="en" sz="1600"/>
              <a:t>f (</a:t>
            </a:r>
            <a:r>
              <a:rPr b="1" lang="en" sz="1600"/>
              <a:t>d</a:t>
            </a:r>
            <a:r>
              <a:rPr lang="en" sz="1600"/>
              <a:t>isk </a:t>
            </a:r>
            <a:r>
              <a:rPr b="1" lang="en" sz="1600"/>
              <a:t>f</a:t>
            </a:r>
            <a:r>
              <a:rPr lang="en" sz="1600"/>
              <a:t>ree)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df -Th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</a:t>
            </a:r>
            <a:r>
              <a:rPr lang="en" sz="1600"/>
              <a:t>u (</a:t>
            </a:r>
            <a:r>
              <a:rPr b="1" lang="en" sz="1600"/>
              <a:t>d</a:t>
            </a:r>
            <a:r>
              <a:rPr lang="en" sz="1600"/>
              <a:t>isk </a:t>
            </a:r>
            <a:r>
              <a:rPr b="1" lang="en" sz="1600"/>
              <a:t>u</a:t>
            </a:r>
            <a:r>
              <a:rPr lang="en" sz="1600"/>
              <a:t>sage</a:t>
            </a:r>
            <a:r>
              <a:rPr lang="en" sz="1600"/>
              <a:t>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du -hd 1 /home/tyvik/Projects/numicoins/to\ print/</a:t>
            </a:r>
            <a:endParaRPr sz="1600"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5" y="1202625"/>
            <a:ext cx="4824700" cy="215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88" y="3966325"/>
            <a:ext cx="5324475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Типы файлов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311700" y="906975"/>
            <a:ext cx="8520600" cy="21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- = обычный файл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 = каталог (directory)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 = файл блочного устройства (block)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 = файл символьного устройства (char)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 = сокет(socket)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 = именованный канал (pipe)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 = символическая ссылка (link)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Ссылки (ln)</a:t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311700" y="1177200"/>
            <a:ext cx="2801100" cy="15699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I</a:t>
            </a:r>
            <a:r>
              <a:rPr b="1" lang="en" sz="2000"/>
              <a:t>node</a:t>
            </a:r>
            <a:endParaRPr b="1" sz="2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</a:t>
            </a:r>
            <a:r>
              <a:rPr lang="en"/>
              <a:t>d пользователя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</a:t>
            </a:r>
            <a:r>
              <a:rPr lang="en"/>
              <a:t>d группы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п</a:t>
            </a:r>
            <a:r>
              <a:rPr lang="en"/>
              <a:t>рава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</a:t>
            </a:r>
            <a:r>
              <a:rPr lang="en"/>
              <a:t>imestamp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ссылки на блоки данных</a:t>
            </a:r>
            <a:endParaRPr/>
          </a:p>
        </p:txBody>
      </p:sp>
      <p:sp>
        <p:nvSpPr>
          <p:cNvPr id="84" name="Google Shape;84;p17"/>
          <p:cNvSpPr txBox="1"/>
          <p:nvPr/>
        </p:nvSpPr>
        <p:spPr>
          <a:xfrm>
            <a:off x="3891900" y="735563"/>
            <a:ext cx="1252500" cy="4002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filename1.txt</a:t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3891900" y="1394488"/>
            <a:ext cx="1252500" cy="4002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filename2.txt</a:t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3891900" y="2053413"/>
            <a:ext cx="1252500" cy="4002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filename3.txt</a:t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3891900" y="2712338"/>
            <a:ext cx="1252500" cy="400200"/>
          </a:xfrm>
          <a:prstGeom prst="rect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filename4.txt</a:t>
            </a:r>
            <a:endParaRPr/>
          </a:p>
        </p:txBody>
      </p:sp>
      <p:cxnSp>
        <p:nvCxnSpPr>
          <p:cNvPr id="88" name="Google Shape;88;p17"/>
          <p:cNvCxnSpPr>
            <a:stCxn id="84" idx="1"/>
            <a:endCxn id="83" idx="3"/>
          </p:cNvCxnSpPr>
          <p:nvPr/>
        </p:nvCxnSpPr>
        <p:spPr>
          <a:xfrm flipH="1">
            <a:off x="3112800" y="935663"/>
            <a:ext cx="779100" cy="1026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7"/>
          <p:cNvCxnSpPr>
            <a:stCxn id="85" idx="1"/>
            <a:endCxn id="83" idx="3"/>
          </p:cNvCxnSpPr>
          <p:nvPr/>
        </p:nvCxnSpPr>
        <p:spPr>
          <a:xfrm flipH="1">
            <a:off x="3112800" y="1594588"/>
            <a:ext cx="779100" cy="367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17"/>
          <p:cNvCxnSpPr>
            <a:stCxn id="86" idx="1"/>
            <a:endCxn id="83" idx="3"/>
          </p:cNvCxnSpPr>
          <p:nvPr/>
        </p:nvCxnSpPr>
        <p:spPr>
          <a:xfrm rot="10800000">
            <a:off x="3112800" y="1962213"/>
            <a:ext cx="779100" cy="291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7"/>
          <p:cNvCxnSpPr>
            <a:stCxn id="87" idx="1"/>
            <a:endCxn id="83" idx="3"/>
          </p:cNvCxnSpPr>
          <p:nvPr/>
        </p:nvCxnSpPr>
        <p:spPr>
          <a:xfrm rot="10800000">
            <a:off x="3112800" y="1962038"/>
            <a:ext cx="779100" cy="9504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7"/>
          <p:cNvSpPr txBox="1"/>
          <p:nvPr/>
        </p:nvSpPr>
        <p:spPr>
          <a:xfrm>
            <a:off x="6425675" y="735575"/>
            <a:ext cx="1252500" cy="400200"/>
          </a:xfrm>
          <a:prstGeom prst="rect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soft-link.txt</a:t>
            </a:r>
            <a:endParaRPr/>
          </a:p>
        </p:txBody>
      </p:sp>
      <p:cxnSp>
        <p:nvCxnSpPr>
          <p:cNvPr id="93" name="Google Shape;93;p17"/>
          <p:cNvCxnSpPr>
            <a:stCxn id="92" idx="1"/>
            <a:endCxn id="84" idx="3"/>
          </p:cNvCxnSpPr>
          <p:nvPr/>
        </p:nvCxnSpPr>
        <p:spPr>
          <a:xfrm rot="10800000">
            <a:off x="5144375" y="935675"/>
            <a:ext cx="1281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6800" y="1288163"/>
            <a:ext cx="3694800" cy="34241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Виртуальные ФС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387" y="608975"/>
            <a:ext cx="7949226" cy="4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/dev</a:t>
            </a:r>
            <a:endParaRPr/>
          </a:p>
        </p:txBody>
      </p:sp>
      <p:sp>
        <p:nvSpPr>
          <p:cNvPr id="106" name="Google Shape;106;p19"/>
          <p:cNvSpPr txBox="1"/>
          <p:nvPr/>
        </p:nvSpPr>
        <p:spPr>
          <a:xfrm>
            <a:off x="311700" y="560525"/>
            <a:ext cx="85206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/dev/urandom - генератор случайных чисел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/dev/null - чёрная дыра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/dev/zero - генератор нулей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/dev/video - устройство видеокарты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/dev/stdin, /dev/stdout, /dev/stderr - стандартные потоки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/dev/tty{1,2,3} - терминалы пользователей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/dev/hd{a,b,c} - устройства HDD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/dev/sd{a,b,c} - устройства SSD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/dev/nvme - устройства NVMe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/dev/md - устройства RAID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/dev/vd{a,b,c} - виртуальные жёсткие диски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1477500" y="4320375"/>
            <a:ext cx="618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dd if=/dev/urandom of=out.txt count=2 bs=512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Управление разделами</a:t>
            </a:r>
            <a:endParaRPr/>
          </a:p>
        </p:txBody>
      </p:sp>
      <p:sp>
        <p:nvSpPr>
          <p:cNvPr id="113" name="Google Shape;113;p20"/>
          <p:cNvSpPr txBox="1"/>
          <p:nvPr/>
        </p:nvSpPr>
        <p:spPr>
          <a:xfrm>
            <a:off x="311700" y="560525"/>
            <a:ext cx="4300500" cy="4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Просмотр всех разделов: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58700"/>
            <a:ext cx="8520600" cy="35224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Управление разделами</a:t>
            </a:r>
            <a:endParaRPr/>
          </a:p>
        </p:txBody>
      </p:sp>
      <p:sp>
        <p:nvSpPr>
          <p:cNvPr id="120" name="Google Shape;120;p21"/>
          <p:cNvSpPr txBox="1"/>
          <p:nvPr/>
        </p:nvSpPr>
        <p:spPr>
          <a:xfrm>
            <a:off x="311700" y="560525"/>
            <a:ext cx="8520600" cy="4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Создание пустого файла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sudo dd if=/dev/zero of=/disk.img count=2000 bs=1M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Будем создавать в нём файловую систему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</a:t>
            </a:r>
            <a:r>
              <a:rPr lang="en" sz="1600"/>
              <a:t>sudo parted disk.img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Разметим под GPT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(parted) mktable msdos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Создадим раздел и отформатируем в fat32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(parted) </a:t>
            </a:r>
            <a:r>
              <a:rPr lang="en" sz="1600"/>
              <a:t>mkpart primary fat32 0 -0М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Подключаем как блочное устройство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losetup --partscan --show --find disk.img</a:t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Управление файловыми системами</a:t>
            </a:r>
            <a:endParaRPr/>
          </a:p>
        </p:txBody>
      </p:sp>
      <p:sp>
        <p:nvSpPr>
          <p:cNvPr id="126" name="Google Shape;126;p22"/>
          <p:cNvSpPr txBox="1"/>
          <p:nvPr/>
        </p:nvSpPr>
        <p:spPr>
          <a:xfrm>
            <a:off x="311700" y="560525"/>
            <a:ext cx="8520600" cy="4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Создание ФС (</a:t>
            </a:r>
            <a:r>
              <a:rPr b="1" lang="en" sz="1800"/>
              <a:t>m</a:t>
            </a:r>
            <a:r>
              <a:rPr lang="en" sz="1800"/>
              <a:t>a</a:t>
            </a:r>
            <a:r>
              <a:rPr b="1" lang="en" sz="1800"/>
              <a:t>k</a:t>
            </a:r>
            <a:r>
              <a:rPr lang="en" sz="1800"/>
              <a:t>e </a:t>
            </a:r>
            <a:r>
              <a:rPr b="1" lang="en" sz="1800"/>
              <a:t>f</a:t>
            </a:r>
            <a:r>
              <a:rPr lang="en" sz="1800"/>
              <a:t>ile </a:t>
            </a:r>
            <a:r>
              <a:rPr b="1" lang="en" sz="1800"/>
              <a:t>s</a:t>
            </a:r>
            <a:r>
              <a:rPr lang="en" sz="1800"/>
              <a:t>ystem):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mkfs -t fat32 /dev/loop2p1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Монтирование ФС: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mount -t fat32 /dev/loop2p1 /mnt/backup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Монтирование оперативной памяти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</a:t>
            </a:r>
            <a:r>
              <a:rPr lang="en" sz="1800">
                <a:solidFill>
                  <a:schemeClr val="dk1"/>
                </a:solidFill>
              </a:rPr>
              <a:t>mount -t tmpfs -o size=2G tmpfs /media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Размонтирование ФС: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umount /mnt/backup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/etc/fstab</a:t>
            </a:r>
            <a:endParaRPr/>
          </a:p>
        </p:txBody>
      </p:sp>
      <p:sp>
        <p:nvSpPr>
          <p:cNvPr id="132" name="Google Shape;132;p23"/>
          <p:cNvSpPr txBox="1"/>
          <p:nvPr/>
        </p:nvSpPr>
        <p:spPr>
          <a:xfrm>
            <a:off x="311700" y="560525"/>
            <a:ext cx="8520600" cy="4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UID - идентификатор раздела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Точка монтирования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Тип ФС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Опции монтирования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Резервное копирование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Приоритет проверки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Опции монтирования: async, auto, exec, remount, ro, rw, sync user...</a:t>
            </a:r>
            <a:endParaRPr sz="1800"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225" y="599950"/>
            <a:ext cx="8520600" cy="647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swap</a:t>
            </a:r>
            <a:endParaRPr/>
          </a:p>
        </p:txBody>
      </p:sp>
      <p:sp>
        <p:nvSpPr>
          <p:cNvPr id="139" name="Google Shape;139;p24"/>
          <p:cNvSpPr txBox="1"/>
          <p:nvPr/>
        </p:nvSpPr>
        <p:spPr>
          <a:xfrm>
            <a:off x="311700" y="560525"/>
            <a:ext cx="34773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Проверить наличие: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swapon --show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Аллоцировать файл: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dd if=/dev/zero of=/swapfile bs=1M count=1024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Сделать доступным только root: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</a:t>
            </a:r>
            <a:r>
              <a:rPr lang="en" sz="1600"/>
              <a:t>chmod 600 /swapfile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Разметить раздел в файле: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mkswap /swapfile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Подключить в систему: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swapon /swapfile</a:t>
            </a:r>
            <a:endParaRPr sz="1600"/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2300" y="560525"/>
            <a:ext cx="3810000" cy="30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4"/>
          <p:cNvSpPr txBox="1"/>
          <p:nvPr/>
        </p:nvSpPr>
        <p:spPr>
          <a:xfrm>
            <a:off x="4974300" y="4141750"/>
            <a:ext cx="390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https://habr.com/ru/company/flant/blog/348324/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