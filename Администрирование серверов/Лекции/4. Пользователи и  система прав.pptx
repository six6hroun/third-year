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132E6A-0D12-4DB6-B5A5-B3E8973B59C7}">
  <a:tblStyle styleId="{62132E6A-0D12-4DB6-B5A5-B3E8973B59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7957f38ba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7957f38ba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acfbc44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acfbc44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@startuml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(пользователь == владелец)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if (права в первом триплете установлены?)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#palegreen: разрешаем;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else (нет)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endif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elseif (группы пользователя\nи файла пересекаются)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if (права во втором триплете установлены?)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#palegreen: разрешаем;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else (нет)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endif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elseif (права в третьем триплете установлены?) then (да)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#palegreen: разрешаем;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#pink: запрещаем;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@enduml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bb7758fe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bb7758fe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Sticky - Тарас Бульба “Я тебя породил, я тебя и убью”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aef6c00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aef6c00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957f38ba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957f38b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1a88698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1a88698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957f38b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957f38b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useradd -D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/etc/skel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1a88698a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1a88698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1a88698a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1a88698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957f38b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957f38b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957f38ba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957f38ba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1a88698a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1a88698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957f38ba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957f38ba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7957f38ba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7957f38ba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b7758fe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b7758fe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1a88698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c1a88698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50a50bb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50a50bb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1a88698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c1a88698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b7758fe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b7758fe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Создать пользователя и рабочий каталог для него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Создать файлопомойку с каталогами для каждого пользователя и общим public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Позволить группе читать файлы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Добавить пользователя в sudo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Запретить пользователю входить в систему и сменить шелл на /bin/sh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Сменить пароль пользователю из-под root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Подправить /etc/skel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Взломать пароль по словарю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abr.com/ru/post/44783/" TargetMode="External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Пользователи 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система прав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Система прав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712925"/>
            <a:ext cx="5055354" cy="4278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4" y="1776575"/>
            <a:ext cx="3631445" cy="321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275" y="712925"/>
            <a:ext cx="2949675" cy="10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Блок-схема проверки прав</a:t>
            </a:r>
            <a:endParaRPr/>
          </a:p>
        </p:txBody>
      </p:sp>
      <p:pic>
        <p:nvPicPr>
          <p:cNvPr id="68" name="Google Shape;68;p15" title="permiss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712925"/>
            <a:ext cx="8679899" cy="3174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Расширенная с</a:t>
            </a:r>
            <a:r>
              <a:rPr lang="en" sz="2800">
                <a:solidFill>
                  <a:srgbClr val="000000"/>
                </a:solidFill>
              </a:rPr>
              <a:t>истема прав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4283100" cy="160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81850"/>
            <a:ext cx="4283112" cy="24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572000" y="712925"/>
            <a:ext cx="42603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SUID - от имени того же пользователя (только файлы)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GUID - от имени той же группы (для файлов); все новые файлы будут принадлежать группе (для каталогов)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Sticky - запрет удаления и перемещения (только для каталогов)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/usr/bin/passwd - для SUID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/tmp - для Sticky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Информация о пользователе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id &lt;username&gt;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А кто я?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whoami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Системные группы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v</a:t>
            </a:r>
            <a:r>
              <a:rPr lang="en" sz="2800"/>
              <a:t>ideo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a</a:t>
            </a:r>
            <a:r>
              <a:rPr lang="en" sz="2800"/>
              <a:t>udio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f</a:t>
            </a:r>
            <a:r>
              <a:rPr lang="en" sz="2800"/>
              <a:t>loppy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c</a:t>
            </a:r>
            <a:r>
              <a:rPr lang="en" sz="2800"/>
              <a:t>drom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d</a:t>
            </a:r>
            <a:r>
              <a:rPr lang="en" sz="2800"/>
              <a:t>ocker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wheel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 sz="2800"/>
              <a:t>...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Обзор</a:t>
            </a:r>
            <a:endParaRPr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311700" y="1045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{62132E6A-0D12-4DB6-B5A5-B3E8973B59C7}</a:tableStyleId>
              </a:tblPr>
              <a:tblGrid>
                <a:gridCol w="2840200"/>
                <a:gridCol w="2840200"/>
                <a:gridCol w="2840200"/>
              </a:tblGrid>
              <a:tr h="7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Пользователь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Группа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823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Создание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useradd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groupadd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85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Редактирование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usermod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groupmod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7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Удаление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userdel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groupdel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useradd - добавление пользователей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560525"/>
            <a:ext cx="8520600" cy="12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useradd jim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</a:t>
            </a:r>
            <a:r>
              <a:rPr lang="en" sz="1600">
                <a:solidFill>
                  <a:schemeClr val="dk1"/>
                </a:solidFill>
              </a:rPr>
              <a:t> tail -n 1 /etc/passwd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jim:x:1002:1002::/home/jim:/bin/sh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ls /home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t</a:t>
            </a:r>
            <a:r>
              <a:rPr lang="en" sz="1600">
                <a:solidFill>
                  <a:schemeClr val="dk1"/>
                </a:solidFill>
              </a:rPr>
              <a:t>yvik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779725"/>
            <a:ext cx="8520600" cy="12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useradd jim --groups docker --create-home --shell /bin/bash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tail -n 1 /etc/passwd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jim:x:1002:1002::/home/jim:/bin/bash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ls /home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t</a:t>
            </a:r>
            <a:r>
              <a:rPr lang="en" sz="1600">
                <a:solidFill>
                  <a:schemeClr val="dk1"/>
                </a:solidFill>
              </a:rPr>
              <a:t>yvik jim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3075125"/>
            <a:ext cx="8520600" cy="18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useradd jim --groups docker --create-home --shell /bin/bash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passwd jim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New password: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Retype new password: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chemeClr val="dk1"/>
                </a:solidFill>
              </a:rPr>
              <a:t>passwd: password updated successfully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tail -n 1 /etc/passwd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jim:x:1002:1002::/home/jim:/bin/bash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# ls /home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</a:rPr>
              <a:t>tyvik jim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usermod (редактирование пользователя)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560525"/>
            <a:ext cx="8520600" cy="41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Укажем пользователю его группы: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usermod -G adm,jim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Добавить пользователю группу: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usermod -a -G adm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Перенести домашний каталог пользователя: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usermod -m -d /var/www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Заблокировать аккаунт: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usermod -L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Установить оболочку для входа: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usermod -s /bin/bash jim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Удаление пользователя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Удалить пользователя с домашним каталогом: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userdel -r jim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at /etc/passwd - пользователи в системе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560525"/>
            <a:ext cx="85206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2400">
                <a:solidFill>
                  <a:schemeClr val="dk1"/>
                </a:solidFill>
              </a:rPr>
              <a:t>jim:x:1002:1002:comment:/home/jim:/bin/sh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093925"/>
            <a:ext cx="8520600" cy="21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j</a:t>
            </a:r>
            <a:r>
              <a:rPr lang="en" sz="2000">
                <a:solidFill>
                  <a:schemeClr val="dk1"/>
                </a:solidFill>
              </a:rPr>
              <a:t>im - логин пользователя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x</a:t>
            </a:r>
            <a:r>
              <a:rPr lang="en" sz="2000">
                <a:solidFill>
                  <a:schemeClr val="dk1"/>
                </a:solidFill>
              </a:rPr>
              <a:t> - пароль (или x, если он хранится в /etc/shadow)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1002 - user 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1002 - user group 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comment - комментарий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/home/jim - домашний каталог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/bin/sh - shell по умолчанию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311700" y="400935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id jim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uid=1001(jim) gid=1001(jim) groups=1001(jim),131(docker)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passwd (работа с паролями)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Назначение пароля: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passwd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Сделать пароль устаревшим: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passwd -e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Просить сменить пароль через 10 дней: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# passwd -x 10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Сгенерировать пароль: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$ openssl passwd -1 -salt xyz yourpass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 /etc/shadow - работа с паролями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560525"/>
            <a:ext cx="85206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2400">
                <a:solidFill>
                  <a:schemeClr val="dk1"/>
                </a:solidFill>
              </a:rPr>
              <a:t>jim:$&lt;alg&gt;$&lt;salt&gt;$&lt;crypt&gt;:18685:0:30:7:10:365: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093925"/>
            <a:ext cx="8520600" cy="21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jim - логин пользователя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$&lt;alg&gt;$&lt;salt&gt;$&lt;crypt&gt; - зашифрованный пароль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18685 - последнее изменение (кол-во дней)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0 - минимальный возраст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30 - максимальный возраст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7 - период предупреждения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365 - срок хранения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11700" y="400935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passwd --status jim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jim P 02/27/2021 0 30 7 365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Смена прав chmod  (</a:t>
            </a:r>
            <a:r>
              <a:rPr b="1" lang="en" sz="2800">
                <a:solidFill>
                  <a:srgbClr val="000000"/>
                </a:solidFill>
              </a:rPr>
              <a:t>ch</a:t>
            </a:r>
            <a:r>
              <a:rPr lang="en" sz="2800">
                <a:solidFill>
                  <a:srgbClr val="000000"/>
                </a:solidFill>
              </a:rPr>
              <a:t>ange </a:t>
            </a:r>
            <a:r>
              <a:rPr b="1" lang="en" sz="2800">
                <a:solidFill>
                  <a:srgbClr val="000000"/>
                </a:solidFill>
              </a:rPr>
              <a:t>mod</a:t>
            </a:r>
            <a:r>
              <a:rPr lang="en" sz="2800">
                <a:solidFill>
                  <a:srgbClr val="000000"/>
                </a:solidFill>
              </a:rPr>
              <a:t>e)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311700" y="5605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буквенный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Добавляем владельцу право читать, писать, выполнять: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 chmod u+rwx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Убираем у группы и остальных право выполнения: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chmod go-x &lt;filename&gt;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Устанавливаем владельцу право читать, писать, выполнять: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chmod u=rwx &lt;filename&gt;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Убираем у остальных все права: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chmod o-rwx &lt;filename&gt;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4609800" y="5605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числовой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 chmod 760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4 - чтение (r)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2 - запись (w)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1 - выполнение (x)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Владелец может читать и писать, группа - читать, остальные - ничего: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 chmod 740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Всем разрешено только читать файл: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$chmod 444 &lt;filename&gt;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Смена </a:t>
            </a:r>
            <a:r>
              <a:rPr lang="en" sz="2800"/>
              <a:t>владельца</a:t>
            </a:r>
            <a:r>
              <a:rPr lang="en" sz="2800">
                <a:solidFill>
                  <a:srgbClr val="000000"/>
                </a:solidFill>
              </a:rPr>
              <a:t> chown  (</a:t>
            </a:r>
            <a:r>
              <a:rPr b="1" lang="en" sz="2800">
                <a:solidFill>
                  <a:srgbClr val="000000"/>
                </a:solidFill>
              </a:rPr>
              <a:t>ch</a:t>
            </a:r>
            <a:r>
              <a:rPr lang="en" sz="2800">
                <a:solidFill>
                  <a:srgbClr val="000000"/>
                </a:solidFill>
              </a:rPr>
              <a:t>ange </a:t>
            </a:r>
            <a:r>
              <a:rPr b="1" lang="en" sz="2800">
                <a:solidFill>
                  <a:srgbClr val="000000"/>
                </a:solidFill>
              </a:rPr>
              <a:t>own</a:t>
            </a:r>
            <a:r>
              <a:rPr lang="en" sz="2800">
                <a:solidFill>
                  <a:srgbClr val="000000"/>
                </a:solidFill>
              </a:rPr>
              <a:t>er)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Полная запись: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chown &lt;user&gt;:&lt;group&gt;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владельца на user1: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$chown user1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владельца на user1 и группу на group1: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$chown user1:group1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только группу на group1: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$chown :group1 &lt;filename&gt;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Смена </a:t>
            </a:r>
            <a:r>
              <a:rPr lang="en" sz="2800"/>
              <a:t>группы</a:t>
            </a:r>
            <a:r>
              <a:rPr lang="en" sz="2800">
                <a:solidFill>
                  <a:srgbClr val="000000"/>
                </a:solidFill>
              </a:rPr>
              <a:t> ch</a:t>
            </a:r>
            <a:r>
              <a:rPr lang="en" sz="2800"/>
              <a:t>grp</a:t>
            </a:r>
            <a:r>
              <a:rPr lang="en" sz="2800">
                <a:solidFill>
                  <a:srgbClr val="000000"/>
                </a:solidFill>
              </a:rPr>
              <a:t>  (</a:t>
            </a:r>
            <a:r>
              <a:rPr b="1" lang="en" sz="2800">
                <a:solidFill>
                  <a:srgbClr val="000000"/>
                </a:solidFill>
              </a:rPr>
              <a:t>ch</a:t>
            </a:r>
            <a:r>
              <a:rPr lang="en" sz="2800">
                <a:solidFill>
                  <a:srgbClr val="000000"/>
                </a:solidFill>
              </a:rPr>
              <a:t>ange</a:t>
            </a:r>
            <a:r>
              <a:rPr lang="en" sz="2800"/>
              <a:t> </a:t>
            </a:r>
            <a:r>
              <a:rPr b="1" lang="en" sz="2800"/>
              <a:t>gr</a:t>
            </a:r>
            <a:r>
              <a:rPr lang="en" sz="2800"/>
              <a:t>oup</a:t>
            </a:r>
            <a:r>
              <a:rPr lang="en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Полная запись: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chgrp &lt;group&gt;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владельца на user1: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$chgrp user1 &lt;filename&gt;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1401" y="632512"/>
            <a:ext cx="2820900" cy="40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chattr / lsattr</a:t>
            </a:r>
            <a:endParaRPr/>
          </a:p>
        </p:txBody>
      </p:sp>
      <p:sp>
        <p:nvSpPr>
          <p:cNvPr id="162" name="Google Shape;162;p29"/>
          <p:cNvSpPr txBox="1"/>
          <p:nvPr/>
        </p:nvSpPr>
        <p:spPr>
          <a:xfrm>
            <a:off x="311700" y="560525"/>
            <a:ext cx="48489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</a:t>
            </a:r>
            <a:r>
              <a:rPr lang="en" sz="1600"/>
              <a:t> - время доступа к файлу файла не изменяется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</a:t>
            </a:r>
            <a:r>
              <a:rPr lang="en" sz="1600"/>
              <a:t> - добавлять, но не удалять файл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</a:t>
            </a:r>
            <a:r>
              <a:rPr lang="en" sz="1600"/>
              <a:t> - разрешает сжатие на уровне тома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</a:t>
            </a:r>
            <a:r>
              <a:rPr lang="en" sz="1600"/>
              <a:t> - гарантирует, что изменения в файлах записываются на диск немедленно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</a:t>
            </a:r>
            <a:r>
              <a:rPr lang="en" sz="1600"/>
              <a:t> - файл не будет сохранен в резервных копиях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</a:t>
            </a:r>
            <a:r>
              <a:rPr lang="en" sz="1600"/>
              <a:t> - включает индексирование для каталога, в котором он включен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</a:t>
            </a:r>
            <a:r>
              <a:rPr lang="en" sz="1600"/>
              <a:t> - делает файл неизменным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j</a:t>
            </a:r>
            <a:r>
              <a:rPr lang="en" sz="1600"/>
              <a:t> - включает журналирование на максимум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</a:t>
            </a:r>
            <a:r>
              <a:rPr lang="en" sz="1600"/>
              <a:t> - заполняет 0, гарантирует, что файл невозможно восстановить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u -</a:t>
            </a:r>
            <a:r>
              <a:rPr lang="en" sz="1600"/>
              <a:t> сохраняет информацию об удалении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...</a:t>
            </a:r>
            <a:endParaRPr sz="1600"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000" y="712925"/>
            <a:ext cx="3678600" cy="47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8788" y="2091901"/>
            <a:ext cx="28670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 - switch user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560525"/>
            <a:ext cx="8520600" cy="30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 id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uid=1001(jim) gid=1001(jim) groups=1001(jim),131(docker)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1"/>
                </a:solidFill>
              </a:rPr>
              <a:t># su 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1"/>
                </a:solidFill>
              </a:rPr>
              <a:t>$ whoami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1"/>
                </a:solidFill>
              </a:rPr>
              <a:t>jim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1"/>
                </a:solidFill>
              </a:rPr>
              <a:t>$ exit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1"/>
                </a:solidFill>
              </a:rPr>
              <a:t># whoami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1"/>
                </a:solidFill>
              </a:rPr>
              <a:t>root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2780250" y="4376450"/>
            <a:ext cx="358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https://habr.com/ru/post/44783/</a:t>
            </a:r>
            <a:r>
              <a:rPr lang="en" sz="1800"/>
              <a:t> </a:t>
            </a:r>
            <a:endParaRPr sz="1800"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575" y="1478825"/>
            <a:ext cx="2987725" cy="289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sudo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560525"/>
            <a:ext cx="8520600" cy="4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 visudo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</a:rPr>
              <a:t>jim </a:t>
            </a:r>
            <a:r>
              <a:rPr lang="en" sz="2000">
                <a:solidFill>
                  <a:srgbClr val="B45F06"/>
                </a:solidFill>
              </a:rPr>
              <a:t>ALL</a:t>
            </a:r>
            <a:r>
              <a:rPr lang="en" sz="2000">
                <a:solidFill>
                  <a:schemeClr val="dk1"/>
                </a:solidFill>
              </a:rPr>
              <a:t>=(</a:t>
            </a:r>
            <a:r>
              <a:rPr lang="en" sz="2000">
                <a:solidFill>
                  <a:srgbClr val="38761D"/>
                </a:solidFill>
              </a:rPr>
              <a:t>postgres</a:t>
            </a:r>
            <a:r>
              <a:rPr lang="en" sz="2000">
                <a:solidFill>
                  <a:schemeClr val="dk1"/>
                </a:solidFill>
              </a:rPr>
              <a:t>) NOPASSWD: </a:t>
            </a:r>
            <a:r>
              <a:rPr lang="en" sz="2000">
                <a:solidFill>
                  <a:srgbClr val="351C75"/>
                </a:solidFill>
              </a:rPr>
              <a:t>/usr/bin/psql</a:t>
            </a:r>
            <a:endParaRPr sz="2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990000"/>
                </a:solidFill>
              </a:rPr>
              <a:t>%sudo</a:t>
            </a:r>
            <a:r>
              <a:rPr lang="en" sz="2000">
                <a:solidFill>
                  <a:schemeClr val="dk1"/>
                </a:solidFill>
              </a:rPr>
              <a:t>   </a:t>
            </a:r>
            <a:r>
              <a:rPr lang="en" sz="2000">
                <a:solidFill>
                  <a:srgbClr val="BF9000"/>
                </a:solidFill>
              </a:rPr>
              <a:t>ALL</a:t>
            </a:r>
            <a:r>
              <a:rPr lang="en" sz="2000">
                <a:solidFill>
                  <a:schemeClr val="dk1"/>
                </a:solidFill>
              </a:rPr>
              <a:t>=(</a:t>
            </a:r>
            <a:r>
              <a:rPr lang="en" sz="2000">
                <a:solidFill>
                  <a:srgbClr val="38761D"/>
                </a:solidFill>
              </a:rPr>
              <a:t>ALL:ALL</a:t>
            </a:r>
            <a:r>
              <a:rPr lang="en" sz="2000">
                <a:solidFill>
                  <a:schemeClr val="dk1"/>
                </a:solidFill>
              </a:rPr>
              <a:t>) </a:t>
            </a:r>
            <a:r>
              <a:rPr lang="en" sz="2000">
                <a:solidFill>
                  <a:srgbClr val="351C75"/>
                </a:solidFill>
              </a:rPr>
              <a:t>ALL</a:t>
            </a:r>
            <a:endParaRPr sz="20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351C75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Char char="●"/>
            </a:pPr>
            <a:r>
              <a:rPr lang="en" sz="2000">
                <a:solidFill>
                  <a:srgbClr val="990000"/>
                </a:solidFill>
              </a:rPr>
              <a:t>%sudo - пользователь/группа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000"/>
              <a:buChar char="●"/>
            </a:pPr>
            <a:r>
              <a:rPr lang="en" sz="2000">
                <a:solidFill>
                  <a:srgbClr val="B45F06"/>
                </a:solidFill>
              </a:rPr>
              <a:t>ALL - хост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Char char="●"/>
            </a:pPr>
            <a:r>
              <a:rPr lang="en" sz="2000">
                <a:solidFill>
                  <a:srgbClr val="38761D"/>
                </a:solidFill>
              </a:rPr>
              <a:t>ALL:ALL - от имени кого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2000"/>
              <a:buChar char="●"/>
            </a:pPr>
            <a:r>
              <a:rPr lang="en" sz="2000">
                <a:solidFill>
                  <a:srgbClr val="351C75"/>
                </a:solidFill>
              </a:rPr>
              <a:t>ALL </a:t>
            </a:r>
            <a:r>
              <a:rPr lang="en" sz="2000">
                <a:solidFill>
                  <a:srgbClr val="000000"/>
                </a:solidFill>
              </a:rPr>
              <a:t>- команда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$ sudo -i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$ sudo su postgres -c psql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500" y="2009475"/>
            <a:ext cx="3288800" cy="27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