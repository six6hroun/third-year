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294717-DA24-479C-A79B-92699296DF23}">
  <a:tblStyle styleId="{D6294717-DA24-479C-A79B-92699296DF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habr.com/ru/company/itsumma/blog/459558/" TargetMode="External"/><Relationship Id="rId10" Type="http://schemas.openxmlformats.org/officeDocument/2006/relationships/hyperlink" Target="https://habr.com/ru/company/redhatrussia/blog/430748/" TargetMode="External"/><Relationship Id="rId13" Type="http://schemas.openxmlformats.org/officeDocument/2006/relationships/hyperlink" Target="https://habr.com/ru/company/vdsina/blog/503148/" TargetMode="External"/><Relationship Id="rId12" Type="http://schemas.openxmlformats.org/officeDocument/2006/relationships/hyperlink" Target="https://habr.com/ru/post/122445/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23872/" TargetMode="External"/><Relationship Id="rId3" Type="http://schemas.openxmlformats.org/officeDocument/2006/relationships/hyperlink" Target="https://habr.com/ru/company/ruvds/blog/532988/" TargetMode="External"/><Relationship Id="rId4" Type="http://schemas.openxmlformats.org/officeDocument/2006/relationships/hyperlink" Target="https://habr.com/ru/company/otus/blog/459598/" TargetMode="External"/><Relationship Id="rId9" Type="http://schemas.openxmlformats.org/officeDocument/2006/relationships/hyperlink" Target="https://habr.com/ru/company/otus/blog/417957/" TargetMode="External"/><Relationship Id="rId5" Type="http://schemas.openxmlformats.org/officeDocument/2006/relationships/hyperlink" Target="https://habr.com/ru/company/otus/blog/460387/" TargetMode="External"/><Relationship Id="rId6" Type="http://schemas.openxmlformats.org/officeDocument/2006/relationships/hyperlink" Target="https://habr.com/ru/company/otus/blog/484896/" TargetMode="External"/><Relationship Id="rId7" Type="http://schemas.openxmlformats.org/officeDocument/2006/relationships/hyperlink" Target="https://habr.com/ru/post/332886/" TargetMode="External"/><Relationship Id="rId8" Type="http://schemas.openxmlformats.org/officeDocument/2006/relationships/hyperlink" Target="https://habr.com/ru/post/32290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20752/" TargetMode="External"/><Relationship Id="rId3" Type="http://schemas.openxmlformats.org/officeDocument/2006/relationships/hyperlink" Target="https://losst.ru/podklyuchenie-i-nastrojka-sshfs-v-linux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electel/blog/209130/" TargetMode="External"/><Relationship Id="rId3" Type="http://schemas.openxmlformats.org/officeDocument/2006/relationships/hyperlink" Target="https://habr.com/ru/post/516488/" TargetMode="External"/><Relationship Id="rId4" Type="http://schemas.openxmlformats.org/officeDocument/2006/relationships/hyperlink" Target="https://habr.com/ru/post/32763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https://habr.com/ru/company/ruvds/blog/523872/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https://habr.com/ru/company/ruvds/blog/532988/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https://habr.com/ru/company/otus/blog/459598/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https://habr.com/ru/company/otus/blog/460387/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https://habr.com/ru/company/otus/blog/484896/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https://habr.com/ru/post/332886/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https://habr.com/ru/post/322904/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https://habr.com/ru/company/otus/blog/417957/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https://habr.com/ru/company/redhatrussia/blog/430748/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https://habr.com/ru/company/itsumma/blog/459558/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2"/>
              </a:rPr>
              <a:t>https://habr.com/ru/post/122445/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https://habr.com/ru/company/vdsina/blog/503148/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https://habr.com/ru/company/ruvds/blog/676596/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https://habr.com/ru/companies/flant/articles/691388/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https://habr.com/ru/articles/747080/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584a0d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584a0d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45912b1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45912b1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45912b1e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45912b1e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45912b1e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45912b1e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45912b1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45912b1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45912b1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45912b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45912b1e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45912b1e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45912b1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45912b1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https://habr.com/ru/company/ruvds/blog/520752/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https://losst.ru/podklyuchenie-i-nastrojka-sshfs-v-linux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45912b1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45912b1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Подключиться к бд GeoPuzzle с локального ноута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45912b1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45912b1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45912b1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45912b1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45912b1e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45912b1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https://habr.com/ru/company/selectel/blog/209130/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https://habr.com/ru/post/516488/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https://habr.com/ru/post/327630/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abr.com/ru/post/33590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Магия SSH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по ssh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572700"/>
            <a:ext cx="720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FF0000"/>
                </a:solidFill>
              </a:rPr>
              <a:t>ssh</a:t>
            </a:r>
            <a:r>
              <a:rPr lang="en" sz="1800"/>
              <a:t> </a:t>
            </a: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/>
              <a:t> </a:t>
            </a: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/>
              <a:t>@</a:t>
            </a:r>
            <a:r>
              <a:rPr lang="en" sz="1800">
                <a:solidFill>
                  <a:srgbClr val="0000FF"/>
                </a:solidFill>
              </a:rPr>
              <a:t>geopuzzle.org </a:t>
            </a:r>
            <a:r>
              <a:rPr lang="en" sz="1800">
                <a:solidFill>
                  <a:srgbClr val="9900FF"/>
                </a:solidFill>
              </a:rPr>
              <a:t>ls -la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s</a:t>
            </a:r>
            <a:r>
              <a:rPr lang="en" sz="1800">
                <a:solidFill>
                  <a:srgbClr val="FF0000"/>
                </a:solidFill>
              </a:rPr>
              <a:t>sh</a:t>
            </a:r>
            <a:r>
              <a:rPr lang="en" sz="1800">
                <a:solidFill>
                  <a:schemeClr val="dk1"/>
                </a:solidFill>
              </a:rPr>
              <a:t> - команда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>
                <a:solidFill>
                  <a:schemeClr val="dk1"/>
                </a:solidFill>
              </a:rPr>
              <a:t> - аргументы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>
                <a:solidFill>
                  <a:schemeClr val="dk1"/>
                </a:solidFill>
              </a:rPr>
              <a:t> - имя пользователя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geopuzzle.org</a:t>
            </a:r>
            <a:r>
              <a:rPr lang="en" sz="1800">
                <a:solidFill>
                  <a:schemeClr val="dk1"/>
                </a:solidFill>
              </a:rPr>
              <a:t> - имя компьютера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9900FF"/>
                </a:solidFill>
              </a:rPr>
              <a:t>ls -la</a:t>
            </a:r>
            <a:r>
              <a:rPr lang="en" sz="1800">
                <a:solidFill>
                  <a:schemeClr val="dk1"/>
                </a:solidFill>
              </a:rPr>
              <a:t> - команда для выполнения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~/.ssh/config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572700"/>
            <a:ext cx="720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Host home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HostName example.com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User tyvik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Port 4567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LogLevel INFO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ServerAliveInterval 120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ForwardAgent yes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ForwardX11 yes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IdentityFile ~/.ssh/id_rsa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ssh клиента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311700" y="572700"/>
            <a:ext cx="7208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tyvik@TyVik-XPS:~/test/ssh$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ssh-keygen -t rsa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Generating public/private rsa key pair.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file in which to save the key (/home/tyvik/.ssh/id_rsa):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passphrase (empty for no passphrase):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same passphrase again: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identification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public key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key.pub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 fingerprint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SHA256:uKp5kovlfp0UZasbwapcjtPhvEZblKvlJvAo/VOhjGY tyvik@TyVik-XPS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key's randomart image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+---[RSA 3072]----+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o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. + .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B..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o +.*S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E B O.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=.# @.+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|.+X.#.*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|.o*X+=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+----[SHA256]-----+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Открытый и закрытый ключ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311700" y="572700"/>
            <a:ext cx="8520600" cy="73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key.pub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ssh-rsa AAAAB3NzaC1yc2EAAAAD … TsRX0vE= tyvik@TyVik-XPS</a:t>
            </a:r>
            <a:endParaRPr sz="1800"/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1582625"/>
            <a:ext cx="8520600" cy="184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-----BEGIN OPENSSH PRIVATE KEY-----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b3BlbnNzaC1rZXktdjEAAAAABG5vbmUAAAAEbm9uZQAAAAAAAAABAAAAHJ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bZYIsW15ijERkAAAAPdHl2aWtAVHlWaWstWFBTAQIDBA==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-----END OPENSSH PRIVATE KEY-----</a:t>
            </a:r>
            <a:endParaRPr sz="1800"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4323250"/>
            <a:ext cx="5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ssh-copy-id -i ~/.ssh/key.pub user@host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Современная криптография</a:t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3117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DSA - только подпись, зависит от хеш-функции SHA-*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DH - позволяет передать симметричный ключ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RSA - шифрование и подпись</a:t>
            </a:r>
            <a:endParaRPr sz="1800"/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4917225" y="23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{D6294717-DA24-479C-A79B-92699296DF23}</a:tableStyleId>
              </a:tblPr>
              <a:tblGrid>
                <a:gridCol w="1269225"/>
                <a:gridCol w="1269225"/>
              </a:tblGrid>
              <a:tr h="25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RSA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Elliptic Curve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1024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160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2048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224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3072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256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7680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384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15360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512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8"/>
          <p:cNvSpPr txBox="1"/>
          <p:nvPr/>
        </p:nvSpPr>
        <p:spPr>
          <a:xfrm>
            <a:off x="2658048" y="4579325"/>
            <a:ext cx="2817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https://habr.com/ru/post/335906/</a:t>
            </a:r>
            <a:r>
              <a:rPr lang="en"/>
              <a:t> 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6015263" y="1930050"/>
            <a:ext cx="16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Длина ключа</a:t>
            </a:r>
            <a:endParaRPr sz="1800"/>
          </a:p>
        </p:txBody>
      </p:sp>
      <p:sp>
        <p:nvSpPr>
          <p:cNvPr id="91" name="Google Shape;91;p18"/>
          <p:cNvSpPr txBox="1"/>
          <p:nvPr/>
        </p:nvSpPr>
        <p:spPr>
          <a:xfrm>
            <a:off x="4572000" y="572700"/>
            <a:ext cx="426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ECDH - Диффи-Хелман на эллиптических кривых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ECDSA - верификация на эллиптических кривых</a:t>
            </a:r>
            <a:endParaRPr sz="1800"/>
          </a:p>
        </p:txBody>
      </p:sp>
      <p:sp>
        <p:nvSpPr>
          <p:cNvPr id="92" name="Google Shape;92;p18"/>
          <p:cNvSpPr txBox="1"/>
          <p:nvPr/>
        </p:nvSpPr>
        <p:spPr>
          <a:xfrm>
            <a:off x="405300" y="2509025"/>
            <a:ext cx="42603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Алгоритмы для получения сессионного ключа: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kex</a:t>
            </a:r>
            <a:endParaRPr>
              <a:solidFill>
                <a:srgbClr val="383A42"/>
              </a:solidFill>
              <a:highlight>
                <a:srgbClr val="FBFD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Симметричные ключи для шифрования канала: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cipher</a:t>
            </a:r>
            <a:endParaRPr>
              <a:solidFill>
                <a:srgbClr val="383A42"/>
              </a:solidFill>
              <a:highlight>
                <a:srgbClr val="FBFD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Ключи для авторизации у клиента: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key-cert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scp </a:t>
            </a: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/>
              <a:t>:</a:t>
            </a:r>
            <a:r>
              <a:rPr lang="en" sz="1800">
                <a:solidFill>
                  <a:srgbClr val="0B5394"/>
                </a:solidFill>
              </a:rPr>
              <a:t>/home/user/dst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>
                <a:solidFill>
                  <a:schemeClr val="dk1"/>
                </a:solidFill>
              </a:rPr>
              <a:t> - локальный файл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>
                <a:solidFill>
                  <a:schemeClr val="dk1"/>
                </a:solidFill>
              </a:rPr>
              <a:t> - удалённый компьютер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B5394"/>
                </a:solidFill>
              </a:rPr>
              <a:t>/home/user/dst</a:t>
            </a:r>
            <a:r>
              <a:rPr lang="en" sz="1800">
                <a:solidFill>
                  <a:schemeClr val="dk1"/>
                </a:solidFill>
              </a:rPr>
              <a:t> - путь до нового файла на удалённом компьютере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11700" y="324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tar czf - /home/user/file</a:t>
            </a:r>
            <a:r>
              <a:rPr lang="en" sz="1800"/>
              <a:t> | </a:t>
            </a:r>
            <a:r>
              <a:rPr lang="en" sz="1800">
                <a:solidFill>
                  <a:srgbClr val="38761D"/>
                </a:solidFill>
              </a:rPr>
              <a:t>ssh user@host</a:t>
            </a:r>
            <a:r>
              <a:rPr lang="en" sz="1800"/>
              <a:t> </a:t>
            </a:r>
            <a:r>
              <a:rPr lang="en" sz="1800">
                <a:solidFill>
                  <a:srgbClr val="0B5394"/>
                </a:solidFill>
              </a:rPr>
              <a:t>tar -xvzf -C /home/user/dst</a:t>
            </a:r>
            <a:endParaRPr sz="18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Запуск графических приложений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572700"/>
            <a:ext cx="720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сервере: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apt install xauth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echo "X11Forwarding yes" &gt;&gt; /etc/ssh/sshd_conf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клиенте: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-X server</a:t>
            </a:r>
            <a:endParaRPr sz="18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172" y="2419800"/>
            <a:ext cx="5307127" cy="21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sshfs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311700" y="572700"/>
            <a:ext cx="7208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sshfs -d numicoins:/home/tyvik/ /mnt/sshfs</a:t>
            </a: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$ fusermount -u /mnt/sshfs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Проброс туннеля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351" y="1738075"/>
            <a:ext cx="4591950" cy="25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311700" y="572700"/>
            <a:ext cx="720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-f -N -L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: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user@52.250.250.25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- локальный порт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- адрес удалённой машины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user@52.250.250.25</a:t>
            </a:r>
            <a:r>
              <a:rPr lang="en" sz="1800"/>
              <a:t> - доступ к бастион-хосту</a:t>
            </a:r>
            <a:endParaRPr sz="1800"/>
          </a:p>
        </p:txBody>
      </p:sp>
      <p:sp>
        <p:nvSpPr>
          <p:cNvPr id="120" name="Google Shape;120;p22"/>
          <p:cNvSpPr txBox="1"/>
          <p:nvPr/>
        </p:nvSpPr>
        <p:spPr>
          <a:xfrm>
            <a:off x="311700" y="3898650"/>
            <a:ext cx="45231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Host dbinstance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Hostname </a:t>
            </a:r>
            <a:r>
              <a:rPr lang="en" sz="1800">
                <a:solidFill>
                  <a:srgbClr val="FF0000"/>
                </a:solidFill>
              </a:rPr>
              <a:t>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Localforward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сервера ssh</a:t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311700" y="572700"/>
            <a:ext cx="720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PermitRootLogin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PasswordAuthentication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PubkeyAuthentication 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AllowUsers user1, user2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Методы защиты ssh</a:t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572700"/>
            <a:ext cx="7208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авторизация по ключу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отключение входа root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fail2ban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обязательное обновление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использование google-authenticator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смена дефолтного порта (?)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honeypot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ограничение по IP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port-knocking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nohup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438250" y="926900"/>
            <a:ext cx="720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tmux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