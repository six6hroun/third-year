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458462/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skillfactory/blog/547116/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https://habr.com/ru/articles/881428/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https://github.com/p8952/bocker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0b9e1eb7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0b9e1eb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0b9e1eb78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0b9e1eb78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0b9e1eb78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0b9e1eb78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0b9e1eb78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0b9e1eb7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15m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https://www.linuxjournal.com/content/everything-you-need-know-about-linux-containers-part-ii-working-linux-containers-lxc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0b9e1eb78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0b9e1eb78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0b9e1eb78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0b9e1eb78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2e0b4c6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2e0b4c6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0b9e1eb78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0b9e1eb78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0b9e1eb78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0b9e1eb78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0b9e1eb78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0b9e1eb78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0b9e1eb78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0b9e1eb78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сделать docker update --memory="1G" &lt;container&gt;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прочитать значение из memory.limit_in_bytes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попробовать установить "100M"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установить "100M" через cgroup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отключить своп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0b9e1eb78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0b9e1eb78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0b9e1eb78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0b9e1eb78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0b9e1eb78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0b9e1eb78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"Глубокое погружение в Linux namespaces" </a:t>
            </a:r>
            <a:r>
              <a:rPr lang="ru" u="sng">
                <a:solidFill>
                  <a:schemeClr val="hlink"/>
                </a:solidFill>
                <a:hlinkClick r:id="rId2"/>
              </a:rPr>
              <a:t>https://habr.com/ru/post/458462/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0b9e1eb78_1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0b9e1eb78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0b9e1eb78_1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0b9e1eb78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0b9e1eb78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0b9e1eb78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"Изучаем внутренние компоненты Docker — Объединённая файловая система" </a:t>
            </a:r>
            <a:r>
              <a:rPr lang="ru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https://habr.com/ru/company/skillfactory/blog/547116/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0b9e1eb78_1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50b9e1eb78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создать ro слой и показать как он перестраивается на лету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>
                <a:solidFill>
                  <a:schemeClr val="dk1"/>
                </a:solidFill>
              </a:rPr>
              <a:t>создать rw слой и показать как редактируется upperdir и создаются whiteout файлы для очистки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0b9e1eb78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50b9e1eb78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работа с симлинком и хардлинком на /etc/passwd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hyperlink" Target="https://habr.com/ru/company/wunderfund/blog/658309/" TargetMode="External"/><Relationship Id="rId5" Type="http://schemas.openxmlformats.org/officeDocument/2006/relationships/hyperlink" Target="http://www.youtube.com/watch?v=xIyKUMpRTRE" TargetMode="External"/><Relationship Id="rId6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Docker internals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Контейнеризация</a:t>
            </a:r>
            <a:endParaRPr sz="28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35"/>
            <a:ext cx="5298051" cy="389977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240900" y="940363"/>
            <a:ext cx="2591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</a:rPr>
              <a:t>Контейнеризация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Плюсы: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быстрый запуск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интроспекция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меньший оверхед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простота настройки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Минусы: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изоляция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безопасность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85025" y="487575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История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85025" y="2805550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198550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chroot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1979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670625" y="487575"/>
            <a:ext cx="26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Виртуализация</a:t>
            </a:r>
            <a:endParaRPr sz="1800"/>
          </a:p>
        </p:txBody>
      </p:sp>
      <p:sp>
        <p:nvSpPr>
          <p:cNvPr id="72" name="Google Shape;72;p15"/>
          <p:cNvSpPr txBox="1"/>
          <p:nvPr/>
        </p:nvSpPr>
        <p:spPr>
          <a:xfrm>
            <a:off x="670625" y="3845600"/>
            <a:ext cx="28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Контейнеризация</a:t>
            </a:r>
            <a:endParaRPr sz="1800"/>
          </a:p>
        </p:txBody>
      </p:sp>
      <p:sp>
        <p:nvSpPr>
          <p:cNvPr id="73" name="Google Shape;73;p15"/>
          <p:cNvSpPr/>
          <p:nvPr/>
        </p:nvSpPr>
        <p:spPr>
          <a:xfrm>
            <a:off x="1851575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jails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2000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504600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OpenVZ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2005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5157625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LXC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2008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016800" y="21038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2013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198550" y="10959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VMware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1999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365175" y="918600"/>
            <a:ext cx="1161900" cy="880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KVM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VirtualBox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2007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1712113" y="991500"/>
            <a:ext cx="1161900" cy="735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Intel VT-x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AMD-V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2006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157625" y="10959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Hyper-V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2008</a:t>
            </a:r>
            <a:endParaRPr/>
          </a:p>
        </p:txBody>
      </p:sp>
      <p:cxnSp>
        <p:nvCxnSpPr>
          <p:cNvPr id="81" name="Google Shape;81;p15"/>
          <p:cNvCxnSpPr>
            <a:stCxn id="73" idx="3"/>
            <a:endCxn id="74" idx="1"/>
          </p:cNvCxnSpPr>
          <p:nvPr/>
        </p:nvCxnSpPr>
        <p:spPr>
          <a:xfrm>
            <a:off x="2873975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5"/>
          <p:cNvCxnSpPr>
            <a:stCxn id="70" idx="3"/>
            <a:endCxn id="73" idx="1"/>
          </p:cNvCxnSpPr>
          <p:nvPr/>
        </p:nvCxnSpPr>
        <p:spPr>
          <a:xfrm>
            <a:off x="1220950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5"/>
          <p:cNvCxnSpPr>
            <a:stCxn id="74" idx="3"/>
            <a:endCxn id="75" idx="1"/>
          </p:cNvCxnSpPr>
          <p:nvPr/>
        </p:nvCxnSpPr>
        <p:spPr>
          <a:xfrm>
            <a:off x="4527000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75" idx="3"/>
            <a:endCxn id="76" idx="2"/>
          </p:cNvCxnSpPr>
          <p:nvPr/>
        </p:nvCxnSpPr>
        <p:spPr>
          <a:xfrm flipH="1" rot="10800000">
            <a:off x="6180025" y="2630075"/>
            <a:ext cx="1347900" cy="765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>
            <a:stCxn id="77" idx="3"/>
            <a:endCxn id="79" idx="1"/>
          </p:cNvCxnSpPr>
          <p:nvPr/>
        </p:nvCxnSpPr>
        <p:spPr>
          <a:xfrm>
            <a:off x="1220950" y="13590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>
            <a:stCxn id="79" idx="3"/>
            <a:endCxn id="78" idx="1"/>
          </p:cNvCxnSpPr>
          <p:nvPr/>
        </p:nvCxnSpPr>
        <p:spPr>
          <a:xfrm>
            <a:off x="2874013" y="13590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>
            <a:stCxn id="78" idx="3"/>
            <a:endCxn id="80" idx="1"/>
          </p:cNvCxnSpPr>
          <p:nvPr/>
        </p:nvCxnSpPr>
        <p:spPr>
          <a:xfrm>
            <a:off x="4527075" y="1359000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5"/>
          <p:cNvCxnSpPr>
            <a:stCxn id="80" idx="3"/>
            <a:endCxn id="76" idx="0"/>
          </p:cNvCxnSpPr>
          <p:nvPr/>
        </p:nvCxnSpPr>
        <p:spPr>
          <a:xfrm>
            <a:off x="6180025" y="1359000"/>
            <a:ext cx="1347900" cy="74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5"/>
          <p:cNvCxnSpPr>
            <a:stCxn id="76" idx="3"/>
          </p:cNvCxnSpPr>
          <p:nvPr/>
        </p:nvCxnSpPr>
        <p:spPr>
          <a:xfrm>
            <a:off x="8039200" y="2366975"/>
            <a:ext cx="6975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Docker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887" y="729789"/>
            <a:ext cx="7342225" cy="36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Docker </a:t>
            </a:r>
            <a:r>
              <a:rPr lang="ru" sz="2800"/>
              <a:t>engine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375" y="1803050"/>
            <a:ext cx="4629251" cy="2346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311700" y="560525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cgroups — управление ресурсами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namespaces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изоляция идентификаторов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Layer FS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эмуляция ФС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Control Groups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11750" y="542875"/>
            <a:ext cx="85206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Ограничение</a:t>
            </a:r>
            <a:r>
              <a:rPr lang="ru" sz="1600">
                <a:solidFill>
                  <a:srgbClr val="000000"/>
                </a:solidFill>
              </a:rPr>
              <a:t>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>
                <a:solidFill>
                  <a:srgbClr val="000000"/>
                </a:solidFill>
              </a:rPr>
              <a:t> установка лимитов использования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Приоритизация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>
                <a:solidFill>
                  <a:srgbClr val="000000"/>
                </a:solidFill>
              </a:rPr>
              <a:t> пропускная способность HDD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>
                <a:solidFill>
                  <a:srgbClr val="000000"/>
                </a:solidFill>
              </a:rPr>
              <a:t>Биллинг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>
                <a:solidFill>
                  <a:srgbClr val="000000"/>
                </a:solidFill>
              </a:rPr>
              <a:t> измерение потребления каждого контейнера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>
                <a:solidFill>
                  <a:srgbClr val="000000"/>
                </a:solidFill>
              </a:rPr>
              <a:t>Управление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>
                <a:solidFill>
                  <a:srgbClr val="000000"/>
                </a:solidFill>
              </a:rPr>
              <a:t> заморозка всех процессов внутри контейнера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725" y="1773100"/>
            <a:ext cx="5946650" cy="270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Каталоги cgroups v1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11700" y="542875"/>
            <a:ext cx="8520600" cy="42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/sys/fs/cgroup: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blkio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у</a:t>
            </a:r>
            <a:r>
              <a:rPr lang="ru" sz="1800">
                <a:solidFill>
                  <a:srgbClr val="000000"/>
                </a:solidFill>
              </a:rPr>
              <a:t>станавливает лимиты на чтение и запись с блочных устройств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cpu,cpuacct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к</a:t>
            </a:r>
            <a:r>
              <a:rPr lang="ru" sz="1800">
                <a:solidFill>
                  <a:srgbClr val="000000"/>
                </a:solidFill>
              </a:rPr>
              <a:t>онтрол</a:t>
            </a:r>
            <a:r>
              <a:rPr lang="ru" sz="1800"/>
              <a:t>ь</a:t>
            </a:r>
            <a:r>
              <a:rPr lang="ru" sz="1800">
                <a:solidFill>
                  <a:srgbClr val="000000"/>
                </a:solidFill>
              </a:rPr>
              <a:t> доступа к CPU и</a:t>
            </a:r>
            <a:r>
              <a:rPr lang="ru" sz="1800"/>
              <a:t> </a:t>
            </a:r>
            <a:r>
              <a:rPr lang="ru" sz="1800">
                <a:solidFill>
                  <a:srgbClr val="000000"/>
                </a:solidFill>
              </a:rPr>
              <a:t>отчёт о его использовании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cpuset </a:t>
            </a:r>
            <a:r>
              <a:rPr lang="ru" sz="1800"/>
              <a:t>— р</a:t>
            </a:r>
            <a:r>
              <a:rPr lang="ru" sz="1800">
                <a:solidFill>
                  <a:srgbClr val="000000"/>
                </a:solidFill>
              </a:rPr>
              <a:t>аспределяет задачи в рамках контрольной группы между процессорными ядрами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devices </a:t>
            </a:r>
            <a:r>
              <a:rPr lang="ru" sz="1800"/>
              <a:t>— р</a:t>
            </a:r>
            <a:r>
              <a:rPr lang="ru" sz="1800">
                <a:solidFill>
                  <a:srgbClr val="000000"/>
                </a:solidFill>
              </a:rPr>
              <a:t>азрешает или блокирует доступ к устройствам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freezer </a:t>
            </a:r>
            <a:r>
              <a:rPr lang="ru" sz="1800"/>
              <a:t>— п</a:t>
            </a:r>
            <a:r>
              <a:rPr lang="ru" sz="1800">
                <a:solidFill>
                  <a:srgbClr val="000000"/>
                </a:solidFill>
              </a:rPr>
              <a:t>риостанавливает и возобновляет выполнение задач в рамках контрольной группы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memory </a:t>
            </a:r>
            <a:r>
              <a:rPr lang="ru" sz="1800"/>
              <a:t>— у</a:t>
            </a:r>
            <a:r>
              <a:rPr lang="ru" sz="1800">
                <a:solidFill>
                  <a:srgbClr val="000000"/>
                </a:solidFill>
              </a:rPr>
              <a:t>правляет выделением памяти для групп процессов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net_prio </a:t>
            </a:r>
            <a:r>
              <a:rPr lang="ru" sz="1800"/>
              <a:t>— д</a:t>
            </a:r>
            <a:r>
              <a:rPr lang="ru" sz="1800">
                <a:solidFill>
                  <a:srgbClr val="000000"/>
                </a:solidFill>
              </a:rPr>
              <a:t>инамическ</a:t>
            </a:r>
            <a:r>
              <a:rPr lang="ru" sz="1800"/>
              <a:t>ая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установка</a:t>
            </a:r>
            <a:r>
              <a:rPr lang="ru" sz="1800">
                <a:solidFill>
                  <a:srgbClr val="000000"/>
                </a:solidFill>
              </a:rPr>
              <a:t> приоритетов по трафику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pids </a:t>
            </a:r>
            <a:r>
              <a:rPr lang="ru" sz="1800"/>
              <a:t>— о</a:t>
            </a:r>
            <a:r>
              <a:rPr lang="ru" sz="1800">
                <a:solidFill>
                  <a:srgbClr val="000000"/>
                </a:solidFill>
              </a:rPr>
              <a:t>граничени</a:t>
            </a:r>
            <a:r>
              <a:rPr lang="ru" sz="1800"/>
              <a:t>е</a:t>
            </a:r>
            <a:r>
              <a:rPr lang="ru" sz="1800">
                <a:solidFill>
                  <a:srgbClr val="000000"/>
                </a:solidFill>
              </a:rPr>
              <a:t> количества процессов в рамках контрольной группы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Каталоги cgroups v</a:t>
            </a:r>
            <a:r>
              <a:rPr lang="ru" sz="2800"/>
              <a:t>2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11700" y="542875"/>
            <a:ext cx="8520600" cy="42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/sys/fs/cgroup: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/>
              <a:t>cgroup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общая информация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cpu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к</a:t>
            </a:r>
            <a:r>
              <a:rPr lang="ru" sz="1800">
                <a:solidFill>
                  <a:srgbClr val="000000"/>
                </a:solidFill>
              </a:rPr>
              <a:t>онтрол</a:t>
            </a:r>
            <a:r>
              <a:rPr lang="ru" sz="1800"/>
              <a:t>ь</a:t>
            </a:r>
            <a:r>
              <a:rPr lang="ru" sz="1800">
                <a:solidFill>
                  <a:srgbClr val="000000"/>
                </a:solidFill>
              </a:rPr>
              <a:t> доступа к CPU и</a:t>
            </a:r>
            <a:r>
              <a:rPr lang="ru" sz="1800"/>
              <a:t> </a:t>
            </a:r>
            <a:r>
              <a:rPr lang="ru" sz="1800">
                <a:solidFill>
                  <a:srgbClr val="000000"/>
                </a:solidFill>
              </a:rPr>
              <a:t>отчёт о его использовании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cpuset </a:t>
            </a:r>
            <a:r>
              <a:rPr lang="ru" sz="1800"/>
              <a:t>— р</a:t>
            </a:r>
            <a:r>
              <a:rPr lang="ru" sz="1800">
                <a:solidFill>
                  <a:srgbClr val="000000"/>
                </a:solidFill>
              </a:rPr>
              <a:t>аспределяет задачи в рамках контрольной группы между процессорными ядрами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/>
              <a:t>io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— контроль за вводом и выводом (сети/диска)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memory </a:t>
            </a:r>
            <a:r>
              <a:rPr lang="ru" sz="1800"/>
              <a:t>— у</a:t>
            </a:r>
            <a:r>
              <a:rPr lang="ru" sz="1800">
                <a:solidFill>
                  <a:srgbClr val="000000"/>
                </a:solidFill>
              </a:rPr>
              <a:t>правляет выделением памяти для групп процессов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pids </a:t>
            </a:r>
            <a:r>
              <a:rPr lang="ru" sz="1800"/>
              <a:t>— о</a:t>
            </a:r>
            <a:r>
              <a:rPr lang="ru" sz="1800">
                <a:solidFill>
                  <a:srgbClr val="000000"/>
                </a:solidFill>
              </a:rPr>
              <a:t>граничени</a:t>
            </a:r>
            <a:r>
              <a:rPr lang="ru" sz="1800"/>
              <a:t>е</a:t>
            </a:r>
            <a:r>
              <a:rPr lang="ru" sz="1800">
                <a:solidFill>
                  <a:srgbClr val="000000"/>
                </a:solidFill>
              </a:rPr>
              <a:t> количества процессов в рамках контрольной группы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Работа с </a:t>
            </a:r>
            <a:r>
              <a:rPr lang="ru" sz="2800">
                <a:solidFill>
                  <a:srgbClr val="000000"/>
                </a:solidFill>
              </a:rPr>
              <a:t>cgroups v2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311700" y="560525"/>
            <a:ext cx="4383300" cy="3786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Создание группы: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cgcreate -g cpu:devops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mkdir /sys/fs/cgroup/cpu/devops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Запуск в группе: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cgexec -g cpu:devops </a:t>
            </a:r>
            <a:r>
              <a:rPr lang="ru" sz="1800">
                <a:solidFill>
                  <a:srgbClr val="0B5394"/>
                </a:solidFill>
              </a:rPr>
              <a:t>stress -c 2</a:t>
            </a:r>
            <a:endParaRPr sz="18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Добавление в группу: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echo 26932 &gt; cpu/devops/tasks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cgclassify -g cpu:devops --sticky 26932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Удаление группы: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cgdelete -g cpu:devops</a:t>
            </a:r>
            <a:endParaRPr sz="1800"/>
          </a:p>
        </p:txBody>
      </p:sp>
      <p:sp>
        <p:nvSpPr>
          <p:cNvPr id="128" name="Google Shape;128;p21"/>
          <p:cNvSpPr txBox="1"/>
          <p:nvPr/>
        </p:nvSpPr>
        <p:spPr>
          <a:xfrm>
            <a:off x="5828575" y="560525"/>
            <a:ext cx="30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6AA84F"/>
                </a:solidFill>
              </a:rPr>
              <a:t>$ sudo apt install cgroup-tools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667325" y="1945925"/>
            <a:ext cx="3326100" cy="2401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Проверка наличия cgroups: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ps -o cgroup 26932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Мониторинг: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systemd-cgtop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systemd-cgls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cat cpu/devops/tasks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cat /proc/26932/cgroup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Установка квот CPU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11700" y="560525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Чтение параметра: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# cat cpu.max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Запись параметра: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# echo "1000 100000" &gt; cpu.max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или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# cgset -r cpu.max="10000 100000" devops</a:t>
            </a:r>
            <a:endParaRPr sz="1800"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238" y="2684525"/>
            <a:ext cx="5785526" cy="16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Completely Fair Scheduler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925" y="3610950"/>
            <a:ext cx="5192475" cy="143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925" y="2200025"/>
            <a:ext cx="5192476" cy="108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925" y="709375"/>
            <a:ext cx="5192475" cy="10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311700" y="942275"/>
            <a:ext cx="277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Плохая ситуация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Stop the world 50ms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2436950"/>
            <a:ext cx="277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Ещё хуже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Stop the world 100ms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311700" y="3982925"/>
            <a:ext cx="277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Квота распространяется в том числе и на подпроцессы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Docker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311700" y="560525"/>
            <a:ext cx="852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$ docker run </a:t>
            </a:r>
            <a:r>
              <a:rPr lang="ru" sz="1800">
                <a:solidFill>
                  <a:schemeClr val="dk1"/>
                </a:solidFill>
              </a:rPr>
              <a:t>--cpus="2" --name="stress" --rm </a:t>
            </a:r>
            <a:r>
              <a:rPr lang="ru" sz="1800"/>
              <a:t>tyvik/stress stress -c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$ docker update --cpus="0.5" stress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$ docker update --cpus="4" stress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# cat /sys/fs/cgroup/docker-&lt;id&gt;/cpu.max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$ docker pause stress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$ docker inspect stress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 echo "10000 100000" &gt; cpu.max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Docker и cpuset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493" y="878950"/>
            <a:ext cx="4709606" cy="289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5474900" y="3776475"/>
            <a:ext cx="26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Как спастись от троттлинга</a:t>
            </a:r>
            <a:endParaRPr/>
          </a:p>
        </p:txBody>
      </p:sp>
      <p:pic>
        <p:nvPicPr>
          <p:cNvPr descr="HighLoad++ 2017&#10;&#10;Тезисы:&#10;http://www.highload.ru/2017/abstracts/2899.html&#10;&#10;На каждой конференции мы слушаем интереснейшие доклады про CI/CD, service discovery, docker, kubernetes и т.д. Практически все эти доклады рассказывают нам о &quot;разработческой&quot; стороне проблемы: как собрать образ контейнера, быстро его протестировать и задеплоить, как контейнеры друг о друге узнают, как добавится новый upstream в конфиг nginx и т.д.&#10;&#10;Но никто нам не рассказал, как потом с этим &quot;облачным&quot; счастьем жить (тем более под нагрузкой). &#10;...&#10;--------&#10;Нашли ошибку в видео? Пишите нам на support@ontico.ru" id="161" name="Google Shape;161;p25" title="Эксплуатация container-based-инфраструктур / Николай Сивко (okmeter.io)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562" y="878946"/>
            <a:ext cx="3863375" cy="289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311700" y="3938325"/>
            <a:ext cx="417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Эксплуатация container-based-инфраструктур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/>
        </p:nvSpPr>
        <p:spPr>
          <a:xfrm>
            <a:off x="311700" y="572700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Информация о системе: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/proc/cpuinfo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/proc/memory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/proc/mounts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/proc/loadavg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/proc/cmdline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/sys/block/nvme0n1/device/model</a:t>
            </a:r>
            <a:endParaRPr sz="1800"/>
          </a:p>
        </p:txBody>
      </p:sp>
      <p:sp>
        <p:nvSpPr>
          <p:cNvPr id="168" name="Google Shape;168;p26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Побег из песочницы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Namespaces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311700" y="542875"/>
            <a:ext cx="8520600" cy="23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Mount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изолированное дерево каталогов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UTS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собственное доменное имя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IPC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очередь сообщений ядра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PID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идентификаторы процессов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Network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</a:t>
            </a:r>
            <a:r>
              <a:rPr lang="ru" sz="1800"/>
              <a:t>IP</a:t>
            </a:r>
            <a:r>
              <a:rPr lang="ru" sz="1800">
                <a:solidFill>
                  <a:srgbClr val="000000"/>
                </a:solidFill>
              </a:rPr>
              <a:t> и маршруты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ru" sz="1800">
                <a:solidFill>
                  <a:srgbClr val="000000"/>
                </a:solidFill>
              </a:rPr>
              <a:t>User namespace </a:t>
            </a:r>
            <a:r>
              <a:rPr lang="ru" sz="1800"/>
              <a:t>—</a:t>
            </a:r>
            <a:r>
              <a:rPr lang="ru" sz="1800">
                <a:solidFill>
                  <a:srgbClr val="000000"/>
                </a:solidFill>
              </a:rPr>
              <a:t> идентификаторы пользователей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/>
              <a:t>Time namespace — установка времени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Namespaces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311700" y="560525"/>
            <a:ext cx="4269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Изолированный hostname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ls -la /proc/$$/ns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unshare --uts bash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hostname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Изолированное дерево процессов: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unshare --fork --pid --mount-proc /bin/bash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$ ps -A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PID TTY          TIME CMD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  1 pts/3    00:00:00 bash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      8 pts/3    00:00:00 ps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Родительский namespace: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$ docker run -it --net=host tyvik/stress bash</a:t>
            </a:r>
            <a:endParaRPr sz="1600"/>
          </a:p>
        </p:txBody>
      </p:sp>
      <p:sp>
        <p:nvSpPr>
          <p:cNvPr id="181" name="Google Shape;181;p28"/>
          <p:cNvSpPr txBox="1"/>
          <p:nvPr/>
        </p:nvSpPr>
        <p:spPr>
          <a:xfrm>
            <a:off x="5032175" y="499750"/>
            <a:ext cx="3800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Мониторинг: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# lsns -p 214356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# ps -e -o pidns,pid,user,args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cat /proc/&lt;pid&gt;/status | grep NSpid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Capabilities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311700" y="560525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$ docker run -it --cap-add=all tyvik/stress bash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root@8f1b8a25b518:/# hostname 1231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hostname: you must be root to change the host name</a:t>
            </a:r>
            <a:endParaRPr sz="1600"/>
          </a:p>
        </p:txBody>
      </p:sp>
      <p:sp>
        <p:nvSpPr>
          <p:cNvPr id="188" name="Google Shape;188;p29"/>
          <p:cNvSpPr txBox="1"/>
          <p:nvPr/>
        </p:nvSpPr>
        <p:spPr>
          <a:xfrm>
            <a:off x="311700" y="1736825"/>
            <a:ext cx="306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CapInh:	00000000a80425fb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CapPrm:	00000000a80425fb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CapEff:	00000000a80425fb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CapBnd:	00000000a80425fb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CapAmb:	0000000000000000</a:t>
            </a:r>
            <a:endParaRPr sz="1600"/>
          </a:p>
        </p:txBody>
      </p:sp>
      <p:sp>
        <p:nvSpPr>
          <p:cNvPr id="189" name="Google Shape;189;p29"/>
          <p:cNvSpPr txBox="1"/>
          <p:nvPr/>
        </p:nvSpPr>
        <p:spPr>
          <a:xfrm>
            <a:off x="3741650" y="1736825"/>
            <a:ext cx="5090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Inheritable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наследуемые дочерними процессами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Permitted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доступные для использования (одноразово)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Effective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применимые в данный момент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Bounding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доступные для использования (многоразово)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Ambient </a:t>
            </a:r>
            <a:r>
              <a:rPr lang="ru" sz="1600">
                <a:solidFill>
                  <a:schemeClr val="dk1"/>
                </a:solidFill>
              </a:rPr>
              <a:t>—</a:t>
            </a:r>
            <a:r>
              <a:rPr lang="ru" sz="1600"/>
              <a:t> аналогично Inheritable, но для непривилегированных пользователей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Layer FS (UnionFS, AuFS, OverlayFS)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200" y="601313"/>
            <a:ext cx="574357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 txBox="1"/>
          <p:nvPr/>
        </p:nvSpPr>
        <p:spPr>
          <a:xfrm>
            <a:off x="311700" y="3023200"/>
            <a:ext cx="5843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aufs — docker only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OverlayFS — linux native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ZFS — Oracle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btrfs — GPL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Layer FS (</a:t>
            </a:r>
            <a:r>
              <a:rPr lang="ru" sz="2800"/>
              <a:t>manual</a:t>
            </a:r>
            <a:r>
              <a:rPr lang="ru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311700" y="560525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Объединить 2 слоя (read-only):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mount -t overlay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    -o lowerdir=/opt/devops/lower2:/opt/devops/lower1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    overlay /mnt/merged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Объединить 3 слоя (read-write):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solidFill>
                  <a:srgbClr val="000000"/>
                </a:solidFill>
              </a:rPr>
              <a:t># sudo mount -t overlay -o \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</a:t>
            </a:r>
            <a:r>
              <a:rPr lang="ru" sz="1600">
                <a:solidFill>
                  <a:srgbClr val="000000"/>
                </a:solidFill>
              </a:rPr>
              <a:t>lowerdir=/opt/</a:t>
            </a:r>
            <a:r>
              <a:rPr lang="ru" sz="1600"/>
              <a:t>devops</a:t>
            </a:r>
            <a:r>
              <a:rPr lang="ru" sz="1600">
                <a:solidFill>
                  <a:srgbClr val="000000"/>
                </a:solidFill>
              </a:rPr>
              <a:t>/lower</a:t>
            </a:r>
            <a:r>
              <a:rPr lang="ru" sz="1600"/>
              <a:t>2</a:t>
            </a:r>
            <a:r>
              <a:rPr lang="ru" sz="1600">
                <a:solidFill>
                  <a:srgbClr val="000000"/>
                </a:solidFill>
              </a:rPr>
              <a:t>:/opt/</a:t>
            </a:r>
            <a:r>
              <a:rPr lang="ru" sz="1600">
                <a:solidFill>
                  <a:schemeClr val="dk1"/>
                </a:solidFill>
              </a:rPr>
              <a:t>devops</a:t>
            </a:r>
            <a:r>
              <a:rPr lang="ru" sz="1600">
                <a:solidFill>
                  <a:srgbClr val="000000"/>
                </a:solidFill>
              </a:rPr>
              <a:t>/lower</a:t>
            </a:r>
            <a:r>
              <a:rPr lang="ru" sz="1600"/>
              <a:t>1</a:t>
            </a:r>
            <a:r>
              <a:rPr lang="ru" sz="1600">
                <a:solidFill>
                  <a:srgbClr val="000000"/>
                </a:solidFill>
              </a:rPr>
              <a:t>,</a:t>
            </a:r>
            <a:r>
              <a:rPr lang="ru" sz="1600"/>
              <a:t>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</a:t>
            </a:r>
            <a:r>
              <a:rPr lang="ru" sz="1600">
                <a:solidFill>
                  <a:srgbClr val="000000"/>
                </a:solidFill>
              </a:rPr>
              <a:t>upperdir=/opt/</a:t>
            </a:r>
            <a:r>
              <a:rPr lang="ru" sz="1600">
                <a:solidFill>
                  <a:schemeClr val="dk1"/>
                </a:solidFill>
              </a:rPr>
              <a:t>devops</a:t>
            </a:r>
            <a:r>
              <a:rPr lang="ru" sz="1600">
                <a:solidFill>
                  <a:srgbClr val="000000"/>
                </a:solidFill>
              </a:rPr>
              <a:t>/upper,</a:t>
            </a:r>
            <a:r>
              <a:rPr lang="ru" sz="1600"/>
              <a:t>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</a:t>
            </a:r>
            <a:r>
              <a:rPr lang="ru" sz="1600">
                <a:solidFill>
                  <a:srgbClr val="000000"/>
                </a:solidFill>
              </a:rPr>
              <a:t>workdir=/opt/</a:t>
            </a:r>
            <a:r>
              <a:rPr lang="ru" sz="1600">
                <a:solidFill>
                  <a:schemeClr val="dk1"/>
                </a:solidFill>
              </a:rPr>
              <a:t>devops</a:t>
            </a:r>
            <a:r>
              <a:rPr lang="ru" sz="1600">
                <a:solidFill>
                  <a:srgbClr val="000000"/>
                </a:solidFill>
              </a:rPr>
              <a:t>/workdir \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/>
              <a:t>    </a:t>
            </a:r>
            <a:r>
              <a:rPr lang="ru" sz="1600">
                <a:solidFill>
                  <a:srgbClr val="000000"/>
                </a:solidFill>
              </a:rPr>
              <a:t>overlay /mnt/merged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Опции монтирования: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# cat /proc/mounts | grep over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Layer FS (</a:t>
            </a:r>
            <a:r>
              <a:rPr lang="ru" sz="2800"/>
              <a:t>Docker</a:t>
            </a:r>
            <a:r>
              <a:rPr lang="ru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311700" y="560525"/>
            <a:ext cx="8520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Список всех слоёв: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ls /var/lib/docker/overlay2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Слои для контейнера: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# docker inspect &lt;container_id&gt; | jq ".[0].GraphDriver.Data"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209" name="Google Shape;209;p32"/>
          <p:cNvGrpSpPr/>
          <p:nvPr/>
        </p:nvGrpSpPr>
        <p:grpSpPr>
          <a:xfrm>
            <a:off x="436450" y="2043200"/>
            <a:ext cx="7965900" cy="2330400"/>
            <a:chOff x="436450" y="2043200"/>
            <a:chExt cx="7965900" cy="2330400"/>
          </a:xfrm>
        </p:grpSpPr>
        <p:sp>
          <p:nvSpPr>
            <p:cNvPr id="210" name="Google Shape;210;p32"/>
            <p:cNvSpPr/>
            <p:nvPr/>
          </p:nvSpPr>
          <p:spPr>
            <a:xfrm>
              <a:off x="436450" y="2043200"/>
              <a:ext cx="7965900" cy="2330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host file system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2"/>
            <p:cNvSpPr/>
            <p:nvPr/>
          </p:nvSpPr>
          <p:spPr>
            <a:xfrm>
              <a:off x="3949950" y="3102725"/>
              <a:ext cx="1244100" cy="31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/etc/passwd</a:t>
              </a:r>
              <a:endParaRPr/>
            </a:p>
          </p:txBody>
        </p:sp>
        <p:grpSp>
          <p:nvGrpSpPr>
            <p:cNvPr id="212" name="Google Shape;212;p32"/>
            <p:cNvGrpSpPr/>
            <p:nvPr/>
          </p:nvGrpSpPr>
          <p:grpSpPr>
            <a:xfrm>
              <a:off x="983150" y="2485325"/>
              <a:ext cx="2042700" cy="1550400"/>
              <a:chOff x="-1731000" y="1309725"/>
              <a:chExt cx="2042700" cy="1550400"/>
            </a:xfrm>
          </p:grpSpPr>
          <p:sp>
            <p:nvSpPr>
              <p:cNvPr id="213" name="Google Shape;213;p32"/>
              <p:cNvSpPr/>
              <p:nvPr/>
            </p:nvSpPr>
            <p:spPr>
              <a:xfrm>
                <a:off x="-1731000" y="1309725"/>
                <a:ext cx="2042700" cy="1550400"/>
              </a:xfrm>
              <a:prstGeom prst="rect">
                <a:avLst/>
              </a:prstGeom>
              <a:solidFill>
                <a:srgbClr val="B6D7A8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/>
                  <a:t>symlink</a:t>
                </a:r>
                <a:endParaRPr/>
              </a:p>
            </p:txBody>
          </p:sp>
          <p:sp>
            <p:nvSpPr>
              <p:cNvPr id="214" name="Google Shape;214;p32"/>
              <p:cNvSpPr/>
              <p:nvPr/>
            </p:nvSpPr>
            <p:spPr>
              <a:xfrm>
                <a:off x="-1331700" y="1727600"/>
                <a:ext cx="1244100" cy="31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91425" spcFirstLastPara="1" rIns="91425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/>
                  <a:t>/passwd</a:t>
                </a:r>
                <a:endParaRPr/>
              </a:p>
            </p:txBody>
          </p:sp>
          <p:sp>
            <p:nvSpPr>
              <p:cNvPr id="215" name="Google Shape;215;p32"/>
              <p:cNvSpPr/>
              <p:nvPr/>
            </p:nvSpPr>
            <p:spPr>
              <a:xfrm>
                <a:off x="-1331700" y="2413950"/>
                <a:ext cx="1244100" cy="31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6000" lIns="91425" spcFirstLastPara="1" rIns="91425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/>
                  <a:t>/etc/passwd</a:t>
                </a:r>
                <a:endParaRPr/>
              </a:p>
            </p:txBody>
          </p:sp>
          <p:cxnSp>
            <p:nvCxnSpPr>
              <p:cNvPr id="216" name="Google Shape;216;p32"/>
              <p:cNvCxnSpPr>
                <a:stCxn id="214" idx="2"/>
                <a:endCxn id="215" idx="0"/>
              </p:cNvCxnSpPr>
              <p:nvPr/>
            </p:nvCxnSpPr>
            <p:spPr>
              <a:xfrm>
                <a:off x="-709650" y="2043200"/>
                <a:ext cx="0" cy="370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17" name="Google Shape;217;p32"/>
            <p:cNvSpPr/>
            <p:nvPr/>
          </p:nvSpPr>
          <p:spPr>
            <a:xfrm>
              <a:off x="5718850" y="2485325"/>
              <a:ext cx="2042700" cy="15504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hardlink</a:t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6118150" y="3102725"/>
              <a:ext cx="1244100" cy="31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6000" lIns="91425" spcFirstLastPara="1" rIns="91425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/>
                <a:t>/passwd</a:t>
              </a:r>
              <a:endParaRPr/>
            </a:p>
          </p:txBody>
        </p:sp>
        <p:cxnSp>
          <p:nvCxnSpPr>
            <p:cNvPr id="219" name="Google Shape;219;p32"/>
            <p:cNvCxnSpPr>
              <a:stCxn id="218" idx="1"/>
              <a:endCxn id="211" idx="3"/>
            </p:cNvCxnSpPr>
            <p:nvPr/>
          </p:nvCxnSpPr>
          <p:spPr>
            <a:xfrm rot="10800000">
              <a:off x="5194150" y="3260525"/>
              <a:ext cx="9240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