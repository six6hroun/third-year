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F9BB672-B375-4A49-A37E-DCA11B04B0EF}">
  <a:tblStyle styleId="{6F9BB672-B375-4A49-A37E-DCA11B04B0E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habr.com/ru/company/itsumma/blog/459558/" TargetMode="External"/><Relationship Id="rId3" Type="http://schemas.openxmlformats.org/officeDocument/2006/relationships/hyperlink" Target="https://youtu.be/xIyKUMpRTRE" TargetMode="Externa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habr.com/ru/post/541288/" TargetMode="Externa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habr.com/ru/post/575296/" TargetMode="Externa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linuxjournal.com/content/everything-you-need-know-about-linux-containers-part-i-linux-control-groups-and-process" TargetMode="External"/><Relationship Id="rId3" Type="http://schemas.openxmlformats.org/officeDocument/2006/relationships/hyperlink" Target="https://events.static.linuxfound.org/sites/events/files/slides/cgroup_and_namespaces.pdf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https://habr.com/ru/company/itsumma/blog/459558/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https://habr.com/ru/post/659049/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https://youtu.be/xIyKUMpRTRE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ec952733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ec952733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cec952733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cec952733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cec952733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cec952733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524ec5fe2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524ec5fe2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2cbe153060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2cbe153060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cec952733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cec952733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d0d8295bdb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d0d8295bdb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https://medium.com/@alexander.bazhenov/%D0%B2%D0%B8%D1%80%D1%82%D1%83%D0%B0%D0%BB%D0%B8%D0%B7%D0%B0%D1%86%D0%B8%D1%8F-%D0%B2-linux-%D1%87%D0%B0%D1%81%D1%82%D1%8C-1-kernel-based-virtual-machine-kvm-55f989880dbf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d0d8295bd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d0d8295bd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запустить virt-manager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525f8e41f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525f8e41f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2cbe153060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2cbe153060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2cbe153060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2cbe153060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2cbe153060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2cbe153060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https://habr.com/ru/post/541288/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cec9527331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cec9527331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524ec5fe2b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524ec5fe2b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"Эволюция Docker"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https://habr.com/ru/post/575296/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2cbe153060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2cbe153060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2cbe153060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2cbe153060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2cbe153060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2cbe153060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524ec5fe2b_1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524ec5fe2b_1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d25e8742c1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d25e8742c1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524ec5fe2b_1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524ec5fe2b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2cbe15306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2cbe15306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d358dc078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d358dc078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https://www.linuxjournal.com/content/everything-you-need-know-about-linux-containers-part-i-linux-control-groups-and-process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https://events.static.linuxfound.org/sites/events/files/slides/cgroup_and_namespaces.pdf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image" Target="../media/image10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github.com/docker/engine.git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hub.docker.com/" TargetMode="External"/><Relationship Id="rId4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github.com/p8952/bocker/blob/master/bocker" TargetMode="External"/><Relationship Id="rId4" Type="http://schemas.openxmlformats.org/officeDocument/2006/relationships/hyperlink" Target="https://app.codecrafters.io/courses/docker/overview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Виртуализация и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контейнеризация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7575" y="560525"/>
            <a:ext cx="6528840" cy="427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188" y="381787"/>
            <a:ext cx="8367626" cy="437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Трансляция</a:t>
            </a:r>
            <a:endParaRPr/>
          </a:p>
        </p:txBody>
      </p:sp>
      <p:pic>
        <p:nvPicPr>
          <p:cNvPr id="71" name="Google Shape;71;p16" title="mxto0os6crxuvpv9jauths-uts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560525"/>
            <a:ext cx="6667500" cy="283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6" title="e6893ec66343eb7a2cf87d07ed5a749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19850" y="3250400"/>
            <a:ext cx="2524150" cy="189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Виды виртуализации</a:t>
            </a:r>
            <a:endParaRPr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542875"/>
            <a:ext cx="8520600" cy="42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динамическая трансляция - перехватывает все команды и подменяет на безопасные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паравиртуализация - запуск специально подготовленного образа с модифицированным ядром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аппаратная виртуализация - динамическая трансляция на уровне железа (Intel VT-x, AMD-V). Необходима для KVM.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9" name="Google Shape;79;p17"/>
          <p:cNvPicPr preferRelativeResize="0"/>
          <p:nvPr/>
        </p:nvPicPr>
        <p:blipFill rotWithShape="1">
          <a:blip r:embed="rId3">
            <a:alphaModFix/>
          </a:blip>
          <a:srcRect b="8500" l="0" r="0" t="0"/>
          <a:stretch/>
        </p:blipFill>
        <p:spPr>
          <a:xfrm>
            <a:off x="2303963" y="2602600"/>
            <a:ext cx="4536075" cy="223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8"/>
          <p:cNvPicPr preferRelativeResize="0"/>
          <p:nvPr/>
        </p:nvPicPr>
        <p:blipFill rotWithShape="1">
          <a:blip r:embed="rId3">
            <a:alphaModFix/>
          </a:blip>
          <a:srcRect b="8500" l="0" r="0" t="0"/>
          <a:stretch/>
        </p:blipFill>
        <p:spPr>
          <a:xfrm>
            <a:off x="2303963" y="2602600"/>
            <a:ext cx="4536075" cy="223437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8"/>
          <p:cNvSpPr txBox="1"/>
          <p:nvPr/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Виртуализация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86" name="Google Shape;86;p18"/>
          <p:cNvSpPr txBox="1"/>
          <p:nvPr/>
        </p:nvSpPr>
        <p:spPr>
          <a:xfrm>
            <a:off x="5146500" y="789125"/>
            <a:ext cx="44547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Минусы: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долгий запуск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оверхед ресурсов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сложность в настройке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интроспекция</a:t>
            </a:r>
            <a:endParaRPr sz="1600"/>
          </a:p>
        </p:txBody>
      </p:sp>
      <p:sp>
        <p:nvSpPr>
          <p:cNvPr id="87" name="Google Shape;87;p18"/>
          <p:cNvSpPr txBox="1"/>
          <p:nvPr/>
        </p:nvSpPr>
        <p:spPr>
          <a:xfrm>
            <a:off x="518400" y="789125"/>
            <a:ext cx="44547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Плюсы: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максимальная изоляция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безопасность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честное распределение ресурсов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доступность</a:t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Виртуализация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542875"/>
            <a:ext cx="8520600" cy="42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User-mode Linux - паравиртуализация (локальная)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VMware - проприетарная, дорогая (предприятия)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XEN - паравиртуализация (SaaS)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Hyper-V - проприетарная, бесплатная (Windows)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KVM - виртуальная машина на основе ядра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94" name="Google Shape;94;p19" title="Priv_ring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3950" y="2312400"/>
            <a:ext cx="3930050" cy="283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KVM (Kernel-based Virtual Machine)</a:t>
            </a:r>
            <a:endParaRPr/>
          </a:p>
        </p:txBody>
      </p:sp>
      <p:pic>
        <p:nvPicPr>
          <p:cNvPr id="100" name="Google Shape;10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9629" y="625154"/>
            <a:ext cx="6224750" cy="436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libvirt</a:t>
            </a:r>
            <a:endParaRPr/>
          </a:p>
        </p:txBody>
      </p:sp>
      <p:pic>
        <p:nvPicPr>
          <p:cNvPr id="106" name="Google Shape;10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0711" y="621425"/>
            <a:ext cx="6262576" cy="3522699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1"/>
          <p:cNvSpPr txBox="1"/>
          <p:nvPr/>
        </p:nvSpPr>
        <p:spPr>
          <a:xfrm>
            <a:off x="311700" y="4264775"/>
            <a:ext cx="852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# virt-install --name mkdev-vm-0 --location ~/Downloads/CentOS.iso --memory=1024 --vcpus=1 --disk size=8</a:t>
            </a:r>
            <a:endParaRPr b="1"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Proxmox</a:t>
            </a:r>
            <a:endParaRPr/>
          </a:p>
        </p:txBody>
      </p:sp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/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Контейнеризация</a:t>
            </a:r>
            <a:endParaRPr sz="2800"/>
          </a:p>
        </p:txBody>
      </p:sp>
      <p:pic>
        <p:nvPicPr>
          <p:cNvPr id="119" name="Google Shape;11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560535"/>
            <a:ext cx="5298051" cy="3899777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3"/>
          <p:cNvSpPr txBox="1"/>
          <p:nvPr/>
        </p:nvSpPr>
        <p:spPr>
          <a:xfrm>
            <a:off x="6240900" y="940363"/>
            <a:ext cx="25914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Контейнеризация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Плюсы: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быстрый запуск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интроспекция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меньший оверхед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простота настройки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Минусы: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изоляция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безопасность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/>
          <p:nvPr/>
        </p:nvSpPr>
        <p:spPr>
          <a:xfrm>
            <a:off x="85025" y="487575"/>
            <a:ext cx="6241500" cy="1509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4"/>
          <p:cNvSpPr txBox="1"/>
          <p:nvPr/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История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127" name="Google Shape;127;p24"/>
          <p:cNvSpPr/>
          <p:nvPr/>
        </p:nvSpPr>
        <p:spPr>
          <a:xfrm>
            <a:off x="85025" y="2805550"/>
            <a:ext cx="6241500" cy="1509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4"/>
          <p:cNvSpPr/>
          <p:nvPr/>
        </p:nvSpPr>
        <p:spPr>
          <a:xfrm>
            <a:off x="198550" y="3131975"/>
            <a:ext cx="1022400" cy="5262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chroot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1979</a:t>
            </a:r>
            <a:endParaRPr/>
          </a:p>
        </p:txBody>
      </p:sp>
      <p:sp>
        <p:nvSpPr>
          <p:cNvPr id="129" name="Google Shape;129;p24"/>
          <p:cNvSpPr txBox="1"/>
          <p:nvPr/>
        </p:nvSpPr>
        <p:spPr>
          <a:xfrm>
            <a:off x="670625" y="487575"/>
            <a:ext cx="260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Виртуализация</a:t>
            </a:r>
            <a:endParaRPr sz="1800"/>
          </a:p>
        </p:txBody>
      </p:sp>
      <p:sp>
        <p:nvSpPr>
          <p:cNvPr id="130" name="Google Shape;130;p24"/>
          <p:cNvSpPr txBox="1"/>
          <p:nvPr/>
        </p:nvSpPr>
        <p:spPr>
          <a:xfrm>
            <a:off x="670625" y="3845600"/>
            <a:ext cx="284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Контейнеризация</a:t>
            </a:r>
            <a:endParaRPr sz="1800"/>
          </a:p>
        </p:txBody>
      </p:sp>
      <p:sp>
        <p:nvSpPr>
          <p:cNvPr id="131" name="Google Shape;131;p24"/>
          <p:cNvSpPr/>
          <p:nvPr/>
        </p:nvSpPr>
        <p:spPr>
          <a:xfrm>
            <a:off x="1851575" y="3131975"/>
            <a:ext cx="1022400" cy="5262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jails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2000</a:t>
            </a:r>
            <a:endParaRPr/>
          </a:p>
        </p:txBody>
      </p:sp>
      <p:sp>
        <p:nvSpPr>
          <p:cNvPr id="132" name="Google Shape;132;p24"/>
          <p:cNvSpPr/>
          <p:nvPr/>
        </p:nvSpPr>
        <p:spPr>
          <a:xfrm>
            <a:off x="3504600" y="3131975"/>
            <a:ext cx="1022400" cy="5262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OpenVZ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2005</a:t>
            </a:r>
            <a:endParaRPr/>
          </a:p>
        </p:txBody>
      </p:sp>
      <p:sp>
        <p:nvSpPr>
          <p:cNvPr id="133" name="Google Shape;133;p24"/>
          <p:cNvSpPr/>
          <p:nvPr/>
        </p:nvSpPr>
        <p:spPr>
          <a:xfrm>
            <a:off x="5157625" y="3131975"/>
            <a:ext cx="1022400" cy="5262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LXC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2008</a:t>
            </a:r>
            <a:endParaRPr/>
          </a:p>
        </p:txBody>
      </p:sp>
      <p:sp>
        <p:nvSpPr>
          <p:cNvPr id="134" name="Google Shape;134;p24"/>
          <p:cNvSpPr/>
          <p:nvPr/>
        </p:nvSpPr>
        <p:spPr>
          <a:xfrm>
            <a:off x="7016800" y="2103875"/>
            <a:ext cx="1022400" cy="5262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2013</a:t>
            </a:r>
            <a:endParaRPr/>
          </a:p>
        </p:txBody>
      </p:sp>
      <p:sp>
        <p:nvSpPr>
          <p:cNvPr id="135" name="Google Shape;135;p24"/>
          <p:cNvSpPr/>
          <p:nvPr/>
        </p:nvSpPr>
        <p:spPr>
          <a:xfrm>
            <a:off x="198550" y="1095900"/>
            <a:ext cx="1022400" cy="5262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VMware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1999</a:t>
            </a:r>
            <a:endParaRPr/>
          </a:p>
        </p:txBody>
      </p:sp>
      <p:sp>
        <p:nvSpPr>
          <p:cNvPr id="136" name="Google Shape;136;p24"/>
          <p:cNvSpPr/>
          <p:nvPr/>
        </p:nvSpPr>
        <p:spPr>
          <a:xfrm>
            <a:off x="3365175" y="918600"/>
            <a:ext cx="1161900" cy="8808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XEN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KVM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VirtualBox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2007</a:t>
            </a:r>
            <a:endParaRPr/>
          </a:p>
        </p:txBody>
      </p:sp>
      <p:sp>
        <p:nvSpPr>
          <p:cNvPr id="137" name="Google Shape;137;p24"/>
          <p:cNvSpPr/>
          <p:nvPr/>
        </p:nvSpPr>
        <p:spPr>
          <a:xfrm>
            <a:off x="1712113" y="991500"/>
            <a:ext cx="1161900" cy="7350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Intel VT-x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AMD-V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2006</a:t>
            </a:r>
            <a:endParaRPr/>
          </a:p>
        </p:txBody>
      </p:sp>
      <p:sp>
        <p:nvSpPr>
          <p:cNvPr id="138" name="Google Shape;138;p24"/>
          <p:cNvSpPr/>
          <p:nvPr/>
        </p:nvSpPr>
        <p:spPr>
          <a:xfrm>
            <a:off x="5157625" y="1095900"/>
            <a:ext cx="1022400" cy="5262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Hyper-V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2008</a:t>
            </a:r>
            <a:endParaRPr/>
          </a:p>
        </p:txBody>
      </p:sp>
      <p:cxnSp>
        <p:nvCxnSpPr>
          <p:cNvPr id="139" name="Google Shape;139;p24"/>
          <p:cNvCxnSpPr>
            <a:stCxn id="131" idx="3"/>
            <a:endCxn id="132" idx="1"/>
          </p:cNvCxnSpPr>
          <p:nvPr/>
        </p:nvCxnSpPr>
        <p:spPr>
          <a:xfrm>
            <a:off x="2873975" y="3395075"/>
            <a:ext cx="6306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0" name="Google Shape;140;p24"/>
          <p:cNvCxnSpPr>
            <a:stCxn id="128" idx="3"/>
            <a:endCxn id="131" idx="1"/>
          </p:cNvCxnSpPr>
          <p:nvPr/>
        </p:nvCxnSpPr>
        <p:spPr>
          <a:xfrm>
            <a:off x="1220950" y="3395075"/>
            <a:ext cx="6306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" name="Google Shape;141;p24"/>
          <p:cNvCxnSpPr>
            <a:stCxn id="132" idx="3"/>
            <a:endCxn id="133" idx="1"/>
          </p:cNvCxnSpPr>
          <p:nvPr/>
        </p:nvCxnSpPr>
        <p:spPr>
          <a:xfrm>
            <a:off x="4527000" y="3395075"/>
            <a:ext cx="6306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2" name="Google Shape;142;p24"/>
          <p:cNvCxnSpPr>
            <a:stCxn id="133" idx="3"/>
            <a:endCxn id="134" idx="2"/>
          </p:cNvCxnSpPr>
          <p:nvPr/>
        </p:nvCxnSpPr>
        <p:spPr>
          <a:xfrm flipH="1" rot="10800000">
            <a:off x="6180025" y="2630075"/>
            <a:ext cx="1347900" cy="765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3" name="Google Shape;143;p24"/>
          <p:cNvCxnSpPr>
            <a:stCxn id="135" idx="3"/>
            <a:endCxn id="137" idx="1"/>
          </p:cNvCxnSpPr>
          <p:nvPr/>
        </p:nvCxnSpPr>
        <p:spPr>
          <a:xfrm>
            <a:off x="1220950" y="1359000"/>
            <a:ext cx="4911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4" name="Google Shape;144;p24"/>
          <p:cNvCxnSpPr>
            <a:stCxn id="137" idx="3"/>
            <a:endCxn id="136" idx="1"/>
          </p:cNvCxnSpPr>
          <p:nvPr/>
        </p:nvCxnSpPr>
        <p:spPr>
          <a:xfrm>
            <a:off x="2874013" y="1359000"/>
            <a:ext cx="4911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" name="Google Shape;145;p24"/>
          <p:cNvCxnSpPr>
            <a:stCxn id="136" idx="3"/>
            <a:endCxn id="138" idx="1"/>
          </p:cNvCxnSpPr>
          <p:nvPr/>
        </p:nvCxnSpPr>
        <p:spPr>
          <a:xfrm>
            <a:off x="4527075" y="1359000"/>
            <a:ext cx="6306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" name="Google Shape;146;p24"/>
          <p:cNvCxnSpPr>
            <a:stCxn id="138" idx="3"/>
            <a:endCxn id="134" idx="0"/>
          </p:cNvCxnSpPr>
          <p:nvPr/>
        </p:nvCxnSpPr>
        <p:spPr>
          <a:xfrm>
            <a:off x="6180025" y="1359000"/>
            <a:ext cx="1347900" cy="7449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7" name="Google Shape;147;p24"/>
          <p:cNvCxnSpPr>
            <a:stCxn id="134" idx="3"/>
          </p:cNvCxnSpPr>
          <p:nvPr/>
        </p:nvCxnSpPr>
        <p:spPr>
          <a:xfrm>
            <a:off x="8039200" y="2366975"/>
            <a:ext cx="697500" cy="1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5"/>
          <p:cNvSpPr txBox="1"/>
          <p:nvPr/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Docker</a:t>
            </a:r>
            <a:endParaRPr sz="2800">
              <a:solidFill>
                <a:srgbClr val="000000"/>
              </a:solidFill>
            </a:endParaRPr>
          </a:p>
        </p:txBody>
      </p:sp>
      <p:pic>
        <p:nvPicPr>
          <p:cNvPr id="153" name="Google Shape;15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0887" y="729789"/>
            <a:ext cx="7342225" cy="368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5"/>
          <p:cNvSpPr txBox="1"/>
          <p:nvPr/>
        </p:nvSpPr>
        <p:spPr>
          <a:xfrm>
            <a:off x="2875200" y="4492500"/>
            <a:ext cx="339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image/container == file/process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 engine</a:t>
            </a:r>
            <a:endParaRPr/>
          </a:p>
        </p:txBody>
      </p:sp>
      <p:pic>
        <p:nvPicPr>
          <p:cNvPr id="160" name="Google Shape;16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1" y="2080250"/>
            <a:ext cx="4825650" cy="244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6"/>
          <p:cNvSpPr txBox="1"/>
          <p:nvPr/>
        </p:nvSpPr>
        <p:spPr>
          <a:xfrm>
            <a:off x="311700" y="560525"/>
            <a:ext cx="85206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cgroups - управление ресурсами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namespaces - изоляция числовых идентификаторов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Layer FS - эмуляция ФС</a:t>
            </a:r>
            <a:endParaRPr sz="2200"/>
          </a:p>
        </p:txBody>
      </p:sp>
      <p:pic>
        <p:nvPicPr>
          <p:cNvPr id="162" name="Google Shape;16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81651" y="2017113"/>
            <a:ext cx="3701849" cy="257278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6"/>
          <p:cNvSpPr/>
          <p:nvPr/>
        </p:nvSpPr>
        <p:spPr>
          <a:xfrm>
            <a:off x="8638425" y="0"/>
            <a:ext cx="505500" cy="41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7"/>
          <p:cNvSpPr txBox="1"/>
          <p:nvPr/>
        </p:nvSpPr>
        <p:spPr>
          <a:xfrm>
            <a:off x="311700" y="496500"/>
            <a:ext cx="8520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git clone </a:t>
            </a:r>
            <a:r>
              <a:rPr lang="en" sz="1600" u="sng">
                <a:solidFill>
                  <a:schemeClr val="hlink"/>
                </a:solidFill>
                <a:hlinkClick r:id="rId3"/>
              </a:rPr>
              <a:t>https://github.com/docker/engine.git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git checkout a27b4b8cb8e838d03a99b6d2b30f76bdaf2f9e5d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cat lxc-template.go</a:t>
            </a:r>
            <a:endParaRPr sz="1600"/>
          </a:p>
        </p:txBody>
      </p:sp>
      <p:sp>
        <p:nvSpPr>
          <p:cNvPr id="169" name="Google Shape;169;p27"/>
          <p:cNvSpPr txBox="1"/>
          <p:nvPr/>
        </p:nvSpPr>
        <p:spPr>
          <a:xfrm>
            <a:off x="3117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Docker: начало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170" name="Google Shape;170;p27"/>
          <p:cNvSpPr txBox="1"/>
          <p:nvPr/>
        </p:nvSpPr>
        <p:spPr>
          <a:xfrm>
            <a:off x="0" y="1334700"/>
            <a:ext cx="45720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200"/>
              <a:t>filesystem.go</a:t>
            </a:r>
            <a:endParaRPr b="1"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func (fs *Filesystem) Mount() error {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	if err := fs.createMountPoints(); err != nil {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		return err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	}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	rwBranch := fmt.Sprintf("%v=rw", fs.RWPath)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	roBranches := ""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	for _, layer := range fs.Layers {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		roBranches += fmt.Sprintf("%v=ro:", layer)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	}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	branches := fmt.Sprintf(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                     "br:%v:%v", rwBranch, roBranches)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	cmd := exec.Command(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               "mount", "-t", "aufs", "-o", branches, "none", fs.RootFS)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	if err := cmd.Run(); err != nil {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		return err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	}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	return nil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}</a:t>
            </a:r>
            <a:endParaRPr sz="1200"/>
          </a:p>
        </p:txBody>
      </p:sp>
      <p:sp>
        <p:nvSpPr>
          <p:cNvPr id="171" name="Google Shape;171;p27"/>
          <p:cNvSpPr txBox="1"/>
          <p:nvPr/>
        </p:nvSpPr>
        <p:spPr>
          <a:xfrm>
            <a:off x="4572000" y="1268625"/>
            <a:ext cx="45720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200"/>
              <a:t>container.go</a:t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func (container *Container) Start() error {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	if err := container.Filesystem.Mount(); err != nil {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		return err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	}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	params = append(params, container.Args...)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	container.cmd = exec.Command("/usr/bin/lxc-start", params...)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	container.cmd.Stdout = container.stdout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	container.cmd.Stderr = container.stderr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	if err := container.cmd.Start(); err != nil {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		return err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	}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	container.State.setRunning(container.cmd.Process.Pid)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	go container.monitor()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       …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}</a:t>
            </a:r>
            <a:endParaRPr sz="12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8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Установка Docker</a:t>
            </a:r>
            <a:endParaRPr/>
          </a:p>
        </p:txBody>
      </p:sp>
      <p:sp>
        <p:nvSpPr>
          <p:cNvPr id="177" name="Google Shape;177;p28"/>
          <p:cNvSpPr txBox="1"/>
          <p:nvPr/>
        </p:nvSpPr>
        <p:spPr>
          <a:xfrm>
            <a:off x="311700" y="572700"/>
            <a:ext cx="8520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sudo apt install docker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sudo groupadd docker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sudo usermod -aG docker user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exit</a:t>
            </a:r>
            <a:endParaRPr sz="1800"/>
          </a:p>
        </p:txBody>
      </p:sp>
      <p:sp>
        <p:nvSpPr>
          <p:cNvPr id="178" name="Google Shape;178;p28"/>
          <p:cNvSpPr txBox="1"/>
          <p:nvPr/>
        </p:nvSpPr>
        <p:spPr>
          <a:xfrm>
            <a:off x="311700" y="2615500"/>
            <a:ext cx="85206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$ docker run hello-world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Unable to find image 'hello-world:latest' locally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latest: Pulling from library/hello-world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2db29710123e: Pull complete 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Digest: sha256:ffb13da98453e0f04d33a6eee5bb8e46ee50d08ebe17735fc0779d0349e889e9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Status: Downloaded newer image for hello-world:latest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Hello from Docker!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 hub (</a:t>
            </a: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https://hub.docker.com/</a:t>
            </a:r>
            <a:r>
              <a:rPr lang="en"/>
              <a:t>)</a:t>
            </a:r>
            <a:endParaRPr/>
          </a:p>
        </p:txBody>
      </p:sp>
      <p:sp>
        <p:nvSpPr>
          <p:cNvPr id="184" name="Google Shape;184;p29"/>
          <p:cNvSpPr txBox="1"/>
          <p:nvPr/>
        </p:nvSpPr>
        <p:spPr>
          <a:xfrm>
            <a:off x="311700" y="572700"/>
            <a:ext cx="77445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docker login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docker search python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docker pull python:slim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docker push python:slim</a:t>
            </a:r>
            <a:endParaRPr sz="1800"/>
          </a:p>
        </p:txBody>
      </p:sp>
      <p:pic>
        <p:nvPicPr>
          <p:cNvPr id="185" name="Google Shape;185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72901" y="1560575"/>
            <a:ext cx="4959398" cy="338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0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Стандартные теги</a:t>
            </a:r>
            <a:endParaRPr/>
          </a:p>
        </p:txBody>
      </p:sp>
      <p:sp>
        <p:nvSpPr>
          <p:cNvPr id="191" name="Google Shape;191;p30"/>
          <p:cNvSpPr txBox="1"/>
          <p:nvPr/>
        </p:nvSpPr>
        <p:spPr>
          <a:xfrm>
            <a:off x="311700" y="1057925"/>
            <a:ext cx="85206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slim/slim-(bookworm|bullseye) - только runtime (версия debian)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(</a:t>
            </a:r>
            <a:r>
              <a:rPr lang="en" sz="1900">
                <a:solidFill>
                  <a:schemeClr val="dk1"/>
                </a:solidFill>
              </a:rPr>
              <a:t>bookworm|bullseye</a:t>
            </a:r>
            <a:r>
              <a:rPr lang="en" sz="1900"/>
              <a:t>) - полный образ debian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alpine - основан на Alpine linux</a:t>
            </a:r>
            <a:endParaRPr sz="1900"/>
          </a:p>
        </p:txBody>
      </p:sp>
      <p:sp>
        <p:nvSpPr>
          <p:cNvPr id="192" name="Google Shape;192;p30"/>
          <p:cNvSpPr txBox="1"/>
          <p:nvPr/>
        </p:nvSpPr>
        <p:spPr>
          <a:xfrm>
            <a:off x="311700" y="572700"/>
            <a:ext cx="852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docker pull </a:t>
            </a:r>
            <a:r>
              <a:rPr lang="en" sz="1800">
                <a:solidFill>
                  <a:srgbClr val="FF9900"/>
                </a:solidFill>
              </a:rPr>
              <a:t>python</a:t>
            </a:r>
            <a:r>
              <a:rPr lang="en" sz="1800"/>
              <a:t>:</a:t>
            </a:r>
            <a:r>
              <a:rPr lang="en" sz="1800">
                <a:solidFill>
                  <a:srgbClr val="FF0000"/>
                </a:solidFill>
              </a:rPr>
              <a:t>3.9.5</a:t>
            </a:r>
            <a:r>
              <a:rPr lang="en" sz="1800"/>
              <a:t>-</a:t>
            </a:r>
            <a:r>
              <a:rPr lang="en" sz="1800">
                <a:solidFill>
                  <a:srgbClr val="0000FF"/>
                </a:solidFill>
              </a:rPr>
              <a:t>slim-bookworm</a:t>
            </a:r>
            <a:endParaRPr sz="1800">
              <a:solidFill>
                <a:srgbClr val="0000FF"/>
              </a:solidFill>
            </a:endParaRPr>
          </a:p>
        </p:txBody>
      </p:sp>
      <p:pic>
        <p:nvPicPr>
          <p:cNvPr id="193" name="Google Shape;19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038" y="2793900"/>
            <a:ext cx="8569925" cy="169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1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alpine</a:t>
            </a:r>
            <a:endParaRPr/>
          </a:p>
        </p:txBody>
      </p:sp>
      <p:sp>
        <p:nvSpPr>
          <p:cNvPr id="199" name="Google Shape;199;p31"/>
          <p:cNvSpPr txBox="1"/>
          <p:nvPr/>
        </p:nvSpPr>
        <p:spPr>
          <a:xfrm>
            <a:off x="311800" y="487450"/>
            <a:ext cx="852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highlight>
                  <a:srgbClr val="FFFFFF"/>
                </a:highlight>
              </a:rPr>
              <a:t>"Small. Simple. Secure. Alpine Linux is a security-oriented, lightweight Linux distribution based on musl libc and busybox."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00" name="Google Shape;200;p31" title="6bd64d65fccc3eb7ce4b331e748d71d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082" y="856750"/>
            <a:ext cx="3750019" cy="428674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1" name="Google Shape;201;p31"/>
          <p:cNvGraphicFramePr/>
          <p:nvPr/>
        </p:nvGraphicFramePr>
        <p:xfrm>
          <a:off x="4442950" y="14836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{6F9BB672-B375-4A49-A37E-DCA11B04B0EF}</a:tableStyleId>
              </a:tblPr>
              <a:tblGrid>
                <a:gridCol w="1545150"/>
                <a:gridCol w="1381175"/>
                <a:gridCol w="1463125"/>
              </a:tblGrid>
              <a:tr h="361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alpine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debian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размер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минимальный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нормальный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пакетный менеджер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apk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apt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компилятор 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musl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glibc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количество библиотек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нормально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максимально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61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когда выбрать?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используете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расширяете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2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Преимущества Docker</a:t>
            </a:r>
            <a:endParaRPr/>
          </a:p>
        </p:txBody>
      </p:sp>
      <p:sp>
        <p:nvSpPr>
          <p:cNvPr id="207" name="Google Shape;207;p32"/>
          <p:cNvSpPr txBox="1"/>
          <p:nvPr/>
        </p:nvSpPr>
        <p:spPr>
          <a:xfrm>
            <a:off x="311700" y="560525"/>
            <a:ext cx="67374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Упрощение конфигурирования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Поддержка CI/CD пайплайнов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Изоляция приложений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Утилизация ресурсов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Отладка приложения в контейнере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Ускорение разработки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Переносимость приложений между окружениями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Поддержка автоматической сборки приложения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Встроенное версионирование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Репозиторий образов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Огромное количество утилит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Оркестрация всех контейнеров</a:t>
            </a:r>
            <a:endParaRPr sz="2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3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bocker</a:t>
            </a:r>
            <a:endParaRPr/>
          </a:p>
        </p:txBody>
      </p:sp>
      <p:sp>
        <p:nvSpPr>
          <p:cNvPr id="213" name="Google Shape;213;p33"/>
          <p:cNvSpPr txBox="1"/>
          <p:nvPr/>
        </p:nvSpPr>
        <p:spPr>
          <a:xfrm>
            <a:off x="3431400" y="4390975"/>
            <a:ext cx="2281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u="sng">
                <a:solidFill>
                  <a:schemeClr val="hlink"/>
                </a:solidFill>
                <a:hlinkClick r:id="rId4"/>
              </a:rPr>
              <a:t>Build your own Docker</a:t>
            </a:r>
            <a:endParaRPr sz="1600"/>
          </a:p>
        </p:txBody>
      </p:sp>
      <p:sp>
        <p:nvSpPr>
          <p:cNvPr id="214" name="Google Shape;214;p33"/>
          <p:cNvSpPr txBox="1"/>
          <p:nvPr/>
        </p:nvSpPr>
        <p:spPr>
          <a:xfrm>
            <a:off x="1715775" y="1123525"/>
            <a:ext cx="401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15" name="Google Shape;215;p33"/>
          <p:cNvSpPr txBox="1"/>
          <p:nvPr/>
        </p:nvSpPr>
        <p:spPr>
          <a:xfrm>
            <a:off x="311700" y="669475"/>
            <a:ext cx="86871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en" sz="1700">
                <a:solidFill>
                  <a:srgbClr val="444444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700">
                <a:solidFill>
                  <a:srgbClr val="880000"/>
                </a:solidFill>
                <a:latin typeface="Courier New"/>
                <a:ea typeface="Courier New"/>
                <a:cs typeface="Courier New"/>
                <a:sym typeface="Courier New"/>
              </a:rPr>
              <a:t>bocker_images</a:t>
            </a:r>
            <a:r>
              <a:rPr lang="en" sz="1700">
                <a:solidFill>
                  <a:srgbClr val="444444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() { </a:t>
            </a:r>
            <a:r>
              <a:rPr lang="en" sz="1700">
                <a:solidFill>
                  <a:srgbClr val="697070"/>
                </a:solidFill>
                <a:latin typeface="Courier New"/>
                <a:ea typeface="Courier New"/>
                <a:cs typeface="Courier New"/>
                <a:sym typeface="Courier New"/>
              </a:rPr>
              <a:t>#HELP List images:\nBOCKER images</a:t>
            </a:r>
            <a:endParaRPr sz="1700">
              <a:solidFill>
                <a:srgbClr val="444444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444444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" sz="1700">
                <a:solidFill>
                  <a:srgbClr val="397300"/>
                </a:solidFill>
                <a:latin typeface="Courier New"/>
                <a:ea typeface="Courier New"/>
                <a:cs typeface="Courier New"/>
                <a:sym typeface="Courier New"/>
              </a:rPr>
              <a:t>echo</a:t>
            </a:r>
            <a:r>
              <a:rPr lang="en" sz="1700">
                <a:solidFill>
                  <a:srgbClr val="444444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-e </a:t>
            </a:r>
            <a:r>
              <a:rPr lang="en" sz="1700">
                <a:solidFill>
                  <a:srgbClr val="880000"/>
                </a:solidFill>
                <a:latin typeface="Courier New"/>
                <a:ea typeface="Courier New"/>
                <a:cs typeface="Courier New"/>
                <a:sym typeface="Courier New"/>
              </a:rPr>
              <a:t>"IMAGE_ID\t\tSOURCE"</a:t>
            </a:r>
            <a:endParaRPr sz="1700">
              <a:solidFill>
                <a:srgbClr val="444444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444444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en" sz="170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" sz="1700">
                <a:solidFill>
                  <a:srgbClr val="444444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img </a:t>
            </a:r>
            <a:r>
              <a:rPr b="1" lang="en" sz="170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" sz="1700">
                <a:solidFill>
                  <a:srgbClr val="444444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700">
                <a:solidFill>
                  <a:srgbClr val="88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" sz="1700">
                <a:solidFill>
                  <a:srgbClr val="AB5656"/>
                </a:solidFill>
                <a:latin typeface="Courier New"/>
                <a:ea typeface="Courier New"/>
                <a:cs typeface="Courier New"/>
                <a:sym typeface="Courier New"/>
              </a:rPr>
              <a:t>$btrfs_path</a:t>
            </a:r>
            <a:r>
              <a:rPr lang="en" sz="1700">
                <a:solidFill>
                  <a:srgbClr val="88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" sz="1700">
                <a:solidFill>
                  <a:srgbClr val="444444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/img_*; </a:t>
            </a:r>
            <a:r>
              <a:rPr b="1" lang="en" sz="170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do</a:t>
            </a:r>
            <a:endParaRPr sz="1700">
              <a:solidFill>
                <a:srgbClr val="444444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444444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		img=$(</a:t>
            </a:r>
            <a:r>
              <a:rPr lang="en" sz="1700">
                <a:solidFill>
                  <a:srgbClr val="397300"/>
                </a:solidFill>
                <a:latin typeface="Courier New"/>
                <a:ea typeface="Courier New"/>
                <a:cs typeface="Courier New"/>
                <a:sym typeface="Courier New"/>
              </a:rPr>
              <a:t>basename</a:t>
            </a:r>
            <a:r>
              <a:rPr lang="en" sz="1700">
                <a:solidFill>
                  <a:srgbClr val="444444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700">
                <a:solidFill>
                  <a:srgbClr val="88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" sz="1700">
                <a:solidFill>
                  <a:srgbClr val="AB5656"/>
                </a:solidFill>
                <a:latin typeface="Courier New"/>
                <a:ea typeface="Courier New"/>
                <a:cs typeface="Courier New"/>
                <a:sym typeface="Courier New"/>
              </a:rPr>
              <a:t>$img</a:t>
            </a:r>
            <a:r>
              <a:rPr lang="en" sz="1700">
                <a:solidFill>
                  <a:srgbClr val="88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" sz="1700">
                <a:solidFill>
                  <a:srgbClr val="444444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700">
              <a:solidFill>
                <a:srgbClr val="444444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444444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		</a:t>
            </a:r>
            <a:r>
              <a:rPr lang="en" sz="1700">
                <a:solidFill>
                  <a:srgbClr val="397300"/>
                </a:solidFill>
                <a:latin typeface="Courier New"/>
                <a:ea typeface="Courier New"/>
                <a:cs typeface="Courier New"/>
                <a:sym typeface="Courier New"/>
              </a:rPr>
              <a:t>echo</a:t>
            </a:r>
            <a:r>
              <a:rPr lang="en" sz="1700">
                <a:solidFill>
                  <a:srgbClr val="444444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-e </a:t>
            </a:r>
            <a:r>
              <a:rPr lang="en" sz="1700">
                <a:solidFill>
                  <a:srgbClr val="88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" sz="1700">
                <a:solidFill>
                  <a:srgbClr val="AB5656"/>
                </a:solidFill>
                <a:latin typeface="Courier New"/>
                <a:ea typeface="Courier New"/>
                <a:cs typeface="Courier New"/>
                <a:sym typeface="Courier New"/>
              </a:rPr>
              <a:t>$img</a:t>
            </a:r>
            <a:r>
              <a:rPr lang="en" sz="1700">
                <a:solidFill>
                  <a:srgbClr val="880000"/>
                </a:solidFill>
                <a:latin typeface="Courier New"/>
                <a:ea typeface="Courier New"/>
                <a:cs typeface="Courier New"/>
                <a:sym typeface="Courier New"/>
              </a:rPr>
              <a:t>\t\t$(cat "</a:t>
            </a:r>
            <a:r>
              <a:rPr lang="en" sz="1700">
                <a:solidFill>
                  <a:srgbClr val="AB5656"/>
                </a:solidFill>
                <a:latin typeface="Courier New"/>
                <a:ea typeface="Courier New"/>
                <a:cs typeface="Courier New"/>
                <a:sym typeface="Courier New"/>
              </a:rPr>
              <a:t>$btrfs_path</a:t>
            </a:r>
            <a:r>
              <a:rPr lang="en" sz="1700">
                <a:solidFill>
                  <a:srgbClr val="880000"/>
                </a:solidFill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en" sz="1700">
                <a:solidFill>
                  <a:srgbClr val="AB5656"/>
                </a:solidFill>
                <a:latin typeface="Courier New"/>
                <a:ea typeface="Courier New"/>
                <a:cs typeface="Courier New"/>
                <a:sym typeface="Courier New"/>
              </a:rPr>
              <a:t>$img</a:t>
            </a:r>
            <a:r>
              <a:rPr lang="en" sz="1700">
                <a:solidFill>
                  <a:srgbClr val="880000"/>
                </a:solidFill>
                <a:latin typeface="Courier New"/>
                <a:ea typeface="Courier New"/>
                <a:cs typeface="Courier New"/>
                <a:sym typeface="Courier New"/>
              </a:rPr>
              <a:t>/img.source")"</a:t>
            </a:r>
            <a:endParaRPr sz="1700">
              <a:solidFill>
                <a:srgbClr val="444444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444444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en" sz="170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done</a:t>
            </a:r>
            <a:endParaRPr sz="1700">
              <a:solidFill>
                <a:srgbClr val="444444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444444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Сопутствующие сервисы</a:t>
            </a:r>
            <a:endParaRPr/>
          </a:p>
        </p:txBody>
      </p:sp>
      <p:sp>
        <p:nvSpPr>
          <p:cNvPr id="221" name="Google Shape;221;p34"/>
          <p:cNvSpPr txBox="1"/>
          <p:nvPr>
            <p:ph idx="1" type="body"/>
          </p:nvPr>
        </p:nvSpPr>
        <p:spPr>
          <a:xfrm>
            <a:off x="311700" y="572700"/>
            <a:ext cx="8520600" cy="42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мониторинг (statsd, prom)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алертинг (yelp, opsgenie)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дашборд с графиками (Grafana)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отлов ошибок (Sentry)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логирование (ELK)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профилирование (DataDog)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CI/CD (GitLab, CircleCI)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хранение секретов (Vault)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трейсинг (OpenTracing, jaeger)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оркестрация (Docker Swarm, Kubernetes, Nomad)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IaC (Terraform, Ansible, Chef, Puppet)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5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35"/>
          <p:cNvSpPr txBox="1"/>
          <p:nvPr>
            <p:ph idx="1" type="body"/>
          </p:nvPr>
        </p:nvSpPr>
        <p:spPr>
          <a:xfrm>
            <a:off x="311700" y="542875"/>
            <a:ext cx="8520600" cy="42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