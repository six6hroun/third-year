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07BC92-D01C-42BB-AF6D-629AD8DC2E6E}">
  <a:tblStyle styleId="{FF07BC92-D01C-42BB-AF6D-629AD8DC2E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16806/" TargetMode="External"/><Relationship Id="rId3" Type="http://schemas.openxmlformats.org/officeDocument/2006/relationships/hyperlink" Target="https://habr.com/ru/post/106702/" TargetMode="External"/><Relationship Id="rId4" Type="http://schemas.openxmlformats.org/officeDocument/2006/relationships/hyperlink" Target="https://habr.com/ru/post/71020/" TargetMode="External"/><Relationship Id="rId5" Type="http://schemas.openxmlformats.org/officeDocument/2006/relationships/hyperlink" Target="https://habr.com/ru/post/92123/" TargetMode="External"/><Relationship Id="rId6" Type="http://schemas.openxmlformats.org/officeDocument/2006/relationships/hyperlink" Target="https://makelinux.github.io/kernel/map/" TargetMode="External"/><Relationship Id="rId7" Type="http://schemas.openxmlformats.org/officeDocument/2006/relationships/hyperlink" Target="https://habr.com/ru/post/114082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43828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https://habr.com/ru/post/316806/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https://habr.com/ru/post/106702/</a:t>
            </a:r>
            <a:r>
              <a:rPr lang="en"/>
              <a:t> - пишем свой драйвер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https://habr.com/ru/post/71020/</a:t>
            </a:r>
            <a:r>
              <a:rPr lang="en"/>
              <a:t> - load average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https://habr.com/ru/post/92123/</a:t>
            </a:r>
            <a:r>
              <a:rPr lang="en"/>
              <a:t> - обращение к файлам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https://makelinux.github.io/kernel/map/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xeyes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https://habr.com/ru/post/114082/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7e332e5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7e332e5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1fc099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1fc099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aa1d1f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aa1d1f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f6efdc2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f6efdc2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https://habr.com/ru/post/586604/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89dfcd85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489dfcd85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1de3c4de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1de3c4de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f6efdc20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f6efdc20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https://habr.com/ru/post/114082/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https://habr.com/ru/articles/876428/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1dba06a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1dba06a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cd42ceb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cd42ceb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b7e332e5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b7e332e5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Nohup + tmux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bf6efdc20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bf6efdc20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7e332e5d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b7e332e5d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f6efdc20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f6efdc20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f6efdc2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f6efdc2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https://habr.com/ru/post/343828/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stress и посмотреть как изменяются цифры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поуправлять процессом nginx (остановить, убить)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segfault </a:t>
            </a:r>
            <a:r>
              <a:rPr lang="en"/>
              <a:t>gunicorn</a:t>
            </a:r>
            <a:r>
              <a:rPr lang="en"/>
              <a:t> воркеру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переключиться на gunicorn, выйти не закрывая и отцепить от 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найти pid nginx и посмотреть его переменные окружения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написать скрипт, который показывает переменные окружения процесса по имени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https://habr.com/ru/company/ruvds/blog/684382/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medium.com/@267/everybody-loves-shell-2887b06d524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Процессы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/proc</a:t>
            </a:r>
            <a:endParaRPr b="1" sz="3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Представление процесса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728663"/>
            <a:ext cx="82105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 Thread</a:t>
            </a:r>
            <a:endParaRPr/>
          </a:p>
        </p:txBody>
      </p:sp>
      <p:graphicFrame>
        <p:nvGraphicFramePr>
          <p:cNvPr id="112" name="Google Shape;112;p27"/>
          <p:cNvGraphicFramePr/>
          <p:nvPr/>
        </p:nvGraphicFramePr>
        <p:xfrm>
          <a:off x="4092675" y="57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{FF07BC92-D01C-42BB-AF6D-629AD8DC2E6E}</a:tableStyleId>
              </a:tblPr>
              <a:tblGrid>
                <a:gridCol w="1564975"/>
                <a:gridCol w="1594775"/>
                <a:gridCol w="1579875"/>
              </a:tblGrid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Process (процесс)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Thread (поток)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Изоляция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ОС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 уровне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Работа с памятью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Собственная память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Общая память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Взаимодействие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Сигналы, IPC, сокеты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Механизмы синхронизации внутри процесса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Переключение контекста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Долгое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Быстрое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3" name="Google Shape;113;p27" title="Thread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3718475" cy="28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Создание</a:t>
            </a:r>
            <a:r>
              <a:rPr lang="en"/>
              <a:t> процесса</a:t>
            </a:r>
            <a:endParaRPr/>
          </a:p>
        </p:txBody>
      </p:sp>
      <p:pic>
        <p:nvPicPr>
          <p:cNvPr id="124" name="Google Shape;1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938" y="574725"/>
            <a:ext cx="5519374" cy="399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925100" y="4570825"/>
            <a:ext cx="52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https://medium.com/@267/everybody-loves-shell-2887b06d524c</a:t>
            </a:r>
            <a:r>
              <a:rPr lang="en"/>
              <a:t> </a:t>
            </a:r>
            <a:endParaRPr/>
          </a:p>
        </p:txBody>
      </p:sp>
      <p:sp>
        <p:nvSpPr>
          <p:cNvPr id="126" name="Google Shape;126;p29"/>
          <p:cNvSpPr txBox="1"/>
          <p:nvPr/>
        </p:nvSpPr>
        <p:spPr>
          <a:xfrm>
            <a:off x="410150" y="817063"/>
            <a:ext cx="2902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int pid = fork();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switch(pid) {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case 0: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// Child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break;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default: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// Parent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break;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}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Жизненный цикл процесса</a:t>
            </a:r>
            <a:endParaRPr/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413" y="572700"/>
            <a:ext cx="5045178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/>
        </p:nvSpPr>
        <p:spPr>
          <a:xfrm>
            <a:off x="4161125" y="1123550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</a:t>
            </a:r>
            <a:endParaRPr sz="1000"/>
          </a:p>
        </p:txBody>
      </p:sp>
      <p:sp>
        <p:nvSpPr>
          <p:cNvPr id="134" name="Google Shape;134;p30"/>
          <p:cNvSpPr txBox="1"/>
          <p:nvPr/>
        </p:nvSpPr>
        <p:spPr>
          <a:xfrm>
            <a:off x="4161125" y="21736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</a:t>
            </a:r>
            <a:endParaRPr sz="1000"/>
          </a:p>
        </p:txBody>
      </p:sp>
      <p:sp>
        <p:nvSpPr>
          <p:cNvPr id="135" name="Google Shape;135;p30"/>
          <p:cNvSpPr txBox="1"/>
          <p:nvPr/>
        </p:nvSpPr>
        <p:spPr>
          <a:xfrm>
            <a:off x="2636650" y="265352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</a:t>
            </a:r>
            <a:endParaRPr sz="1000"/>
          </a:p>
        </p:txBody>
      </p:sp>
      <p:sp>
        <p:nvSpPr>
          <p:cNvPr id="136" name="Google Shape;136;p30"/>
          <p:cNvSpPr txBox="1"/>
          <p:nvPr/>
        </p:nvSpPr>
        <p:spPr>
          <a:xfrm>
            <a:off x="2664825" y="16710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</a:t>
            </a:r>
            <a:endParaRPr sz="1000"/>
          </a:p>
        </p:txBody>
      </p:sp>
      <p:sp>
        <p:nvSpPr>
          <p:cNvPr id="137" name="Google Shape;137;p30"/>
          <p:cNvSpPr txBox="1"/>
          <p:nvPr/>
        </p:nvSpPr>
        <p:spPr>
          <a:xfrm>
            <a:off x="4161125" y="4064950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Z</a:t>
            </a:r>
            <a:endParaRPr sz="1000"/>
          </a:p>
        </p:txBody>
      </p:sp>
      <p:sp>
        <p:nvSpPr>
          <p:cNvPr id="138" name="Google Shape;138;p30"/>
          <p:cNvSpPr txBox="1"/>
          <p:nvPr/>
        </p:nvSpPr>
        <p:spPr>
          <a:xfrm>
            <a:off x="6379950" y="2173675"/>
            <a:ext cx="27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Каталог </a:t>
            </a:r>
            <a:r>
              <a:rPr lang="en"/>
              <a:t>/proc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311700" y="5605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/proc/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meminfo - использование RAM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uptime - аптайм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loadavg - средняя загрузка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cpuinfo - информация о CPU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cmdline - параметры запуска ядра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cgroups - ограничения процессов</a:t>
            </a:r>
            <a:endParaRPr/>
          </a:p>
        </p:txBody>
      </p:sp>
      <p:sp>
        <p:nvSpPr>
          <p:cNvPr id="145" name="Google Shape;145;p31"/>
          <p:cNvSpPr txBox="1"/>
          <p:nvPr/>
        </p:nvSpPr>
        <p:spPr>
          <a:xfrm>
            <a:off x="4677900" y="694825"/>
            <a:ext cx="4222500" cy="4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/proc/&lt;pid&gt;/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fd - файловые дескрипторы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root - как процесс видит ФС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</a:t>
            </a:r>
            <a:r>
              <a:rPr lang="en"/>
              <a:t>groups - ограничение процесса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cmdline - параметры запуска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environ - переменные окружения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limits - связаны с cgroups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sched - информация из планировщика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status - суммарная информация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op &amp;&amp; htop</a:t>
            </a:r>
            <a:endParaRPr/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950" y="572700"/>
            <a:ext cx="7652098" cy="426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/>
          <p:nvPr/>
        </p:nvSpPr>
        <p:spPr>
          <a:xfrm>
            <a:off x="758600" y="572700"/>
            <a:ext cx="3486300" cy="2019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/>
          <p:nvPr/>
        </p:nvSpPr>
        <p:spPr>
          <a:xfrm>
            <a:off x="4406400" y="572700"/>
            <a:ext cx="2620200" cy="19140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2"/>
          <p:cNvSpPr/>
          <p:nvPr/>
        </p:nvSpPr>
        <p:spPr>
          <a:xfrm>
            <a:off x="753225" y="766275"/>
            <a:ext cx="5837700" cy="1914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/>
          <p:nvPr/>
        </p:nvSpPr>
        <p:spPr>
          <a:xfrm>
            <a:off x="753225" y="959850"/>
            <a:ext cx="4508700" cy="164700"/>
          </a:xfrm>
          <a:prstGeom prst="rect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2"/>
          <p:cNvSpPr/>
          <p:nvPr/>
        </p:nvSpPr>
        <p:spPr>
          <a:xfrm>
            <a:off x="747850" y="1124550"/>
            <a:ext cx="6418500" cy="339000"/>
          </a:xfrm>
          <a:prstGeom prst="rect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Average</a:t>
            </a:r>
            <a:endParaRPr/>
          </a:p>
        </p:txBody>
      </p:sp>
      <p:pic>
        <p:nvPicPr>
          <p:cNvPr id="162" name="Google Shape;162;p33" title="69ae7049ed22540923833ec3e381e2f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762" y="571572"/>
            <a:ext cx="5997574" cy="9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3"/>
          <p:cNvSpPr txBox="1"/>
          <p:nvPr/>
        </p:nvSpPr>
        <p:spPr>
          <a:xfrm>
            <a:off x="311700" y="1417875"/>
            <a:ext cx="852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LA(t) — новое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LAprev​ — предыдущее значение Load Average.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n — текущее число процессов в очереди выполнения (running + waiting).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t — время с момента последнего обновления.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𝛕 — временная константа (разная для 1, 5 и 15 минут):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369675" y="3930000"/>
            <a:ext cx="8462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&lt; cores – система работает нормально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≈ cores – CPU загружен на 100%</a:t>
            </a:r>
            <a:endParaRPr b="1"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LA &gt; cores – процессы ожидают выполнения, тормоза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htop</a:t>
            </a:r>
            <a:endParaRPr/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3" cy="338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Сигналы</a:t>
            </a:r>
            <a:endParaRPr/>
          </a:p>
        </p:txBody>
      </p:sp>
      <p:graphicFrame>
        <p:nvGraphicFramePr>
          <p:cNvPr id="176" name="Google Shape;176;p35"/>
          <p:cNvGraphicFramePr/>
          <p:nvPr/>
        </p:nvGraphicFramePr>
        <p:xfrm>
          <a:off x="311700" y="572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{FF07BC92-D01C-42BB-AF6D-629AD8DC2E6E}</a:tableStyleId>
              </a:tblPr>
              <a:tblGrid>
                <a:gridCol w="1096700"/>
                <a:gridCol w="512350"/>
                <a:gridCol w="1379500"/>
                <a:gridCol w="5532075"/>
              </a:tblGrid>
              <a:tr h="33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Название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Код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Действие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Значение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SIGTERM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Вежливо попросить процесс завершить работу и подчистить за собой мусор.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SIGSTOP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Остановить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Остановить выполнение процесса. Ctrl+Z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SIGKILL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Немедленно прекратить выполнение процесса. Нельзя обработать или перехватить.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процесса. Отправляется только с терминала. Ctrl+C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SIGHUP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Прервать выполнение процесса, т.к. терминал закрыт. Для демонов - обновить конфигурацию.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7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SIGSEGV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он обратился к недоступным ресурсам.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SIGABRT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Завершить + core dump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Аварийно завершить работу процесса, т.к. </a:t>
                      </a:r>
                      <a:r>
                        <a:rPr lang="en"/>
                        <a:t>о</a:t>
                      </a:r>
                      <a:r>
                        <a:rPr lang="en"/>
                        <a:t>н вызвал системный метод abort().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выполнением</a:t>
            </a:r>
            <a:endParaRPr/>
          </a:p>
        </p:txBody>
      </p:sp>
      <p:sp>
        <p:nvSpPr>
          <p:cNvPr id="182" name="Google Shape;182;p36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Список процессов: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ps -f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сигнал: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-SIGSTOP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-n 23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 -n 9 &lt;pid&gt;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Послать сигнал нескольким процессам: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killall -9 &lt;process_name&gt;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Отцепить процесс от родительского: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disown &lt;pid&gt;</a:t>
            </a:r>
            <a:endParaRPr/>
          </a:p>
        </p:txBody>
      </p:sp>
      <p:pic>
        <p:nvPicPr>
          <p:cNvPr id="183" name="Google Shape;1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63" y="1119500"/>
            <a:ext cx="5306125" cy="7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jobs</a:t>
            </a:r>
            <a:endParaRPr/>
          </a:p>
        </p:txBody>
      </p:sp>
      <p:sp>
        <p:nvSpPr>
          <p:cNvPr id="189" name="Google Shape;189;p37"/>
          <p:cNvSpPr txBox="1"/>
          <p:nvPr/>
        </p:nvSpPr>
        <p:spPr>
          <a:xfrm>
            <a:off x="311700" y="572700"/>
            <a:ext cx="72084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фоновый job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gzip &lt; /dev/zero &gt; /dev/null &amp;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Отправить в фон: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bg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Сделать основным: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fg &lt;id&gt;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[1]  15727 Running                 nice gzip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[2]- 15728 Running                 bzip2 &lt; /dev/zero &gt; /dev/null &amp;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[3]+ 15730 Running                 xz &lt; /dev/zero &gt; /dev/null &amp;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 &amp; nice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311700" y="926900"/>
            <a:ext cx="462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ps axl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renice 15 &lt;pid&gt;</a:t>
            </a:r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311700" y="1954400"/>
            <a:ext cx="621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nice -n 20 ./nice.py k1.txt &amp; nice -n 10 ./nice.py k2.txt &amp; ./nice.py k3.txt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nice -n 10 stress --cpu 12 --timeout 60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Ядро linux  – удалить?</a:t>
            </a:r>
            <a:endParaRPr/>
          </a:p>
        </p:txBody>
      </p:sp>
      <p:sp>
        <p:nvSpPr>
          <p:cNvPr id="202" name="Google Shape;202;p39"/>
          <p:cNvSpPr txBox="1"/>
          <p:nvPr/>
        </p:nvSpPr>
        <p:spPr>
          <a:xfrm>
            <a:off x="311700" y="572700"/>
            <a:ext cx="7208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Список модулей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lsmod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Информация о модуле: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modinfo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модуля ядра: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modprobe vboxnetadp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Загрузка ядра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</a:t>
            </a:r>
            <a:r>
              <a:rPr lang="en" sz="1800"/>
              <a:t>insmod ~/vboxnetadp.ko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