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33"/>
  </p:notesMasterIdLst>
  <p:sldIdLst>
    <p:sldId id="272" r:id="rId2"/>
    <p:sldId id="273" r:id="rId3"/>
    <p:sldId id="256" r:id="rId4"/>
    <p:sldId id="257" r:id="rId5"/>
    <p:sldId id="258" r:id="rId6"/>
    <p:sldId id="259" r:id="rId7"/>
    <p:sldId id="280" r:id="rId8"/>
    <p:sldId id="281" r:id="rId9"/>
    <p:sldId id="282" r:id="rId10"/>
    <p:sldId id="260" r:id="rId11"/>
    <p:sldId id="274" r:id="rId12"/>
    <p:sldId id="275" r:id="rId13"/>
    <p:sldId id="276" r:id="rId14"/>
    <p:sldId id="261" r:id="rId15"/>
    <p:sldId id="262" r:id="rId16"/>
    <p:sldId id="277" r:id="rId17"/>
    <p:sldId id="265" r:id="rId18"/>
    <p:sldId id="264" r:id="rId19"/>
    <p:sldId id="283" r:id="rId20"/>
    <p:sldId id="284" r:id="rId21"/>
    <p:sldId id="285" r:id="rId22"/>
    <p:sldId id="266" r:id="rId23"/>
    <p:sldId id="278" r:id="rId24"/>
    <p:sldId id="267" r:id="rId25"/>
    <p:sldId id="268" r:id="rId26"/>
    <p:sldId id="279" r:id="rId27"/>
    <p:sldId id="269" r:id="rId28"/>
    <p:sldId id="270" r:id="rId29"/>
    <p:sldId id="271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54F40-1FA1-49B4-B02B-22FECC85538A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920F2-26D6-419D-9CD6-FE7A1E955D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68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88950" y="1027113"/>
            <a:ext cx="657860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7353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lIns="0" tIns="14112" rIns="0" bIns="0"/>
          <a:lstStyle/>
          <a:p>
            <a:pPr eaLnBrk="1">
              <a:lnSpc>
                <a:spcPct val="93000"/>
              </a:lnSpc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r>
              <a:rPr lang="en-US" sz="1600">
                <a:ea typeface="msgothic" charset="0"/>
                <a:cs typeface="msgothic" charset="0"/>
              </a:rPr>
              <a:t>Основная идея этого паттерна в том, что и контроллер и представление зависят от модели, но модель никак не зависит от этих двух компонент. Это как раз и позволяет разрабатывать и тестировать модель, ничего не зная о представлении и контроллерах. В идеале контроллер так же ничего не должен знать о представлении (хотя на практике это не всегда так), и в идеале для одного представления можно переключать контроллеры, а так же один и тот же контроллер можно использовать для разных представлений (так, например, контроллер может зависеть от пользователя, который вошел в систему). Пользователь видит представление, на нем же производит какие-то действия, эти действия представление перенаправляет контроллеру и подписывается на изменение данных модели, контроллер в свою очередь производит определенные действия над моделью данных, представление получает последнее состояние модели и отображает ее пользователю. </a:t>
            </a:r>
          </a:p>
        </p:txBody>
      </p:sp>
    </p:spTree>
    <p:extLst>
      <p:ext uri="{BB962C8B-B14F-4D97-AF65-F5344CB8AC3E}">
        <p14:creationId xmlns:p14="http://schemas.microsoft.com/office/powerpoint/2010/main" val="165980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88950" y="1027113"/>
            <a:ext cx="657860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2875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336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88950" y="1027113"/>
            <a:ext cx="657860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2875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707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2875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957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6050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lIns="0" tIns="21168" rIns="0" bIns="0"/>
          <a:lstStyle/>
          <a:p>
            <a:pPr eaLnBrk="1">
              <a:lnSpc>
                <a:spcPct val="93000"/>
              </a:lnSpc>
              <a:spcBef>
                <a:spcPct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r>
              <a:rPr lang="en-US" sz="2400">
                <a:ea typeface="msgothic" charset="0"/>
                <a:cs typeface="msgothic" charset="0"/>
              </a:rPr>
              <a:t>У каждого представления будут интерфейсы с определенными наборами методов и свойств, необходимых презентеру, презентер в свою очередь инициализируется с данным интерфейсом, подписывается на события представления и по необходимости подсовывает данные.</a:t>
            </a:r>
          </a:p>
        </p:txBody>
      </p:sp>
    </p:spTree>
    <p:extLst>
      <p:ext uri="{BB962C8B-B14F-4D97-AF65-F5344CB8AC3E}">
        <p14:creationId xmlns:p14="http://schemas.microsoft.com/office/powerpoint/2010/main" val="3375067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2875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487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2875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220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1275" y="1027113"/>
            <a:ext cx="4933950" cy="37004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69988" y="5086350"/>
            <a:ext cx="5222875" cy="4106863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AC36-2C75-4E77-9A33-B4BD4EB86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AE745-7B96-4A60-8BBF-9F5CBE6A7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01EE5-530B-42A2-A748-B3451B86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99B82-FA0E-41EF-85BF-A5F74885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991A-D79E-412C-807E-95CB133D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4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EFBF-D94B-4125-A7EF-CB207BAF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75B33-3DC4-46A1-A4FC-DBBEDB086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1360A-4A2B-4FF2-B4CB-78365AFA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FDA8B-9406-40A1-95D5-6C2CAB6C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A525-8FE6-4438-AE2E-AE401C8A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6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B40E-78FF-4EA1-9CC6-653EF9F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98CAE-1CA2-44D4-9100-96BFC128F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40494-394E-4D54-A4A4-0B466D4D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8CF12-40C3-4453-B87B-242A109C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540C-5754-4A7A-8FAE-178A4053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7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505-695B-493E-86D9-2FEA5141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E9757-BEF4-4C84-A6D2-6C0D64701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DDAA9-49DF-4032-85DA-9DBBC33D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A8794-8998-4090-8E8D-621062CC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26BFE-86AE-4ED8-AA4C-F3AF016D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DF843-B998-41E8-BB20-AD715079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20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E4F4-73CF-4880-9FCD-3E6E7B96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9A96C-92CB-4DD4-900F-D35808720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4EC79-81FE-4C19-8A3D-5EF841677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74CAE-B162-40EA-9618-649A36409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50AE3-C9A7-4CB1-9FAB-67C82A6D6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B11E4-FDE1-4C4C-8ABE-FB1973BF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2AFEC-C223-43F2-8D83-8300F94E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14DE6-9869-4536-98A7-4421B5A1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71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123B-873A-4246-9957-8AF9BD88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79A79-5DD0-4F11-B336-B0DE0702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F2EF6-6E78-4860-9058-5F31E85F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7AEAA-86C3-4F7B-99DD-B3FEA291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5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72FB8-64F1-4869-96DE-E6CCAFAE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23419-2458-42F2-959E-3BEA43CA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6375B-F23C-4DAD-A9E0-43E69728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B31C-6EA4-4FEE-9141-2A77AA7A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A46A5-CCD5-4C90-943F-D5125960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9F351-6AE9-4519-B116-9E1974FCE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187B2-B802-40A3-B737-23B58FA6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232AE-61C9-4A23-82AD-7BE6AF56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99F35-B078-484F-B8DB-8189382B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8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836D-4DBB-41DA-9D2C-465B5F32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BC7A5-30F8-4582-8F49-2DCD7778C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0475A-A1B7-4EC1-B682-40E8F448E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CFA9C-FB06-42BC-B049-9696D086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C1D6-C721-4A39-8BA4-6EC8BBAA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3FE93-6872-416F-8BE4-38D0043D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7F2-8D45-4C07-A1A5-C34EDAEA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F4A2B-B5F5-4E4D-9FD8-269C7D509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F2DA-876E-47CC-9F4F-421644639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3DCE0-10B2-4A69-802A-41B774C4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B026D-D374-4E7E-8AC0-CB6AAC35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8BEC62-75BC-4084-A83F-D2522282B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D6231-6454-43DB-87ED-B248F84BE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41D4F-B0C2-4C58-BBC9-2CF82FCC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E2043-266A-47A1-9577-420ABC5E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A2C83-5A57-4BCC-BAB6-FBB8CF6C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5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B7705F-D9F5-4F5A-A362-1743B18E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1157D-272C-4191-B979-C813865F2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CEABE-B590-491A-81AC-5095D0400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156AC-0ED7-485F-9BD7-A815389EB90D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8B99F-F472-4424-BBC6-3EBADF050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EBE25-E955-468B-A698-7E2114C4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88BC2-7FC3-4B3F-9087-343FF58D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5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heim.ifi.uio.no/~trygver/themes/mvc/mvc-index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maestric.com/doc/java/spring/mvc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5BBA-D1CE-4FD9-95F8-636818060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Паттерны разработки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4EB05-DE64-4F43-82F8-15531D629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MVC vs MVP vs MVVM vs MVI</a:t>
            </a:r>
          </a:p>
        </p:txBody>
      </p:sp>
    </p:spTree>
    <p:extLst>
      <p:ext uri="{BB962C8B-B14F-4D97-AF65-F5344CB8AC3E}">
        <p14:creationId xmlns:p14="http://schemas.microsoft.com/office/powerpoint/2010/main" val="136365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A771-0C7F-4B2A-819C-3287B256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мы хотим добиться?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C5992-7287-40B7-AB54-9B69D40A1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Масштабируемость?</a:t>
            </a:r>
            <a:endParaRPr lang="en-US" dirty="0"/>
          </a:p>
          <a:p>
            <a:r>
              <a:rPr lang="ru-RU" dirty="0" err="1"/>
              <a:t>Сопровождаемость</a:t>
            </a:r>
            <a:r>
              <a:rPr lang="ru-RU" dirty="0"/>
              <a:t>?</a:t>
            </a:r>
            <a:endParaRPr lang="en-US" dirty="0"/>
          </a:p>
          <a:p>
            <a:r>
              <a:rPr lang="ru-RU" dirty="0"/>
              <a:t>Надежность?</a:t>
            </a:r>
          </a:p>
          <a:p>
            <a:endParaRPr lang="ru-RU" dirty="0"/>
          </a:p>
          <a:p>
            <a:r>
              <a:rPr lang="ru-RU" b="1" dirty="0"/>
              <a:t>Разделение ответственности, повторное использование кода, тестируемость!!!</a:t>
            </a:r>
          </a:p>
          <a:p>
            <a:pPr marL="0" indent="0">
              <a:buNone/>
            </a:pPr>
            <a:r>
              <a:rPr lang="ru-RU" dirty="0"/>
              <a:t>Если мы хотим изменить что-то, мы не должны ходить по разным участкам кода.</a:t>
            </a:r>
          </a:p>
          <a:p>
            <a:pPr marL="0" indent="0">
              <a:buNone/>
            </a:pPr>
            <a:r>
              <a:rPr lang="ru-RU" dirty="0"/>
              <a:t>Без разделения ответственности ни </a:t>
            </a:r>
            <a:r>
              <a:rPr lang="ru-RU" b="1" dirty="0"/>
              <a:t>повторное использование кода (</a:t>
            </a:r>
            <a:r>
              <a:rPr lang="ru-RU" b="1" dirty="0" err="1"/>
              <a:t>Code</a:t>
            </a:r>
            <a:r>
              <a:rPr lang="ru-RU" b="1" dirty="0"/>
              <a:t> </a:t>
            </a:r>
            <a:r>
              <a:rPr lang="ru-RU" b="1" dirty="0" err="1"/>
              <a:t>Reusability</a:t>
            </a:r>
            <a:r>
              <a:rPr lang="ru-RU" b="1" dirty="0"/>
              <a:t>)</a:t>
            </a:r>
            <a:r>
              <a:rPr lang="ru-RU" dirty="0"/>
              <a:t>, ни </a:t>
            </a:r>
            <a:r>
              <a:rPr lang="ru-RU" b="1" dirty="0"/>
              <a:t>тестируемость (</a:t>
            </a:r>
            <a:r>
              <a:rPr lang="ru-RU" b="1" dirty="0" err="1"/>
              <a:t>Testability</a:t>
            </a:r>
            <a:r>
              <a:rPr lang="ru-RU" b="1" dirty="0"/>
              <a:t>)</a:t>
            </a:r>
            <a:r>
              <a:rPr lang="ru-RU" dirty="0"/>
              <a:t> практически невозможно реализовать.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27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9241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MVC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3662" y="2708275"/>
            <a:ext cx="11053483" cy="3027362"/>
          </a:xfrm>
        </p:spPr>
        <p:txBody>
          <a:bodyPr>
            <a:normAutofit/>
          </a:bodyPr>
          <a:lstStyle/>
          <a:p>
            <a:pPr algn="l"/>
            <a:r>
              <a:rPr lang="ru-RU" sz="3200" dirty="0"/>
              <a:t>Термин </a:t>
            </a:r>
            <a:r>
              <a:rPr lang="ru-RU" sz="3200" b="1" i="1" dirty="0"/>
              <a:t>модель-представление-контроллер (</a:t>
            </a:r>
            <a:r>
              <a:rPr lang="ru-RU" sz="3200" b="1" i="1" dirty="0" err="1"/>
              <a:t>model-view-controller</a:t>
            </a:r>
            <a:r>
              <a:rPr lang="ru-RU" sz="3200" b="1" i="1" dirty="0"/>
              <a:t>)</a:t>
            </a:r>
            <a:r>
              <a:rPr lang="ru-RU" sz="3200" dirty="0"/>
              <a:t> используется с конца 70-х гг. прошлого столетия. Эта модель явилась результатом проекта </a:t>
            </a:r>
            <a:r>
              <a:rPr lang="ru-RU" sz="3200" dirty="0" err="1"/>
              <a:t>Smalltalk</a:t>
            </a:r>
            <a:r>
              <a:rPr lang="ru-RU" sz="3200" dirty="0"/>
              <a:t> в компании </a:t>
            </a:r>
            <a:r>
              <a:rPr lang="ru-RU" sz="3200" dirty="0" err="1"/>
              <a:t>Xerox</a:t>
            </a:r>
            <a:r>
              <a:rPr lang="ru-RU" sz="3200" dirty="0"/>
              <a:t> PARC, где она была задумана как способ организации некоторых из ранних приложений графического пользовательского интерфейса.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7987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Модели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Содержат или представляют данные, с которыми работают пользователи. Они могут быть простыми моделями представлений, которые только представляют данные, передаваемые между представлениями и контроллерами; или же они могут быть моделями предметной области, которые содержат бизнес-данные, а также операции, преобразования и правила для манипулирования этими данными.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7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Представления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Применяются для визуализации некоторой части модели в виде пользовательского интерфейса.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6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Контроллеры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Обрабатывают поступающие запросы, выполняют операции с моделью и выбирают представления для визуализации пользователю.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10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body"/>
          </p:nvPr>
        </p:nvSpPr>
        <p:spPr>
          <a:xfrm>
            <a:off x="2511464" y="2017653"/>
            <a:ext cx="3259063" cy="4513434"/>
          </a:xfrm>
          <a:ln/>
        </p:spPr>
        <p:txBody>
          <a:bodyPr vert="horz" lIns="91440" tIns="5487" rIns="91440" bIns="45720" rtlCol="0" anchor="t">
            <a:normAutofit/>
          </a:bodyPr>
          <a:lstStyle/>
          <a:p>
            <a:pPr marL="391729" indent="-293797">
              <a:spcAft>
                <a:spcPts val="1293"/>
              </a:spcAft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</a:tabLst>
            </a:pPr>
            <a:r>
              <a:rPr lang="ru-RU" sz="2177"/>
              <a:t>View представление, пользовательский интерфейс, </a:t>
            </a:r>
          </a:p>
          <a:p>
            <a:pPr marL="391729" indent="-293797">
              <a:spcAft>
                <a:spcPts val="1293"/>
              </a:spcAft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</a:tabLst>
            </a:pPr>
            <a:r>
              <a:rPr lang="ru-RU" sz="2177"/>
              <a:t>Model - модель, бизнес логика</a:t>
            </a:r>
          </a:p>
          <a:p>
            <a:pPr marL="391729" indent="-293797">
              <a:spcAft>
                <a:spcPts val="1293"/>
              </a:spcAft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</a:tabLst>
            </a:pPr>
            <a:r>
              <a:rPr lang="ru-RU" sz="2177"/>
              <a:t>Controller -  контроллер, содержит логику на изменение модели при определенных действиях  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 idx="1"/>
          </p:nvPr>
        </p:nvSpPr>
        <p:spPr>
          <a:xfrm>
            <a:off x="2194631" y="489652"/>
            <a:ext cx="7808500" cy="976423"/>
          </a:xfrm>
          <a:ln/>
        </p:spPr>
        <p:txBody>
          <a:bodyPr vert="horz" lIns="91440" tIns="8230" rIns="91440" bIns="45720" rtlCol="0" anchor="ctr">
            <a:normAutofit/>
          </a:bodyPr>
          <a:lstStyle/>
          <a:p>
            <a:pPr marL="0" indent="0" algn="ctr">
              <a:spcAft>
                <a:spcPct val="0"/>
              </a:spcAft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 sz="3266"/>
              <a:t>MVC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5271" y="2102622"/>
            <a:ext cx="4009381" cy="377607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994041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568861"/>
            <a:ext cx="7808500" cy="1144920"/>
          </a:xfrm>
          <a:ln/>
        </p:spPr>
        <p:txBody>
          <a:bodyPr vert="horz" lIns="91440" tIns="8230" rIns="91440" bIns="45720" rtlCol="0" anchor="ctr">
            <a:normAutofit fontScale="90000"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ru-RU"/>
              <a:t>Реализация MVC в качестве GUI framework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6072" y="2165989"/>
            <a:ext cx="7808500" cy="5010286"/>
          </a:xfrm>
          <a:ln/>
        </p:spPr>
        <p:txBody>
          <a:bodyPr/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Cocoa framework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Java Swing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Qt4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GTK+</a:t>
            </a:r>
          </a:p>
        </p:txBody>
      </p:sp>
    </p:spTree>
    <p:extLst>
      <p:ext uri="{BB962C8B-B14F-4D97-AF65-F5344CB8AC3E}">
        <p14:creationId xmlns:p14="http://schemas.microsoft.com/office/powerpoint/2010/main" val="3386306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568861"/>
            <a:ext cx="7808500" cy="1144920"/>
          </a:xfrm>
          <a:ln/>
        </p:spPr>
        <p:txBody>
          <a:bodyPr vert="horz" lIns="91440" tIns="8230" rIns="91440" bIns="45720" rtlCol="0" anchor="ctr">
            <a:normAutofit fontScale="90000"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Реализация MVC как web framework 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48366" y="1841954"/>
            <a:ext cx="8229024" cy="4526395"/>
          </a:xfrm>
          <a:ln/>
        </p:spPr>
        <p:txBody>
          <a:bodyPr/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  <a:tab pos="7880665" algn="l"/>
              </a:tabLst>
            </a:pPr>
            <a:r>
              <a:rPr lang="en-US"/>
              <a:t>Java – JSF, Oracle App Framework, Play Framework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  <a:tab pos="7880665" algn="l"/>
              </a:tabLst>
            </a:pPr>
            <a:r>
              <a:rPr lang="en-US"/>
              <a:t>C# - ASP.NET MVC Framework, PureMVC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  <a:tab pos="7880665" algn="l"/>
              </a:tabLst>
            </a:pPr>
            <a:r>
              <a:rPr lang="en-US"/>
              <a:t>Ruby – Ruby on Rails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  <a:tab pos="7880665" algn="l"/>
              </a:tabLst>
            </a:pPr>
            <a:r>
              <a:rPr lang="en-US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890653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Структура MVC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3811" y="1345413"/>
            <a:ext cx="8957029" cy="416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666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FF08-5BBC-44B1-95E8-1CBE8BD2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Два варианта MVC: </a:t>
            </a:r>
            <a:r>
              <a:rPr lang="ru-RU" b="1" dirty="0"/>
              <a:t>контроллер-супервизор </a:t>
            </a:r>
            <a:r>
              <a:rPr lang="ru-RU" dirty="0"/>
              <a:t>и </a:t>
            </a:r>
            <a:r>
              <a:rPr lang="ru-RU" b="1" dirty="0"/>
              <a:t>пассивное представление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37F4B-2D26-4383-8C84-CA15EFB97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мобильной экосистеме — практически никогда не встречается реализация контроллера-супервизора.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/>
              <a:t>Архитектуру MVC можно охарактеризовать двумя пунктами: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Представление — это </a:t>
            </a:r>
            <a:r>
              <a:rPr lang="ru-RU" b="1" dirty="0"/>
              <a:t>визуальная проекция модели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Контроллер — это </a:t>
            </a:r>
            <a:r>
              <a:rPr lang="ru-RU" b="1" dirty="0"/>
              <a:t>соединение между пользователем и системой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63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habrastorage.org/getpro/habr/post_images/21c/f57/390/21cf573907dcd9a3109974ac18dc1a7c.png">
            <a:extLst>
              <a:ext uri="{FF2B5EF4-FFF2-40B4-BE49-F238E27FC236}">
                <a16:creationId xmlns:a16="http://schemas.microsoft.com/office/drawing/2014/main" id="{373BC0C4-E722-4F7F-8969-93899B0945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03" y="286717"/>
            <a:ext cx="10363394" cy="642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416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habrastorage.org/getpro/habr/post_images/7c8/498/36a/7c849836a7235e37a463e18b74460a21.png">
            <a:extLst>
              <a:ext uri="{FF2B5EF4-FFF2-40B4-BE49-F238E27FC236}">
                <a16:creationId xmlns:a16="http://schemas.microsoft.com/office/drawing/2014/main" id="{9F3C92D6-7BD3-4980-8C09-FB3344FAE1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994" y="414135"/>
            <a:ext cx="9434012" cy="60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78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 уровня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5" y="1690688"/>
            <a:ext cx="11076709" cy="478299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Уровень представления</a:t>
            </a:r>
          </a:p>
          <a:p>
            <a:pPr marL="0" indent="0">
              <a:buNone/>
            </a:pPr>
            <a:r>
              <a:rPr lang="ru-RU" dirty="0"/>
              <a:t>Данный уровень отвечает за отображение данных, обеспечение обратной связи с пользователем, сбор пользовательской информации, которая передается в уровень бизнес-логики для обработки.</a:t>
            </a:r>
          </a:p>
          <a:p>
            <a:endParaRPr lang="ru-RU" dirty="0"/>
          </a:p>
          <a:p>
            <a:r>
              <a:rPr lang="ru-RU" b="1" dirty="0"/>
              <a:t>Бизнес-уровень</a:t>
            </a:r>
          </a:p>
          <a:p>
            <a:pPr marL="0" indent="0">
              <a:buNone/>
            </a:pPr>
            <a:r>
              <a:rPr lang="ru-RU" dirty="0"/>
              <a:t>Бизнес-уровень или, если говорить проще, уровень приложения, обеспечивает логику взаимодействия представления и данных. В MVC бизнес-уровень реализует структуру модели.</a:t>
            </a:r>
          </a:p>
          <a:p>
            <a:endParaRPr lang="ru-RU" dirty="0"/>
          </a:p>
          <a:p>
            <a:r>
              <a:rPr lang="ru-RU" b="1" dirty="0"/>
              <a:t>Уровень данных</a:t>
            </a:r>
          </a:p>
          <a:p>
            <a:pPr marL="0" indent="0">
              <a:buNone/>
            </a:pPr>
            <a:r>
              <a:rPr lang="ru-RU" dirty="0"/>
              <a:t>Уровень данных отвечает за получение, передачу и сохранение данных в файле, базе данных, службе или XML.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40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VC и бизнес-логи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4237" y="2186781"/>
            <a:ext cx="534352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03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D246-4D53-443C-8CB1-64E7295F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Massive View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A623-F4C7-4EBC-9860-C5D87F59D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Можно разделить представления или определить </a:t>
            </a:r>
            <a:r>
              <a:rPr lang="ru-RU" dirty="0" err="1"/>
              <a:t>субпредставления</a:t>
            </a:r>
            <a:r>
              <a:rPr lang="ru-RU" dirty="0"/>
              <a:t> (</a:t>
            </a:r>
            <a:r>
              <a:rPr lang="ru-RU" dirty="0" err="1"/>
              <a:t>subviews</a:t>
            </a:r>
            <a:r>
              <a:rPr lang="ru-RU" dirty="0"/>
              <a:t>) с их собственными контроллерами.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Однако, при таком подходе появляются некоторые проблемы:</a:t>
            </a:r>
          </a:p>
          <a:p>
            <a:r>
              <a:rPr lang="ru-RU" dirty="0"/>
              <a:t>Объединение логики отображения и бизнес логики</a:t>
            </a:r>
          </a:p>
          <a:p>
            <a:r>
              <a:rPr lang="ru-RU" dirty="0"/>
              <a:t>Трудности при тестировании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/>
              <a:t>Решение этих проблем кроется за созданием абстрактного интерфейса для представления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Все это — и есть главная идея MVP.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2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MVP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err="1"/>
              <a:t>Model</a:t>
            </a:r>
            <a:r>
              <a:rPr lang="ru-RU" b="1" i="1" dirty="0"/>
              <a:t> </a:t>
            </a:r>
            <a:r>
              <a:rPr lang="ru-RU" b="1" i="1" dirty="0" err="1"/>
              <a:t>View</a:t>
            </a:r>
            <a:r>
              <a:rPr lang="ru-RU" b="1" i="1" dirty="0"/>
              <a:t> </a:t>
            </a:r>
            <a:r>
              <a:rPr lang="ru-RU" b="1" i="1" dirty="0" err="1"/>
              <a:t>Presenter</a:t>
            </a:r>
            <a:r>
              <a:rPr lang="ru-RU" b="1" i="1" dirty="0"/>
              <a:t> (MVP)</a:t>
            </a:r>
            <a:r>
              <a:rPr lang="ru-RU" dirty="0"/>
              <a:t> - шаблон, который впервые появился в IBM, а затем использовался в </a:t>
            </a:r>
            <a:r>
              <a:rPr lang="ru-RU" dirty="0" err="1"/>
              <a:t>Taligent</a:t>
            </a:r>
            <a:r>
              <a:rPr lang="ru-RU" dirty="0"/>
              <a:t> в 1990-х. MVP является производным от MVC, при этом имеет несколько иной подход. В MVP представление не тесно связано с моделью, как это было в MVC.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97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Структура MVP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4237" y="2415381"/>
            <a:ext cx="53435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590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2194631" y="489652"/>
            <a:ext cx="7808500" cy="976423"/>
          </a:xfrm>
          <a:ln/>
        </p:spPr>
        <p:txBody>
          <a:bodyPr vert="horz" lIns="91440" tIns="8230" rIns="91440" bIns="45720" rtlCol="0" anchor="ctr">
            <a:norm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Model-view-presenter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77349" y="1852035"/>
            <a:ext cx="7808500" cy="4352137"/>
          </a:xfrm>
          <a:ln/>
        </p:spPr>
        <p:txBody>
          <a:bodyPr/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ru-RU"/>
              <a:t>Разработан в начале 90-х годов в проекте Taligent. 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ru-RU"/>
              <a:t>Паттерн был перенесен в JAVA Mike Potel. 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ru-RU"/>
              <a:t>В 2006 году Microsoft начала включать MVP в свои примеры и  документацию для программирования UI.</a:t>
            </a:r>
          </a:p>
        </p:txBody>
      </p:sp>
    </p:spTree>
    <p:extLst>
      <p:ext uri="{BB962C8B-B14F-4D97-AF65-F5344CB8AC3E}">
        <p14:creationId xmlns:p14="http://schemas.microsoft.com/office/powerpoint/2010/main" val="36545965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568861"/>
            <a:ext cx="7808500" cy="1144920"/>
          </a:xfrm>
          <a:ln/>
        </p:spPr>
        <p:txBody>
          <a:bodyPr vert="horz" lIns="91440" tIns="8230" rIns="91440" bIns="45720" rtlCol="0" anchor="ctr">
            <a:norm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Model-view-presenter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1465" y="2017653"/>
            <a:ext cx="5217668" cy="4187960"/>
          </a:xfrm>
          <a:ln/>
        </p:spPr>
        <p:txBody>
          <a:bodyPr/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</a:tabLst>
            </a:pPr>
            <a:r>
              <a:rPr lang="ru-RU"/>
              <a:t>Контроллер (Presenter) </a:t>
            </a:r>
            <a:r>
              <a:rPr lang="en-US"/>
              <a:t>дает знать представлению об изменениях. 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</a:tabLst>
            </a:pPr>
            <a:r>
              <a:rPr lang="en-US"/>
              <a:t>Данный подход позволяет создавать абстракцию представления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70448" y="1568326"/>
            <a:ext cx="2108381" cy="41476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28504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2194631" y="489652"/>
            <a:ext cx="7808500" cy="976423"/>
          </a:xfrm>
          <a:ln/>
        </p:spPr>
        <p:txBody>
          <a:bodyPr vert="horz" lIns="91440" tIns="8230" rIns="91440" bIns="45720" rtlCol="0" anchor="ctr">
            <a:norm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Реализации MVP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4631" y="1875078"/>
            <a:ext cx="7808500" cy="4352137"/>
          </a:xfrm>
          <a:ln/>
        </p:spPr>
        <p:txBody>
          <a:bodyPr/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Google Web Toolkit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ASP.NET Web Forms Model-View-Presenter (MVP)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Java Swing/AWT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Silverlight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26444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видно на этой диаграмме, </a:t>
            </a:r>
            <a:r>
              <a:rPr lang="ru-RU" b="1" dirty="0" err="1"/>
              <a:t>Presenter</a:t>
            </a:r>
            <a:r>
              <a:rPr lang="ru-RU" dirty="0"/>
              <a:t> занял место </a:t>
            </a:r>
            <a:r>
              <a:rPr lang="ru-RU" b="1" dirty="0"/>
              <a:t>контроллера</a:t>
            </a:r>
            <a:r>
              <a:rPr lang="ru-RU" dirty="0"/>
              <a:t> и отвечает </a:t>
            </a:r>
            <a:r>
              <a:rPr lang="ru-RU" b="1" dirty="0"/>
              <a:t>за перемещение данных</a:t>
            </a:r>
            <a:r>
              <a:rPr lang="ru-RU" dirty="0"/>
              <a:t>, введенных пользователем, а также </a:t>
            </a:r>
            <a:r>
              <a:rPr lang="ru-RU" b="1" dirty="0"/>
              <a:t>за обновление представления при изменениях</a:t>
            </a:r>
            <a:r>
              <a:rPr lang="ru-RU" dirty="0"/>
              <a:t>, которые происходят в модели. </a:t>
            </a:r>
          </a:p>
          <a:p>
            <a:r>
              <a:rPr lang="ru-RU" dirty="0" err="1"/>
              <a:t>Presenter</a:t>
            </a:r>
            <a:r>
              <a:rPr lang="ru-RU" dirty="0"/>
              <a:t> общается с представлением через интерфейс, который позволяет увеличить тестируемость, так как модель может быть заменена на специальный макет для модульных тестов.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757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habrastorage.org/getpro/habr/post_images/c99/af4/d93/c99af4d9379048b44ae882d34c2a01f3.png">
            <a:extLst>
              <a:ext uri="{FF2B5EF4-FFF2-40B4-BE49-F238E27FC236}">
                <a16:creationId xmlns:a16="http://schemas.microsoft.com/office/drawing/2014/main" id="{84C4FB57-319E-45AE-ACDC-D1E4260549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42" y="79225"/>
            <a:ext cx="11165915" cy="669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280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Бизнес-модель MVP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037" y="1910556"/>
            <a:ext cx="549592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706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данном случае структура MVP аналогична MVC в том плане, что код доступа к данным находится вне этой модели, а вся бизнес-логика приложения концентрируется в модели (эта схожесть подтверждает то, что MVP является производным от MVC, изменилась только логика представления).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42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habrastorage.org/getpro/habr/post_images/267/894/dbf/267894dbfa91527050ffe3a59d8af241.png">
            <a:extLst>
              <a:ext uri="{FF2B5EF4-FFF2-40B4-BE49-F238E27FC236}">
                <a16:creationId xmlns:a16="http://schemas.microsoft.com/office/drawing/2014/main" id="{4B18F94A-511C-4408-89A2-C55F889A01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00" y="133347"/>
            <a:ext cx="10761599" cy="659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512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ML-диаграмма классов проекта MVP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4237" y="1825625"/>
            <a:ext cx="436352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964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Вот как это работает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ru-RU" dirty="0"/>
              <a:t>Если пользователь щелкнет на кнопке </a:t>
            </a:r>
            <a:r>
              <a:rPr lang="ru-RU" dirty="0" err="1"/>
              <a:t>Update</a:t>
            </a:r>
            <a:r>
              <a:rPr lang="ru-RU" dirty="0"/>
              <a:t> в пользовательском интерфейсе, сработает обработчик события </a:t>
            </a:r>
            <a:r>
              <a:rPr lang="ru-RU" dirty="0" err="1"/>
              <a:t>IProjectView.ProjectUpdated</a:t>
            </a:r>
            <a:r>
              <a:rPr lang="ru-RU" dirty="0"/>
              <a:t>, который вызовет метод </a:t>
            </a:r>
            <a:r>
              <a:rPr lang="ru-RU" dirty="0" err="1"/>
              <a:t>ProjectsPresenter.view_ProjectUpdated</a:t>
            </a:r>
            <a:r>
              <a:rPr lang="ru-RU" dirty="0"/>
              <a:t>() который обновит модель. При обновлении модели срабатывает обработчик события </a:t>
            </a:r>
            <a:r>
              <a:rPr lang="ru-RU" dirty="0" err="1"/>
              <a:t>IProjectsModel.ProjectUpdated</a:t>
            </a:r>
            <a:r>
              <a:rPr lang="ru-RU" dirty="0"/>
              <a:t>, который, через </a:t>
            </a:r>
            <a:r>
              <a:rPr lang="ru-RU" dirty="0" err="1"/>
              <a:t>Presenter</a:t>
            </a:r>
            <a:r>
              <a:rPr lang="ru-RU" dirty="0"/>
              <a:t>, обновляет графический интерфейс приложения.</a:t>
            </a:r>
          </a:p>
          <a:p>
            <a:pPr fontAlgn="base"/>
            <a:r>
              <a:rPr lang="ru-RU" dirty="0"/>
              <a:t>Подобная модель обладает лучшей тестируемостью нежели модель MVC, т.к. мы перенесли логику построения представления в </a:t>
            </a:r>
            <a:r>
              <a:rPr lang="ru-RU" dirty="0" err="1"/>
              <a:t>Presenter</a:t>
            </a:r>
            <a:endParaRPr lang="ru-RU" dirty="0"/>
          </a:p>
          <a:p>
            <a:pPr fontAlgn="base"/>
            <a:r>
              <a:rPr lang="ru-RU" b="1" dirty="0"/>
              <a:t>В MVC представление строилось непосредственно из модели.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89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Итак, MVP представляет собой большой шаг вперед по сравнению с MVC в нескольких направлениях: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/>
              <a:t>MVP обеспечивает </a:t>
            </a:r>
            <a:r>
              <a:rPr lang="ru-RU" dirty="0" err="1"/>
              <a:t>проверяемость</a:t>
            </a:r>
            <a:r>
              <a:rPr lang="ru-RU" dirty="0"/>
              <a:t> состояния и логики представления, перемещая их в </a:t>
            </a:r>
            <a:r>
              <a:rPr lang="ru-RU" dirty="0" err="1"/>
              <a:t>Presenter</a:t>
            </a:r>
            <a:r>
              <a:rPr lang="ru-RU" dirty="0"/>
              <a:t>.</a:t>
            </a:r>
          </a:p>
          <a:p>
            <a:pPr fontAlgn="base"/>
            <a:r>
              <a:rPr lang="ru-RU" dirty="0"/>
              <a:t>Представление жестко отделяется от модели, при этом связь организуется через </a:t>
            </a:r>
            <a:r>
              <a:rPr lang="ru-RU" dirty="0" err="1"/>
              <a:t>Presenter</a:t>
            </a:r>
            <a:r>
              <a:rPr lang="ru-RU" dirty="0"/>
              <a:t>. В отличие от MVC, MVP допускает повторное использование бизнес-логики без непосредственного видоизменения модели (за счет использования интерфейса </a:t>
            </a:r>
            <a:r>
              <a:rPr lang="ru-RU" dirty="0" err="1"/>
              <a:t>IView</a:t>
            </a:r>
            <a:r>
              <a:rPr lang="ru-RU" dirty="0"/>
              <a:t>). Например, если вы захотите перенести это WPF-приложение на </a:t>
            </a:r>
            <a:r>
              <a:rPr lang="ru-RU" dirty="0" err="1"/>
              <a:t>Silverlight</a:t>
            </a:r>
            <a:r>
              <a:rPr lang="ru-RU" dirty="0"/>
              <a:t>, вам потребуется только создать представление в </a:t>
            </a:r>
            <a:r>
              <a:rPr lang="ru-RU" dirty="0" err="1"/>
              <a:t>Silverlight</a:t>
            </a:r>
            <a:r>
              <a:rPr lang="ru-RU" dirty="0"/>
              <a:t>, реализующее </a:t>
            </a:r>
            <a:r>
              <a:rPr lang="ru-RU" dirty="0" err="1"/>
              <a:t>IProjectsView</a:t>
            </a:r>
            <a:r>
              <a:rPr lang="ru-RU" dirty="0"/>
              <a:t>, а </a:t>
            </a:r>
            <a:r>
              <a:rPr lang="ru-RU" dirty="0" err="1"/>
              <a:t>IProjectsPresenter</a:t>
            </a:r>
            <a:r>
              <a:rPr lang="ru-RU" dirty="0"/>
              <a:t> и </a:t>
            </a:r>
            <a:r>
              <a:rPr lang="ru-RU" dirty="0" err="1"/>
              <a:t>IProjectsModel</a:t>
            </a:r>
            <a:r>
              <a:rPr lang="ru-RU" dirty="0"/>
              <a:t> можно использовать повторно.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909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2194631" y="489652"/>
            <a:ext cx="7808500" cy="976423"/>
          </a:xfrm>
          <a:ln/>
        </p:spPr>
        <p:txBody>
          <a:bodyPr vert="horz" lIns="91440" tIns="8230" rIns="91440" bIns="45720" rtlCol="0" anchor="ctr">
            <a:norm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Литература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4631" y="1875078"/>
            <a:ext cx="7808500" cy="4352137"/>
          </a:xfrm>
          <a:ln/>
        </p:spPr>
        <p:txBody>
          <a:bodyPr vert="horz" lIns="91440" tIns="3657" rIns="91440" bIns="45720" rtlCol="0">
            <a:normAutofit/>
          </a:bodyPr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 sz="1452"/>
              <a:t>MVC: XEROX PARC 1978-79 (1979) by Trygve Reenskaug, </a:t>
            </a:r>
            <a:r>
              <a:rPr lang="en-US" sz="1452">
                <a:hlinkClick r:id="rId3"/>
              </a:rPr>
              <a:t>http://heim.ifi.uio.no/~trygver/themes/mvc/mvc-index.html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 sz="1452"/>
              <a:t> Spring MVC  Fast Tutorial </a:t>
            </a:r>
            <a:r>
              <a:rPr lang="en-US" sz="1452">
                <a:hlinkClick r:id="rId4"/>
              </a:rPr>
              <a:t>http://maestric.com/doc/java/spring/mvc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 sz="1452"/>
              <a:t> Э. Гамма, Р. Хелм, Р. Джонсон, Дж. Влиссидес. Приемы объектно-ориентированного проектирования. Паттерны проектирования.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 sz="1452"/>
              <a:t>И. Бодягин. Model-View-Presenter и сопутствующие паттерны. http://www.rsdn.ru/article/patterns/ModelViewPresenter.xml</a:t>
            </a:r>
          </a:p>
        </p:txBody>
      </p:sp>
    </p:spTree>
    <p:extLst>
      <p:ext uri="{BB962C8B-B14F-4D97-AF65-F5344CB8AC3E}">
        <p14:creationId xmlns:p14="http://schemas.microsoft.com/office/powerpoint/2010/main" val="23408523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xfrm>
            <a:off x="2194631" y="489652"/>
            <a:ext cx="7808500" cy="976423"/>
          </a:xfrm>
          <a:ln/>
        </p:spPr>
        <p:txBody>
          <a:bodyPr vert="horz" lIns="91440" tIns="8230" rIns="91440" bIns="45720" rtlCol="0" anchor="ctr">
            <a:normAutofit/>
          </a:bodyPr>
          <a:lstStyle/>
          <a:p>
            <a:pPr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Вопросы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94631" y="1875078"/>
            <a:ext cx="7808500" cy="4352137"/>
          </a:xfrm>
          <a:ln/>
        </p:spPr>
        <p:txBody>
          <a:bodyPr/>
          <a:lstStyle/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Паттерн проектирования MVVM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Строение паттерна MVP</a:t>
            </a:r>
          </a:p>
          <a:p>
            <a:pPr marL="391729" indent="-293797">
              <a:buSzPct val="45000"/>
              <a:buFont typeface="Wingdings" charset="2"/>
              <a:buChar char=""/>
              <a:tabLst>
                <a:tab pos="656722" algn="l"/>
                <a:tab pos="1313444" algn="l"/>
                <a:tab pos="1970166" algn="l"/>
                <a:tab pos="2626888" algn="l"/>
                <a:tab pos="3283610" algn="l"/>
                <a:tab pos="3940332" algn="l"/>
                <a:tab pos="4597055" algn="l"/>
                <a:tab pos="5253777" algn="l"/>
                <a:tab pos="5910499" algn="l"/>
                <a:tab pos="6567221" algn="l"/>
                <a:tab pos="7223943" algn="l"/>
              </a:tabLst>
            </a:pPr>
            <a:r>
              <a:rPr lang="en-US"/>
              <a:t>Особенности MVC </a:t>
            </a:r>
          </a:p>
        </p:txBody>
      </p:sp>
    </p:spTree>
    <p:extLst>
      <p:ext uri="{BB962C8B-B14F-4D97-AF65-F5344CB8AC3E}">
        <p14:creationId xmlns:p14="http://schemas.microsoft.com/office/powerpoint/2010/main" val="4712824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1076</Words>
  <Application>Microsoft Office PowerPoint</Application>
  <PresentationFormat>Широкоэкранный</PresentationFormat>
  <Paragraphs>92</Paragraphs>
  <Slides>31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msgothic</vt:lpstr>
      <vt:lpstr>Wingdings</vt:lpstr>
      <vt:lpstr>Office Theme</vt:lpstr>
      <vt:lpstr>Паттерны разработки</vt:lpstr>
      <vt:lpstr>Чего мы хотим добиться?</vt:lpstr>
      <vt:lpstr>MVC</vt:lpstr>
      <vt:lpstr>Модели</vt:lpstr>
      <vt:lpstr>Представления</vt:lpstr>
      <vt:lpstr>Контроллеры</vt:lpstr>
      <vt:lpstr>MVC</vt:lpstr>
      <vt:lpstr>Реализация MVC в качестве GUI framework</vt:lpstr>
      <vt:lpstr>Реализация MVC как web framework </vt:lpstr>
      <vt:lpstr>Презентация PowerPoint</vt:lpstr>
      <vt:lpstr>Два варианта MVC: контроллер-супервизор и пассивное представление</vt:lpstr>
      <vt:lpstr>Презентация PowerPoint</vt:lpstr>
      <vt:lpstr>Презентация PowerPoint</vt:lpstr>
      <vt:lpstr>Три уровня </vt:lpstr>
      <vt:lpstr>Презентация PowerPoint</vt:lpstr>
      <vt:lpstr>Massive View Controller</vt:lpstr>
      <vt:lpstr>MVP</vt:lpstr>
      <vt:lpstr>Презентация PowerPoint</vt:lpstr>
      <vt:lpstr>Model-view-presenter</vt:lpstr>
      <vt:lpstr>Model-view-presenter</vt:lpstr>
      <vt:lpstr>Реализации MVP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Вот как это работает</vt:lpstr>
      <vt:lpstr>Итак, MVP представляет собой большой шаг вперед по сравнению с MVC в нескольких направлениях:</vt:lpstr>
      <vt:lpstr>Литература</vt:lpstr>
      <vt:lpstr>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MVC</dc:title>
  <dc:creator>sergey.videnin@gmail.com</dc:creator>
  <cp:lastModifiedBy>Жук Арсений Сергеевич</cp:lastModifiedBy>
  <cp:revision>9</cp:revision>
  <dcterms:created xsi:type="dcterms:W3CDTF">2016-03-23T06:24:35Z</dcterms:created>
  <dcterms:modified xsi:type="dcterms:W3CDTF">2023-03-02T07:18:20Z</dcterms:modified>
</cp:coreProperties>
</file>