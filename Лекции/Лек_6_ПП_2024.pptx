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0.png" ContentType="image/png"/>
  <Override PartName="/ppt/media/image39.png" ContentType="image/png"/>
  <Override PartName="/ppt/media/image9.png" ContentType="image/png"/>
  <Override PartName="/ppt/media/image86.png" ContentType="image/png"/>
  <Override PartName="/ppt/media/image13.png" ContentType="image/png"/>
  <Override PartName="/ppt/media/image1.png" ContentType="image/png"/>
  <Override PartName="/ppt/media/image38.png" ContentType="image/png"/>
  <Override PartName="/ppt/media/image8.png" ContentType="image/png"/>
  <Override PartName="/ppt/media/image85.png" ContentType="image/png"/>
  <Override PartName="/ppt/media/image49.png" ContentType="image/png"/>
  <Override PartName="/ppt/media/image100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19.png" ContentType="image/png"/>
  <Override PartName="/ppt/media/image84.png" ContentType="image/png"/>
  <Override PartName="/ppt/media/image48.png" ContentType="image/png"/>
  <Override PartName="/ppt/media/image11.png" ContentType="image/png"/>
  <Override PartName="/ppt/media/image36.png" ContentType="image/png"/>
  <Override PartName="/ppt/media/image6.png" ContentType="image/png"/>
  <Override PartName="/ppt/media/image18.png" ContentType="image/png"/>
  <Override PartName="/ppt/media/image83.png" ContentType="image/png"/>
  <Override PartName="/ppt/media/image29.png" ContentType="image/png"/>
  <Override PartName="/ppt/media/image94.png" ContentType="image/png"/>
  <Override PartName="/ppt/media/image47.png" ContentType="image/png"/>
  <Override PartName="/ppt/media/image10.png" ContentType="image/png"/>
  <Override PartName="/ppt/media/image35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31.png" ContentType="image/png"/>
  <Override PartName="/ppt/media/image70.png" ContentType="image/png"/>
  <Override PartName="/ppt/media/image69.png" ContentType="image/png"/>
  <Override PartName="/ppt/media/image32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64.png" ContentType="image/png"/>
  <Override PartName="/ppt/media/image99.png" ContentType="image/png"/>
  <Override PartName="/ppt/media/image62.png" ContentType="image/png"/>
  <Override PartName="/ppt/media/image87.png" ContentType="image/png"/>
  <Override PartName="/ppt/media/image75.png" ContentType="image/png"/>
  <Override PartName="/ppt/media/image63.png" ContentType="image/png"/>
  <Override PartName="/ppt/media/image98.png" ContentType="image/png"/>
  <Override PartName="/ppt/media/image61.png" ContentType="image/png"/>
  <Override PartName="/ppt/media/image97.png" ContentType="image/png"/>
  <Override PartName="/ppt/media/image60.png" ContentType="image/png"/>
  <Override PartName="/ppt/media/image96.png" ContentType="image/png"/>
  <Override PartName="/ppt/media/image23.png" ContentType="image/png"/>
  <Override PartName="/ppt/media/image95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6.png" ContentType="image/png"/>
  <Override PartName="/ppt/media/image79.png" ContentType="image/png"/>
  <Override PartName="/ppt/media/image78.png" ContentType="image/png"/>
  <Override PartName="/ppt/media/image22.png" ContentType="image/png"/>
  <Override PartName="/ppt/media/image59.png" ContentType="image/png"/>
  <Override PartName="/ppt/media/image21.png" ContentType="image/png"/>
  <Override PartName="/ppt/media/image58.png" ContentType="image/png"/>
  <Override PartName="/ppt/media/image20.png" ContentType="image/png"/>
  <Override PartName="/ppt/media/image57.png" ContentType="image/png"/>
  <Override PartName="/ppt/media/image24.png" ContentType="image/png"/>
  <Override PartName="/ppt/media/image90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28.png" ContentType="image/png"/>
  <Override PartName="/ppt/media/image93.png" ContentType="image/png"/>
  <Override PartName="/ppt/media/image91.png" ContentType="image/png"/>
  <Override PartName="/ppt/media/image26.png" ContentType="image/png"/>
  <Override PartName="/ppt/media/image80.png" ContentType="image/png"/>
  <Override PartName="/ppt/media/image15.png" ContentType="image/png"/>
  <Override PartName="/ppt/media/image3.png" ContentType="image/png"/>
  <Override PartName="/ppt/media/image33.png" ContentType="image/png"/>
  <Override PartName="/ppt/media/image92.png" ContentType="image/png"/>
  <Override PartName="/ppt/media/image27.png" ContentType="image/png"/>
  <Override PartName="/ppt/media/image16.png" ContentType="image/png"/>
  <Override PartName="/ppt/media/image81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82.png" ContentType="image/png"/>
  <Override PartName="/ppt/media/image5.png" ContentType="image/png"/>
  <Override PartName="/ppt/presProps.xml" ContentType="application/vnd.openxmlformats-officedocument.presentationml.presPro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24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63.xml.rels" ContentType="application/vnd.openxmlformats-package.relationships+xml"/>
  <Override PartName="/ppt/slides/_rels/slide60.xml.rels" ContentType="application/vnd.openxmlformats-package.relationships+xml"/>
  <Override PartName="/ppt/slides/_rels/slide56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_rels/slide66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61.xml.rels" ContentType="application/vnd.openxmlformats-package.relationships+xml"/>
  <Override PartName="/ppt/slides/_rels/slide57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54.xml.rels" ContentType="application/vnd.openxmlformats-package.relationships+xml"/>
  <Override PartName="/ppt/slides/_rels/slide41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8.xml.rels" ContentType="application/vnd.openxmlformats-package.relationships+xml"/>
  <Override PartName="/ppt/slides/_rels/slide62.xml.rels" ContentType="application/vnd.openxmlformats-package.relationships+xml"/>
  <Override PartName="/ppt/slides/_rels/slide52.xml.rels" ContentType="application/vnd.openxmlformats-package.relationships+xml"/>
  <Override PartName="/ppt/slides/_rels/slide67.xml.rels" ContentType="application/vnd.openxmlformats-package.relationships+xml"/>
  <Override PartName="/ppt/slides/_rels/slide45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13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58.xml.rels" ContentType="application/vnd.openxmlformats-package.relationships+xml"/>
  <Override PartName="/ppt/slides/_rels/slide65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39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86.png"/><Relationship Id="rId18" Type="http://schemas.openxmlformats.org/officeDocument/2006/relationships/image" Target="../media/image87.png"/><Relationship Id="rId19" Type="http://schemas.openxmlformats.org/officeDocument/2006/relationships/image" Target="../media/image88.png"/><Relationship Id="rId20" Type="http://schemas.openxmlformats.org/officeDocument/2006/relationships/image" Target="../media/image89.png"/><Relationship Id="rId21" Type="http://schemas.openxmlformats.org/officeDocument/2006/relationships/image" Target="../media/image90.png"/><Relationship Id="rId22" Type="http://schemas.openxmlformats.org/officeDocument/2006/relationships/slideLayout" Target="../slideLayouts/slideLayout1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98.png"/><Relationship Id="rId2" Type="http://schemas.openxmlformats.org/officeDocument/2006/relationships/hyperlink" Target="https://refactoring.guru/ru" TargetMode="Externa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/>
          <p:nvPr/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Рефакторинг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15" name="TextShape 2"/>
          <p:cNvSpPr/>
          <p:nvPr/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ru-RU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Лекция 10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Рисунок 5" descr=""/>
          <p:cNvPicPr/>
          <p:nvPr/>
        </p:nvPicPr>
        <p:blipFill>
          <a:blip r:embed="rId1"/>
          <a:stretch/>
        </p:blipFill>
        <p:spPr>
          <a:xfrm>
            <a:off x="169920" y="317520"/>
            <a:ext cx="8771400" cy="858600"/>
          </a:xfrm>
          <a:prstGeom prst="rect">
            <a:avLst/>
          </a:prstGeom>
          <a:ln w="0">
            <a:noFill/>
          </a:ln>
        </p:spPr>
      </p:pic>
      <p:pic>
        <p:nvPicPr>
          <p:cNvPr id="117" name="Рисунок 6" descr=""/>
          <p:cNvPicPr/>
          <p:nvPr/>
        </p:nvPicPr>
        <p:blipFill>
          <a:blip r:embed="rId2"/>
          <a:stretch/>
        </p:blipFill>
        <p:spPr>
          <a:xfrm>
            <a:off x="64080" y="1570320"/>
            <a:ext cx="8982720" cy="1716480"/>
          </a:xfrm>
          <a:prstGeom prst="rect">
            <a:avLst/>
          </a:prstGeom>
          <a:ln w="0">
            <a:noFill/>
          </a:ln>
        </p:spPr>
      </p:pic>
      <p:pic>
        <p:nvPicPr>
          <p:cNvPr id="118" name="Рисунок 7" descr=""/>
          <p:cNvPicPr/>
          <p:nvPr/>
        </p:nvPicPr>
        <p:blipFill>
          <a:blip r:embed="rId3"/>
          <a:stretch/>
        </p:blipFill>
        <p:spPr>
          <a:xfrm>
            <a:off x="26280" y="3471840"/>
            <a:ext cx="9117360" cy="229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Рисунок 1" descr=""/>
          <p:cNvPicPr/>
          <p:nvPr/>
        </p:nvPicPr>
        <p:blipFill>
          <a:blip r:embed="rId1"/>
          <a:stretch/>
        </p:blipFill>
        <p:spPr>
          <a:xfrm>
            <a:off x="134640" y="131760"/>
            <a:ext cx="9009000" cy="970920"/>
          </a:xfrm>
          <a:prstGeom prst="rect">
            <a:avLst/>
          </a:prstGeom>
          <a:ln w="0">
            <a:noFill/>
          </a:ln>
        </p:spPr>
      </p:pic>
      <p:pic>
        <p:nvPicPr>
          <p:cNvPr id="120" name="Рисунок 2" descr=""/>
          <p:cNvPicPr/>
          <p:nvPr/>
        </p:nvPicPr>
        <p:blipFill>
          <a:blip r:embed="rId2"/>
          <a:stretch/>
        </p:blipFill>
        <p:spPr>
          <a:xfrm>
            <a:off x="134640" y="1103400"/>
            <a:ext cx="8704440" cy="1018800"/>
          </a:xfrm>
          <a:prstGeom prst="rect">
            <a:avLst/>
          </a:prstGeom>
          <a:ln w="0">
            <a:noFill/>
          </a:ln>
        </p:spPr>
      </p:pic>
      <p:pic>
        <p:nvPicPr>
          <p:cNvPr id="121" name="Рисунок 3" descr=""/>
          <p:cNvPicPr/>
          <p:nvPr/>
        </p:nvPicPr>
        <p:blipFill>
          <a:blip r:embed="rId3"/>
          <a:stretch/>
        </p:blipFill>
        <p:spPr>
          <a:xfrm>
            <a:off x="134640" y="2398680"/>
            <a:ext cx="9028080" cy="694800"/>
          </a:xfrm>
          <a:prstGeom prst="rect">
            <a:avLst/>
          </a:prstGeom>
          <a:ln w="0">
            <a:noFill/>
          </a:ln>
        </p:spPr>
      </p:pic>
      <p:pic>
        <p:nvPicPr>
          <p:cNvPr id="122" name="Рисунок 4" descr=""/>
          <p:cNvPicPr/>
          <p:nvPr/>
        </p:nvPicPr>
        <p:blipFill>
          <a:blip r:embed="rId4"/>
          <a:stretch/>
        </p:blipFill>
        <p:spPr>
          <a:xfrm>
            <a:off x="134640" y="3200400"/>
            <a:ext cx="8917200" cy="1188000"/>
          </a:xfrm>
          <a:prstGeom prst="rect">
            <a:avLst/>
          </a:prstGeom>
          <a:ln w="0">
            <a:noFill/>
          </a:ln>
        </p:spPr>
      </p:pic>
      <p:pic>
        <p:nvPicPr>
          <p:cNvPr id="123" name="Рисунок 8" descr=""/>
          <p:cNvPicPr/>
          <p:nvPr/>
        </p:nvPicPr>
        <p:blipFill>
          <a:blip r:embed="rId5"/>
          <a:stretch/>
        </p:blipFill>
        <p:spPr>
          <a:xfrm>
            <a:off x="-10440" y="4656960"/>
            <a:ext cx="9154080" cy="157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Рисунок 5" descr=""/>
          <p:cNvPicPr/>
          <p:nvPr/>
        </p:nvPicPr>
        <p:blipFill>
          <a:blip r:embed="rId1"/>
          <a:stretch/>
        </p:blipFill>
        <p:spPr>
          <a:xfrm>
            <a:off x="177480" y="226800"/>
            <a:ext cx="8741880" cy="244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/>
          <p:nvPr/>
        </p:nvSpPr>
        <p:spPr>
          <a:xfrm>
            <a:off x="2160000" y="1206720"/>
            <a:ext cx="509652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ГОВНОКОД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26" name="Стрелка вправо 1"/>
          <p:cNvSpPr/>
          <p:nvPr/>
        </p:nvSpPr>
        <p:spPr>
          <a:xfrm rot="16200000">
            <a:off x="2950920" y="3150720"/>
            <a:ext cx="3208320" cy="10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" name="TextShape 1"/>
          <p:cNvSpPr/>
          <p:nvPr/>
        </p:nvSpPr>
        <p:spPr>
          <a:xfrm>
            <a:off x="2818080" y="5385960"/>
            <a:ext cx="362772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МЕТОД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28" name="TextShape 1"/>
          <p:cNvSpPr/>
          <p:nvPr/>
        </p:nvSpPr>
        <p:spPr>
          <a:xfrm>
            <a:off x="360000" y="3459960"/>
            <a:ext cx="344052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5400" spc="-1" strike="noStrike">
                <a:solidFill>
                  <a:srgbClr val="0070c0"/>
                </a:solidFill>
                <a:latin typeface="Calibri"/>
                <a:ea typeface="DejaVu Sans"/>
              </a:rPr>
              <a:t>условие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/>
          <p:nvPr/>
        </p:nvSpPr>
        <p:spPr>
          <a:xfrm>
            <a:off x="0" y="306720"/>
            <a:ext cx="900000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Дублирование кода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30" name="Стрелка вправо 4"/>
          <p:cNvSpPr/>
          <p:nvPr/>
        </p:nvSpPr>
        <p:spPr>
          <a:xfrm rot="16200000">
            <a:off x="1040040" y="225216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TextShape 1"/>
          <p:cNvSpPr/>
          <p:nvPr/>
        </p:nvSpPr>
        <p:spPr>
          <a:xfrm>
            <a:off x="180000" y="3466440"/>
            <a:ext cx="299772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МЕТОДА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2" name="TextShape 1"/>
          <p:cNvSpPr/>
          <p:nvPr/>
        </p:nvSpPr>
        <p:spPr>
          <a:xfrm>
            <a:off x="1991880" y="1662480"/>
            <a:ext cx="32281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Одинаковый алгоритм в двух методах одного класса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3" name="TextShape 1"/>
          <p:cNvSpPr/>
          <p:nvPr/>
        </p:nvSpPr>
        <p:spPr>
          <a:xfrm>
            <a:off x="5641200" y="1616400"/>
            <a:ext cx="32281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Одинаковый алгоритм в двух методах разных наследников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4" name="Стрелка вправо 10"/>
          <p:cNvSpPr/>
          <p:nvPr/>
        </p:nvSpPr>
        <p:spPr>
          <a:xfrm rot="16200000">
            <a:off x="4689360" y="23018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TextShape 1"/>
          <p:cNvSpPr/>
          <p:nvPr/>
        </p:nvSpPr>
        <p:spPr>
          <a:xfrm>
            <a:off x="3434040" y="3815640"/>
            <a:ext cx="4305960" cy="14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МЕТОДА + </a:t>
            </a:r>
            <a:endParaRPr b="0" lang="ru-RU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ПОДЪЕМ ПОЛЯ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Рисунок 1" descr=""/>
          <p:cNvPicPr/>
          <p:nvPr/>
        </p:nvPicPr>
        <p:blipFill>
          <a:blip r:embed="rId1"/>
          <a:stretch/>
        </p:blipFill>
        <p:spPr>
          <a:xfrm>
            <a:off x="2136240" y="763200"/>
            <a:ext cx="4778640" cy="5872680"/>
          </a:xfrm>
          <a:prstGeom prst="rect">
            <a:avLst/>
          </a:prstGeom>
          <a:ln w="0">
            <a:noFill/>
          </a:ln>
        </p:spPr>
      </p:pic>
      <p:sp>
        <p:nvSpPr>
          <p:cNvPr id="137" name="TextShape 1"/>
          <p:cNvSpPr/>
          <p:nvPr/>
        </p:nvSpPr>
        <p:spPr>
          <a:xfrm>
            <a:off x="1440000" y="99720"/>
            <a:ext cx="64800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МЕТОДА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Рисунок 2" descr=""/>
          <p:cNvPicPr/>
          <p:nvPr/>
        </p:nvPicPr>
        <p:blipFill>
          <a:blip r:embed="rId1"/>
          <a:stretch/>
        </p:blipFill>
        <p:spPr>
          <a:xfrm>
            <a:off x="1742040" y="210960"/>
            <a:ext cx="5675760" cy="2694960"/>
          </a:xfrm>
          <a:prstGeom prst="rect">
            <a:avLst/>
          </a:prstGeom>
          <a:ln w="0">
            <a:noFill/>
          </a:ln>
        </p:spPr>
      </p:pic>
      <p:pic>
        <p:nvPicPr>
          <p:cNvPr id="139" name="Рисунок 3" descr=""/>
          <p:cNvPicPr/>
          <p:nvPr/>
        </p:nvPicPr>
        <p:blipFill>
          <a:blip r:embed="rId2"/>
          <a:stretch/>
        </p:blipFill>
        <p:spPr>
          <a:xfrm>
            <a:off x="1818360" y="3312720"/>
            <a:ext cx="5599800" cy="280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Рисунок 1" descr=""/>
          <p:cNvPicPr/>
          <p:nvPr/>
        </p:nvPicPr>
        <p:blipFill>
          <a:blip r:embed="rId1"/>
          <a:stretch/>
        </p:blipFill>
        <p:spPr>
          <a:xfrm>
            <a:off x="1731960" y="248400"/>
            <a:ext cx="5313960" cy="2304360"/>
          </a:xfrm>
          <a:prstGeom prst="rect">
            <a:avLst/>
          </a:prstGeom>
          <a:ln w="0">
            <a:noFill/>
          </a:ln>
        </p:spPr>
      </p:pic>
      <p:sp>
        <p:nvSpPr>
          <p:cNvPr id="141" name="Прямоугольник 4"/>
          <p:cNvSpPr/>
          <p:nvPr/>
        </p:nvSpPr>
        <p:spPr>
          <a:xfrm>
            <a:off x="1731960" y="1903680"/>
            <a:ext cx="5458320" cy="789480"/>
          </a:xfrm>
          <a:prstGeom prst="rect">
            <a:avLst/>
          </a:prstGeom>
          <a:noFill/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/>
          <p:nvPr/>
        </p:nvSpPr>
        <p:spPr>
          <a:xfrm>
            <a:off x="0" y="306720"/>
            <a:ext cx="900000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Дублирование кода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43" name="Стрелка вправо 5"/>
          <p:cNvSpPr/>
          <p:nvPr/>
        </p:nvSpPr>
        <p:spPr>
          <a:xfrm rot="16200000">
            <a:off x="45720" y="220572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4" name="TextShape 1"/>
          <p:cNvSpPr/>
          <p:nvPr/>
        </p:nvSpPr>
        <p:spPr>
          <a:xfrm>
            <a:off x="0" y="3600000"/>
            <a:ext cx="31536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ЗАМЕЩЕНИЕ АЛГОРИТМА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45" name="TextShape 1"/>
          <p:cNvSpPr/>
          <p:nvPr/>
        </p:nvSpPr>
        <p:spPr>
          <a:xfrm>
            <a:off x="1260000" y="1662480"/>
            <a:ext cx="411804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Разные алгоритмы одной задачи в двух методах разных наследников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46" name="TextShape 1"/>
          <p:cNvSpPr/>
          <p:nvPr/>
        </p:nvSpPr>
        <p:spPr>
          <a:xfrm>
            <a:off x="5641200" y="1612800"/>
            <a:ext cx="32281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Одинаковый алгоритм в двух разных классах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47" name="Стрелка вправо 9"/>
          <p:cNvSpPr/>
          <p:nvPr/>
        </p:nvSpPr>
        <p:spPr>
          <a:xfrm rot="16200000">
            <a:off x="4689360" y="23018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TextShape 1"/>
          <p:cNvSpPr/>
          <p:nvPr/>
        </p:nvSpPr>
        <p:spPr>
          <a:xfrm>
            <a:off x="4334040" y="3491280"/>
            <a:ext cx="3405960" cy="14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КЛАССА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Рисунок 1" descr=""/>
          <p:cNvPicPr/>
          <p:nvPr/>
        </p:nvPicPr>
        <p:blipFill>
          <a:blip r:embed="rId1"/>
          <a:stretch/>
        </p:blipFill>
        <p:spPr>
          <a:xfrm>
            <a:off x="1743480" y="757440"/>
            <a:ext cx="5656680" cy="534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Рисунок 2" descr=""/>
          <p:cNvPicPr/>
          <p:nvPr/>
        </p:nvPicPr>
        <p:blipFill>
          <a:blip r:embed="rId1"/>
          <a:stretch/>
        </p:blipFill>
        <p:spPr>
          <a:xfrm>
            <a:off x="173520" y="1404720"/>
            <a:ext cx="5704560" cy="4875840"/>
          </a:xfrm>
          <a:prstGeom prst="rect">
            <a:avLst/>
          </a:prstGeom>
          <a:ln w="0">
            <a:noFill/>
          </a:ln>
        </p:spPr>
      </p:pic>
      <p:sp>
        <p:nvSpPr>
          <p:cNvPr id="151" name="TextShape 1"/>
          <p:cNvSpPr/>
          <p:nvPr/>
        </p:nvSpPr>
        <p:spPr>
          <a:xfrm>
            <a:off x="180000" y="0"/>
            <a:ext cx="3301200" cy="14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КЛАССА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52" name="Равно 5"/>
          <p:cNvSpPr/>
          <p:nvPr/>
        </p:nvSpPr>
        <p:spPr>
          <a:xfrm>
            <a:off x="4089960" y="301680"/>
            <a:ext cx="914040" cy="914040"/>
          </a:xfrm>
          <a:prstGeom prst="mathEqual">
            <a:avLst>
              <a:gd name="adj1" fmla="val 23520"/>
              <a:gd name="adj2" fmla="val 1176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" name="TextShape 1"/>
          <p:cNvSpPr/>
          <p:nvPr/>
        </p:nvSpPr>
        <p:spPr>
          <a:xfrm>
            <a:off x="5878080" y="354600"/>
            <a:ext cx="2613600" cy="8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ДЕЛЕГАЦИЯ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Рисунок 4" descr=""/>
          <p:cNvPicPr/>
          <p:nvPr/>
        </p:nvPicPr>
        <p:blipFill>
          <a:blip r:embed="rId1"/>
          <a:stretch/>
        </p:blipFill>
        <p:spPr>
          <a:xfrm>
            <a:off x="1376280" y="255960"/>
            <a:ext cx="5675760" cy="2770920"/>
          </a:xfrm>
          <a:prstGeom prst="rect">
            <a:avLst/>
          </a:prstGeom>
          <a:ln w="0">
            <a:noFill/>
          </a:ln>
        </p:spPr>
      </p:pic>
      <p:pic>
        <p:nvPicPr>
          <p:cNvPr id="155" name="Рисунок 1" descr=""/>
          <p:cNvPicPr/>
          <p:nvPr/>
        </p:nvPicPr>
        <p:blipFill>
          <a:blip r:embed="rId2"/>
          <a:stretch/>
        </p:blipFill>
        <p:spPr>
          <a:xfrm>
            <a:off x="1509840" y="3139920"/>
            <a:ext cx="5542560" cy="323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Рисунок 4" descr=""/>
          <p:cNvPicPr/>
          <p:nvPr/>
        </p:nvPicPr>
        <p:blipFill>
          <a:blip r:embed="rId1"/>
          <a:stretch/>
        </p:blipFill>
        <p:spPr>
          <a:xfrm>
            <a:off x="1376280" y="255960"/>
            <a:ext cx="5675760" cy="2770920"/>
          </a:xfrm>
          <a:prstGeom prst="rect">
            <a:avLst/>
          </a:prstGeom>
          <a:ln w="0">
            <a:noFill/>
          </a:ln>
        </p:spPr>
      </p:pic>
      <p:pic>
        <p:nvPicPr>
          <p:cNvPr id="157" name="Рисунок 1" descr=""/>
          <p:cNvPicPr/>
          <p:nvPr/>
        </p:nvPicPr>
        <p:blipFill>
          <a:blip r:embed="rId2"/>
          <a:stretch/>
        </p:blipFill>
        <p:spPr>
          <a:xfrm>
            <a:off x="1509840" y="3139920"/>
            <a:ext cx="5542560" cy="323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/>
          <p:nvPr/>
        </p:nvSpPr>
        <p:spPr>
          <a:xfrm>
            <a:off x="1147320" y="698400"/>
            <a:ext cx="699048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Длинный метод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59" name="Стрелка вправо 5"/>
          <p:cNvSpPr/>
          <p:nvPr/>
        </p:nvSpPr>
        <p:spPr>
          <a:xfrm rot="16200000">
            <a:off x="1040040" y="225216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TextShape 1"/>
          <p:cNvSpPr/>
          <p:nvPr/>
        </p:nvSpPr>
        <p:spPr>
          <a:xfrm>
            <a:off x="0" y="3466440"/>
            <a:ext cx="3177720" cy="14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МЕТОДА + опять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1" name="TextShape 1"/>
          <p:cNvSpPr/>
          <p:nvPr/>
        </p:nvSpPr>
        <p:spPr>
          <a:xfrm>
            <a:off x="0" y="2219400"/>
            <a:ext cx="192384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20 строк,</a:t>
            </a:r>
            <a:endParaRPr b="0" lang="ru-RU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 </a:t>
            </a: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фуу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2" name="Стрелка вправо 8"/>
          <p:cNvSpPr/>
          <p:nvPr/>
        </p:nvSpPr>
        <p:spPr>
          <a:xfrm rot="16200000">
            <a:off x="4191840" y="242352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TextShape 1"/>
          <p:cNvSpPr/>
          <p:nvPr/>
        </p:nvSpPr>
        <p:spPr>
          <a:xfrm>
            <a:off x="3401640" y="3575160"/>
            <a:ext cx="33217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ЗАМЕНА ВРЕМЕННОЙ ПЕРЕМЕННОЙ ВЫЗОВОМ МЕТОДА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4" name="TextShape 1"/>
          <p:cNvSpPr/>
          <p:nvPr/>
        </p:nvSpPr>
        <p:spPr>
          <a:xfrm>
            <a:off x="5734080" y="2228400"/>
            <a:ext cx="322812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20 строк, фуу</a:t>
            </a:r>
            <a:endParaRPr b="0" lang="ru-RU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Выделение метода, уррря</a:t>
            </a:r>
            <a:endParaRPr b="0" lang="ru-RU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Много параметров и переменных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5" name="TextShape 1"/>
          <p:cNvSpPr/>
          <p:nvPr/>
        </p:nvSpPr>
        <p:spPr>
          <a:xfrm>
            <a:off x="693000" y="4955040"/>
            <a:ext cx="33217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ВВЕДЕНИЕ ГРАНИЧНОГО ОБЪЕКТА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6" name="Стрелка вправо 12"/>
          <p:cNvSpPr/>
          <p:nvPr/>
        </p:nvSpPr>
        <p:spPr>
          <a:xfrm rot="18394200">
            <a:off x="1765800" y="3097080"/>
            <a:ext cx="449748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" name="TextShape 1"/>
          <p:cNvSpPr/>
          <p:nvPr/>
        </p:nvSpPr>
        <p:spPr>
          <a:xfrm>
            <a:off x="5734080" y="5596560"/>
            <a:ext cx="332172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СОХРАНЕНИЕ ВСЕГО ОБЪЕКТА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8" name="Стрелка вправо 14"/>
          <p:cNvSpPr/>
          <p:nvPr/>
        </p:nvSpPr>
        <p:spPr>
          <a:xfrm rot="14529000">
            <a:off x="3982680" y="3411360"/>
            <a:ext cx="449748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Рисунок 3" descr=""/>
          <p:cNvPicPr/>
          <p:nvPr/>
        </p:nvPicPr>
        <p:blipFill>
          <a:blip r:embed="rId1"/>
          <a:stretch/>
        </p:blipFill>
        <p:spPr>
          <a:xfrm>
            <a:off x="1714680" y="838440"/>
            <a:ext cx="5713920" cy="518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Рисунок 1" descr=""/>
          <p:cNvPicPr/>
          <p:nvPr/>
        </p:nvPicPr>
        <p:blipFill>
          <a:blip r:embed="rId1"/>
          <a:stretch/>
        </p:blipFill>
        <p:spPr>
          <a:xfrm>
            <a:off x="1655280" y="282600"/>
            <a:ext cx="5733000" cy="2485440"/>
          </a:xfrm>
          <a:prstGeom prst="rect">
            <a:avLst/>
          </a:prstGeom>
          <a:ln w="0">
            <a:noFill/>
          </a:ln>
        </p:spPr>
      </p:pic>
      <p:pic>
        <p:nvPicPr>
          <p:cNvPr id="171" name="Рисунок 2" descr=""/>
          <p:cNvPicPr/>
          <p:nvPr/>
        </p:nvPicPr>
        <p:blipFill>
          <a:blip r:embed="rId2"/>
          <a:stretch/>
        </p:blipFill>
        <p:spPr>
          <a:xfrm>
            <a:off x="1655280" y="3267720"/>
            <a:ext cx="5733000" cy="279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/>
          <p:nvPr/>
        </p:nvSpPr>
        <p:spPr>
          <a:xfrm>
            <a:off x="1147320" y="698400"/>
            <a:ext cx="699048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Длинный метод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73" name="Стрелка вправо 5"/>
          <p:cNvSpPr/>
          <p:nvPr/>
        </p:nvSpPr>
        <p:spPr>
          <a:xfrm rot="16200000">
            <a:off x="249480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TextShape 1"/>
          <p:cNvSpPr/>
          <p:nvPr/>
        </p:nvSpPr>
        <p:spPr>
          <a:xfrm>
            <a:off x="711000" y="2514600"/>
            <a:ext cx="192384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80 строк,</a:t>
            </a:r>
            <a:endParaRPr b="0" lang="ru-RU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Ничего не помогает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75" name="TextShape 1"/>
          <p:cNvSpPr/>
          <p:nvPr/>
        </p:nvSpPr>
        <p:spPr>
          <a:xfrm>
            <a:off x="1320840" y="3898080"/>
            <a:ext cx="3321720" cy="7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ЗАМЕНА МЕТОДА ОБЪЕКТОМ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76" name="TextShape 1"/>
          <p:cNvSpPr/>
          <p:nvPr/>
        </p:nvSpPr>
        <p:spPr>
          <a:xfrm>
            <a:off x="4642560" y="3898080"/>
            <a:ext cx="3997440" cy="12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ДЕКОМПОЗИЦИЯ УСЛОВНОГО ОПЕРАТОРА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77" name="Стрелка вправо 17"/>
          <p:cNvSpPr/>
          <p:nvPr/>
        </p:nvSpPr>
        <p:spPr>
          <a:xfrm rot="16200000">
            <a:off x="503028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Рисунок 6" descr=""/>
          <p:cNvPicPr/>
          <p:nvPr/>
        </p:nvPicPr>
        <p:blipFill>
          <a:blip r:embed="rId1"/>
          <a:stretch/>
        </p:blipFill>
        <p:spPr>
          <a:xfrm>
            <a:off x="2217960" y="1030680"/>
            <a:ext cx="4446360" cy="438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Рисунок 1" descr=""/>
          <p:cNvPicPr/>
          <p:nvPr/>
        </p:nvPicPr>
        <p:blipFill>
          <a:blip r:embed="rId1"/>
          <a:stretch/>
        </p:blipFill>
        <p:spPr>
          <a:xfrm>
            <a:off x="1833480" y="1580760"/>
            <a:ext cx="5675760" cy="311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/>
          <p:nvPr/>
        </p:nvSpPr>
        <p:spPr>
          <a:xfrm>
            <a:off x="1147320" y="698400"/>
            <a:ext cx="699048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Большой класс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81" name="Стрелка вправо 5"/>
          <p:cNvSpPr/>
          <p:nvPr/>
        </p:nvSpPr>
        <p:spPr>
          <a:xfrm rot="16200000">
            <a:off x="249480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TextShape 1"/>
          <p:cNvSpPr/>
          <p:nvPr/>
        </p:nvSpPr>
        <p:spPr>
          <a:xfrm>
            <a:off x="711000" y="1845360"/>
            <a:ext cx="1923840" cy="16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Много методов и полей, больше 20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83" name="TextShape 1"/>
          <p:cNvSpPr/>
          <p:nvPr/>
        </p:nvSpPr>
        <p:spPr>
          <a:xfrm>
            <a:off x="1320840" y="3898080"/>
            <a:ext cx="3321720" cy="7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КЛАССА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84" name="Стрелка вправо 17"/>
          <p:cNvSpPr/>
          <p:nvPr/>
        </p:nvSpPr>
        <p:spPr>
          <a:xfrm rot="16200000">
            <a:off x="503028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5" name="TextShape 1"/>
          <p:cNvSpPr/>
          <p:nvPr/>
        </p:nvSpPr>
        <p:spPr>
          <a:xfrm>
            <a:off x="4816080" y="3898080"/>
            <a:ext cx="3321720" cy="7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ПОДКЛАССА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Рисунок 2" descr=""/>
          <p:cNvPicPr/>
          <p:nvPr/>
        </p:nvPicPr>
        <p:blipFill>
          <a:blip r:embed="rId1"/>
          <a:stretch/>
        </p:blipFill>
        <p:spPr>
          <a:xfrm>
            <a:off x="1523520" y="177840"/>
            <a:ext cx="5780520" cy="2628360"/>
          </a:xfrm>
          <a:prstGeom prst="rect">
            <a:avLst/>
          </a:prstGeom>
          <a:ln w="0">
            <a:noFill/>
          </a:ln>
        </p:spPr>
      </p:pic>
      <p:pic>
        <p:nvPicPr>
          <p:cNvPr id="187" name="Рисунок 4" descr=""/>
          <p:cNvPicPr/>
          <p:nvPr/>
        </p:nvPicPr>
        <p:blipFill>
          <a:blip r:embed="rId2"/>
          <a:stretch/>
        </p:blipFill>
        <p:spPr>
          <a:xfrm>
            <a:off x="1885320" y="3096000"/>
            <a:ext cx="5418720" cy="320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/>
          <p:nvPr/>
        </p:nvSpPr>
        <p:spPr>
          <a:xfrm>
            <a:off x="1147320" y="698400"/>
            <a:ext cx="699048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Большой класс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89" name="Стрелка вправо 5"/>
          <p:cNvSpPr/>
          <p:nvPr/>
        </p:nvSpPr>
        <p:spPr>
          <a:xfrm rot="16200000">
            <a:off x="249480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0" name="TextShape 1"/>
          <p:cNvSpPr/>
          <p:nvPr/>
        </p:nvSpPr>
        <p:spPr>
          <a:xfrm>
            <a:off x="711000" y="1845360"/>
            <a:ext cx="1923840" cy="16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Много методов и полей, больше 20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1" name="TextShape 1"/>
          <p:cNvSpPr/>
          <p:nvPr/>
        </p:nvSpPr>
        <p:spPr>
          <a:xfrm>
            <a:off x="1320840" y="3898080"/>
            <a:ext cx="3321720" cy="7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ВЫДЕЛЕНИЕ ИНТЕРФЕЙСА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2" name="Стрелка вправо 17"/>
          <p:cNvSpPr/>
          <p:nvPr/>
        </p:nvSpPr>
        <p:spPr>
          <a:xfrm rot="16200000">
            <a:off x="503028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TextShape 1"/>
          <p:cNvSpPr/>
          <p:nvPr/>
        </p:nvSpPr>
        <p:spPr>
          <a:xfrm>
            <a:off x="4583880" y="3898080"/>
            <a:ext cx="405612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ДУБЛИРОВАНИЕ ВИДИМЫХ ДАННЫХ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Рисунок 1" descr=""/>
          <p:cNvPicPr/>
          <p:nvPr/>
        </p:nvPicPr>
        <p:blipFill>
          <a:blip r:embed="rId1"/>
          <a:stretch/>
        </p:blipFill>
        <p:spPr>
          <a:xfrm>
            <a:off x="1762560" y="1452960"/>
            <a:ext cx="5618520" cy="395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Рисунок 3" descr=""/>
          <p:cNvPicPr/>
          <p:nvPr/>
        </p:nvPicPr>
        <p:blipFill>
          <a:blip r:embed="rId1"/>
          <a:stretch/>
        </p:blipFill>
        <p:spPr>
          <a:xfrm>
            <a:off x="1686240" y="724320"/>
            <a:ext cx="5771160" cy="540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/>
          <p:nvPr/>
        </p:nvSpPr>
        <p:spPr>
          <a:xfrm>
            <a:off x="631800" y="442080"/>
            <a:ext cx="776376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 u="sng">
                <a:solidFill>
                  <a:srgbClr val="ff0000"/>
                </a:solidFill>
                <a:uFillTx/>
                <a:latin typeface="Calibri"/>
                <a:ea typeface="DejaVu Sans"/>
              </a:rPr>
              <a:t>Длинный список параметров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97" name="Стрелка вправо 5"/>
          <p:cNvSpPr/>
          <p:nvPr/>
        </p:nvSpPr>
        <p:spPr>
          <a:xfrm rot="16200000">
            <a:off x="249480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" name="TextShape 1"/>
          <p:cNvSpPr/>
          <p:nvPr/>
        </p:nvSpPr>
        <p:spPr>
          <a:xfrm>
            <a:off x="3750480" y="1845360"/>
            <a:ext cx="1923840" cy="16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Много, 3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9" name="TextShape 1"/>
          <p:cNvSpPr/>
          <p:nvPr/>
        </p:nvSpPr>
        <p:spPr>
          <a:xfrm>
            <a:off x="1320840" y="3898080"/>
            <a:ext cx="3321720" cy="7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ЗАМЕНА ПАРАМЕТРА ВЫЗОВОМ МЕТОДА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00" name="Стрелка вправо 17"/>
          <p:cNvSpPr/>
          <p:nvPr/>
        </p:nvSpPr>
        <p:spPr>
          <a:xfrm rot="16200000">
            <a:off x="5030280" y="2422440"/>
            <a:ext cx="1903320" cy="52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" name="TextShape 1"/>
          <p:cNvSpPr/>
          <p:nvPr/>
        </p:nvSpPr>
        <p:spPr>
          <a:xfrm>
            <a:off x="4891320" y="3565440"/>
            <a:ext cx="332172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СОХРАНЕНИЕ ВСЕГО ОБЪЕКТА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02" name="TextShape 1"/>
          <p:cNvSpPr/>
          <p:nvPr/>
        </p:nvSpPr>
        <p:spPr>
          <a:xfrm>
            <a:off x="3106080" y="4940640"/>
            <a:ext cx="33217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ВВЕДЕНИЕ ГРАНИЧНОГО ОБЪЕКТА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Рисунок 1" descr=""/>
          <p:cNvPicPr/>
          <p:nvPr/>
        </p:nvPicPr>
        <p:blipFill>
          <a:blip r:embed="rId1"/>
          <a:stretch/>
        </p:blipFill>
        <p:spPr>
          <a:xfrm>
            <a:off x="1543680" y="492840"/>
            <a:ext cx="5790240" cy="336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Рисунок 2" descr=""/>
          <p:cNvPicPr/>
          <p:nvPr/>
        </p:nvPicPr>
        <p:blipFill>
          <a:blip r:embed="rId1"/>
          <a:stretch/>
        </p:blipFill>
        <p:spPr>
          <a:xfrm>
            <a:off x="1645920" y="515520"/>
            <a:ext cx="5618520" cy="4114080"/>
          </a:xfrm>
          <a:prstGeom prst="rect">
            <a:avLst/>
          </a:prstGeom>
          <a:ln w="0">
            <a:noFill/>
          </a:ln>
        </p:spPr>
      </p:pic>
      <p:sp>
        <p:nvSpPr>
          <p:cNvPr id="205" name="TextShape 1"/>
          <p:cNvSpPr/>
          <p:nvPr/>
        </p:nvSpPr>
        <p:spPr>
          <a:xfrm>
            <a:off x="2160000" y="4940640"/>
            <a:ext cx="480780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ИНСКАПСУЛИРУЙТЕ ИЗМЕНЕНИЯ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Рисунок 2" descr=""/>
          <p:cNvPicPr/>
          <p:nvPr/>
        </p:nvPicPr>
        <p:blipFill>
          <a:blip r:embed="rId1"/>
          <a:stretch/>
        </p:blipFill>
        <p:spPr>
          <a:xfrm>
            <a:off x="1645920" y="515520"/>
            <a:ext cx="5618520" cy="4114080"/>
          </a:xfrm>
          <a:prstGeom prst="rect">
            <a:avLst/>
          </a:prstGeom>
          <a:ln w="0">
            <a:noFill/>
          </a:ln>
        </p:spPr>
      </p:pic>
      <p:sp>
        <p:nvSpPr>
          <p:cNvPr id="207" name="TextShape 1"/>
          <p:cNvSpPr/>
          <p:nvPr/>
        </p:nvSpPr>
        <p:spPr>
          <a:xfrm>
            <a:off x="2212200" y="4940640"/>
            <a:ext cx="444780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ИНСКАПСУЛИРУЙТЕ ИЗМЕНЕНИЯ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/>
          <p:nvPr/>
        </p:nvSpPr>
        <p:spPr>
          <a:xfrm>
            <a:off x="3106080" y="4940640"/>
            <a:ext cx="3321720" cy="18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 u="sng">
                <a:solidFill>
                  <a:srgbClr val="00b050"/>
                </a:solidFill>
                <a:uFillTx/>
                <a:latin typeface="Calibri"/>
                <a:ea typeface="DejaVu Sans"/>
              </a:rPr>
              <a:t>SOLID SRP ???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209" name="Рисунок 1" descr=""/>
          <p:cNvPicPr/>
          <p:nvPr/>
        </p:nvPicPr>
        <p:blipFill>
          <a:blip r:embed="rId1"/>
          <a:stretch/>
        </p:blipFill>
        <p:spPr>
          <a:xfrm>
            <a:off x="1794240" y="446040"/>
            <a:ext cx="5705280" cy="363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Рисунок 2" descr=""/>
          <p:cNvPicPr/>
          <p:nvPr/>
        </p:nvPicPr>
        <p:blipFill>
          <a:blip r:embed="rId1"/>
          <a:stretch/>
        </p:blipFill>
        <p:spPr>
          <a:xfrm>
            <a:off x="1819440" y="2328840"/>
            <a:ext cx="5504400" cy="219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Рисунок 1" descr=""/>
          <p:cNvPicPr/>
          <p:nvPr/>
        </p:nvPicPr>
        <p:blipFill>
          <a:blip r:embed="rId1"/>
          <a:stretch/>
        </p:blipFill>
        <p:spPr>
          <a:xfrm>
            <a:off x="1819440" y="576720"/>
            <a:ext cx="5504400" cy="570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Рисунок 2" descr=""/>
          <p:cNvPicPr/>
          <p:nvPr/>
        </p:nvPicPr>
        <p:blipFill>
          <a:blip r:embed="rId1"/>
          <a:stretch/>
        </p:blipFill>
        <p:spPr>
          <a:xfrm>
            <a:off x="1786320" y="1105200"/>
            <a:ext cx="5571000" cy="464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Рисунок 1" descr=""/>
          <p:cNvPicPr/>
          <p:nvPr/>
        </p:nvPicPr>
        <p:blipFill>
          <a:blip r:embed="rId1"/>
          <a:stretch/>
        </p:blipFill>
        <p:spPr>
          <a:xfrm>
            <a:off x="1519920" y="470520"/>
            <a:ext cx="5638320" cy="312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Рисунок 2" descr=""/>
          <p:cNvPicPr/>
          <p:nvPr/>
        </p:nvPicPr>
        <p:blipFill>
          <a:blip r:embed="rId1"/>
          <a:stretch/>
        </p:blipFill>
        <p:spPr>
          <a:xfrm>
            <a:off x="1826640" y="442800"/>
            <a:ext cx="5590080" cy="35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Рисунок 2" descr=""/>
          <p:cNvPicPr/>
          <p:nvPr/>
        </p:nvPicPr>
        <p:blipFill>
          <a:blip r:embed="rId1"/>
          <a:stretch/>
        </p:blipFill>
        <p:spPr>
          <a:xfrm>
            <a:off x="1826640" y="442800"/>
            <a:ext cx="5590080" cy="35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Рисунок 1" descr=""/>
          <p:cNvPicPr/>
          <p:nvPr/>
        </p:nvPicPr>
        <p:blipFill>
          <a:blip r:embed="rId1"/>
          <a:stretch/>
        </p:blipFill>
        <p:spPr>
          <a:xfrm>
            <a:off x="1972080" y="841680"/>
            <a:ext cx="5266440" cy="349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Рисунок 2" descr=""/>
          <p:cNvPicPr/>
          <p:nvPr/>
        </p:nvPicPr>
        <p:blipFill>
          <a:blip r:embed="rId1"/>
          <a:stretch/>
        </p:blipFill>
        <p:spPr>
          <a:xfrm>
            <a:off x="1724400" y="1814760"/>
            <a:ext cx="5694840" cy="322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Рисунок 1" descr=""/>
          <p:cNvPicPr/>
          <p:nvPr/>
        </p:nvPicPr>
        <p:blipFill>
          <a:blip r:embed="rId1"/>
          <a:stretch/>
        </p:blipFill>
        <p:spPr>
          <a:xfrm>
            <a:off x="1752840" y="1795680"/>
            <a:ext cx="5637600" cy="326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Рисунок 2" descr=""/>
          <p:cNvPicPr/>
          <p:nvPr/>
        </p:nvPicPr>
        <p:blipFill>
          <a:blip r:embed="rId1"/>
          <a:stretch/>
        </p:blipFill>
        <p:spPr>
          <a:xfrm>
            <a:off x="1795680" y="1705320"/>
            <a:ext cx="5551920" cy="344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Рисунок 1" descr=""/>
          <p:cNvPicPr/>
          <p:nvPr/>
        </p:nvPicPr>
        <p:blipFill>
          <a:blip r:embed="rId1"/>
          <a:stretch/>
        </p:blipFill>
        <p:spPr>
          <a:xfrm>
            <a:off x="1814760" y="876600"/>
            <a:ext cx="5513760" cy="510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Рисунок 2" descr=""/>
          <p:cNvPicPr/>
          <p:nvPr/>
        </p:nvPicPr>
        <p:blipFill>
          <a:blip r:embed="rId1"/>
          <a:stretch/>
        </p:blipFill>
        <p:spPr>
          <a:xfrm>
            <a:off x="1681560" y="452880"/>
            <a:ext cx="5780520" cy="595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Рисунок 1" descr=""/>
          <p:cNvPicPr/>
          <p:nvPr/>
        </p:nvPicPr>
        <p:blipFill>
          <a:blip r:embed="rId1"/>
          <a:stretch/>
        </p:blipFill>
        <p:spPr>
          <a:xfrm>
            <a:off x="1752840" y="914760"/>
            <a:ext cx="5637600" cy="502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Рисунок 2" descr=""/>
          <p:cNvPicPr/>
          <p:nvPr/>
        </p:nvPicPr>
        <p:blipFill>
          <a:blip r:embed="rId1"/>
          <a:stretch/>
        </p:blipFill>
        <p:spPr>
          <a:xfrm>
            <a:off x="1795680" y="1410120"/>
            <a:ext cx="5551920" cy="403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Рисунок 1" descr=""/>
          <p:cNvPicPr/>
          <p:nvPr/>
        </p:nvPicPr>
        <p:blipFill>
          <a:blip r:embed="rId1"/>
          <a:stretch/>
        </p:blipFill>
        <p:spPr>
          <a:xfrm>
            <a:off x="1905480" y="776520"/>
            <a:ext cx="5333040" cy="530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Рисунок 2" descr=""/>
          <p:cNvPicPr/>
          <p:nvPr/>
        </p:nvPicPr>
        <p:blipFill>
          <a:blip r:embed="rId1"/>
          <a:stretch/>
        </p:blipFill>
        <p:spPr>
          <a:xfrm>
            <a:off x="1833840" y="2367000"/>
            <a:ext cx="5475960" cy="21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Рисунок 1" descr=""/>
          <p:cNvPicPr/>
          <p:nvPr/>
        </p:nvPicPr>
        <p:blipFill>
          <a:blip r:embed="rId1"/>
          <a:stretch/>
        </p:blipFill>
        <p:spPr>
          <a:xfrm>
            <a:off x="1771920" y="2162160"/>
            <a:ext cx="5599800" cy="253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Рисунок 2" descr=""/>
          <p:cNvPicPr/>
          <p:nvPr/>
        </p:nvPicPr>
        <p:blipFill>
          <a:blip r:embed="rId1"/>
          <a:stretch/>
        </p:blipFill>
        <p:spPr>
          <a:xfrm>
            <a:off x="1819440" y="1971720"/>
            <a:ext cx="5504400" cy="291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Рисунок 3" descr=""/>
          <p:cNvPicPr/>
          <p:nvPr/>
        </p:nvPicPr>
        <p:blipFill>
          <a:blip r:embed="rId1"/>
          <a:stretch/>
        </p:blipFill>
        <p:spPr>
          <a:xfrm>
            <a:off x="1719360" y="1228680"/>
            <a:ext cx="5705280" cy="440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Рисунок 1" descr=""/>
          <p:cNvPicPr/>
          <p:nvPr/>
        </p:nvPicPr>
        <p:blipFill>
          <a:blip r:embed="rId1"/>
          <a:stretch/>
        </p:blipFill>
        <p:spPr>
          <a:xfrm>
            <a:off x="1750680" y="577800"/>
            <a:ext cx="5542560" cy="1895040"/>
          </a:xfrm>
          <a:prstGeom prst="rect">
            <a:avLst/>
          </a:prstGeom>
          <a:ln w="0">
            <a:noFill/>
          </a:ln>
        </p:spPr>
      </p:pic>
      <p:pic>
        <p:nvPicPr>
          <p:cNvPr id="230" name="Рисунок 2" descr=""/>
          <p:cNvPicPr/>
          <p:nvPr/>
        </p:nvPicPr>
        <p:blipFill>
          <a:blip r:embed="rId2"/>
          <a:stretch/>
        </p:blipFill>
        <p:spPr>
          <a:xfrm>
            <a:off x="1653120" y="3380400"/>
            <a:ext cx="5571000" cy="187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Рисунок 3" descr=""/>
          <p:cNvPicPr/>
          <p:nvPr/>
        </p:nvPicPr>
        <p:blipFill>
          <a:blip r:embed="rId1"/>
          <a:stretch/>
        </p:blipFill>
        <p:spPr>
          <a:xfrm>
            <a:off x="1767240" y="1467000"/>
            <a:ext cx="5609160" cy="39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Рисунок 2" descr=""/>
          <p:cNvPicPr/>
          <p:nvPr/>
        </p:nvPicPr>
        <p:blipFill>
          <a:blip r:embed="rId1"/>
          <a:stretch/>
        </p:blipFill>
        <p:spPr>
          <a:xfrm>
            <a:off x="1743120" y="1343160"/>
            <a:ext cx="5657400" cy="41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Рисунок 1" descr=""/>
          <p:cNvPicPr/>
          <p:nvPr/>
        </p:nvPicPr>
        <p:blipFill>
          <a:blip r:embed="rId1"/>
          <a:stretch/>
        </p:blipFill>
        <p:spPr>
          <a:xfrm>
            <a:off x="2010240" y="1986120"/>
            <a:ext cx="5123520" cy="288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Рисунок 2" descr=""/>
          <p:cNvPicPr/>
          <p:nvPr/>
        </p:nvPicPr>
        <p:blipFill>
          <a:blip r:embed="rId1"/>
          <a:stretch/>
        </p:blipFill>
        <p:spPr>
          <a:xfrm>
            <a:off x="1814760" y="1671840"/>
            <a:ext cx="5513760" cy="351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Рисунок 1" descr=""/>
          <p:cNvPicPr/>
          <p:nvPr/>
        </p:nvPicPr>
        <p:blipFill>
          <a:blip r:embed="rId1"/>
          <a:stretch/>
        </p:blipFill>
        <p:spPr>
          <a:xfrm>
            <a:off x="1829160" y="1524240"/>
            <a:ext cx="5485320" cy="38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Рисунок 2" descr=""/>
          <p:cNvPicPr/>
          <p:nvPr/>
        </p:nvPicPr>
        <p:blipFill>
          <a:blip r:embed="rId1"/>
          <a:stretch/>
        </p:blipFill>
        <p:spPr>
          <a:xfrm>
            <a:off x="1791000" y="1928880"/>
            <a:ext cx="5561640" cy="299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Рисунок 1" descr=""/>
          <p:cNvPicPr/>
          <p:nvPr/>
        </p:nvPicPr>
        <p:blipFill>
          <a:blip r:embed="rId1"/>
          <a:stretch/>
        </p:blipFill>
        <p:spPr>
          <a:xfrm>
            <a:off x="1714680" y="1338120"/>
            <a:ext cx="5714640" cy="418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Рисунок 2" descr=""/>
          <p:cNvPicPr/>
          <p:nvPr/>
        </p:nvPicPr>
        <p:blipFill>
          <a:blip r:embed="rId1"/>
          <a:stretch/>
        </p:blipFill>
        <p:spPr>
          <a:xfrm>
            <a:off x="1719720" y="1724400"/>
            <a:ext cx="5704560" cy="340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Рисунок 1" descr=""/>
          <p:cNvPicPr/>
          <p:nvPr/>
        </p:nvPicPr>
        <p:blipFill>
          <a:blip r:embed="rId1"/>
          <a:stretch/>
        </p:blipFill>
        <p:spPr>
          <a:xfrm>
            <a:off x="1717200" y="281520"/>
            <a:ext cx="5675760" cy="2370960"/>
          </a:xfrm>
          <a:prstGeom prst="rect">
            <a:avLst/>
          </a:prstGeom>
          <a:ln w="0">
            <a:noFill/>
          </a:ln>
        </p:spPr>
      </p:pic>
      <p:pic>
        <p:nvPicPr>
          <p:cNvPr id="240" name="Рисунок 3" descr=""/>
          <p:cNvPicPr/>
          <p:nvPr/>
        </p:nvPicPr>
        <p:blipFill>
          <a:blip r:embed="rId2"/>
          <a:stretch/>
        </p:blipFill>
        <p:spPr>
          <a:xfrm>
            <a:off x="1717200" y="2759400"/>
            <a:ext cx="5656680" cy="37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Рисунок 2" descr=""/>
          <p:cNvPicPr/>
          <p:nvPr/>
        </p:nvPicPr>
        <p:blipFill>
          <a:blip r:embed="rId1"/>
          <a:stretch/>
        </p:blipFill>
        <p:spPr>
          <a:xfrm>
            <a:off x="1767240" y="1171800"/>
            <a:ext cx="5609160" cy="451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Рисунок 1" descr=""/>
          <p:cNvPicPr/>
          <p:nvPr/>
        </p:nvPicPr>
        <p:blipFill>
          <a:blip r:embed="rId1"/>
          <a:stretch/>
        </p:blipFill>
        <p:spPr>
          <a:xfrm>
            <a:off x="1583640" y="587520"/>
            <a:ext cx="5876640" cy="513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Рисунок 2" descr=""/>
          <p:cNvPicPr/>
          <p:nvPr/>
        </p:nvPicPr>
        <p:blipFill>
          <a:blip r:embed="rId1"/>
          <a:stretch/>
        </p:blipFill>
        <p:spPr>
          <a:xfrm>
            <a:off x="1634400" y="97560"/>
            <a:ext cx="5609160" cy="3104280"/>
          </a:xfrm>
          <a:prstGeom prst="rect">
            <a:avLst/>
          </a:prstGeom>
          <a:ln w="0">
            <a:noFill/>
          </a:ln>
        </p:spPr>
      </p:pic>
      <p:pic>
        <p:nvPicPr>
          <p:cNvPr id="244" name="Рисунок 3" descr=""/>
          <p:cNvPicPr/>
          <p:nvPr/>
        </p:nvPicPr>
        <p:blipFill>
          <a:blip r:embed="rId2"/>
          <a:stretch/>
        </p:blipFill>
        <p:spPr>
          <a:xfrm>
            <a:off x="1766160" y="3501360"/>
            <a:ext cx="5561640" cy="304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Рисунок 1" descr=""/>
          <p:cNvPicPr/>
          <p:nvPr/>
        </p:nvPicPr>
        <p:blipFill>
          <a:blip r:embed="rId1"/>
          <a:stretch/>
        </p:blipFill>
        <p:spPr>
          <a:xfrm>
            <a:off x="1791000" y="705240"/>
            <a:ext cx="5561640" cy="544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Рисунок 2" descr=""/>
          <p:cNvPicPr/>
          <p:nvPr/>
        </p:nvPicPr>
        <p:blipFill>
          <a:blip r:embed="rId1"/>
          <a:stretch/>
        </p:blipFill>
        <p:spPr>
          <a:xfrm>
            <a:off x="1757880" y="1352880"/>
            <a:ext cx="5628240" cy="415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Прямоугольник 1"/>
          <p:cNvSpPr/>
          <p:nvPr/>
        </p:nvSpPr>
        <p:spPr>
          <a:xfrm>
            <a:off x="429480" y="2967480"/>
            <a:ext cx="8284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ТЕСТЫ</a:t>
            </a:r>
            <a:r>
              <a:rPr b="1" lang="en-US" sz="5400" spc="-1" strike="noStrike">
                <a:solidFill>
                  <a:srgbClr val="e6b9b8"/>
                </a:solidFill>
                <a:latin typeface="Arial"/>
                <a:ea typeface="DejaVu Sans"/>
              </a:rPr>
              <a:t>, </a:t>
            </a: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ТЕСТЫ</a:t>
            </a:r>
            <a:r>
              <a:rPr b="1" lang="en-US" sz="5400" spc="-1" strike="noStrike">
                <a:solidFill>
                  <a:srgbClr val="e6b9b8"/>
                </a:solidFill>
                <a:latin typeface="Arial"/>
                <a:ea typeface="DejaVu Sans"/>
              </a:rPr>
              <a:t>, </a:t>
            </a: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ТЕСТЫ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Прямоугольник 1"/>
          <p:cNvSpPr/>
          <p:nvPr/>
        </p:nvSpPr>
        <p:spPr>
          <a:xfrm>
            <a:off x="2117880" y="265680"/>
            <a:ext cx="4458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ОБОБЩАЕМ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249" name="Прямоугольник 2"/>
          <p:cNvSpPr/>
          <p:nvPr/>
        </p:nvSpPr>
        <p:spPr>
          <a:xfrm>
            <a:off x="2320560" y="1537560"/>
            <a:ext cx="405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ГОВНОКОД</a:t>
            </a:r>
            <a:endParaRPr b="0" lang="ru-RU" sz="5400" spc="-1" strike="noStrike">
              <a:latin typeface="Arial"/>
            </a:endParaRPr>
          </a:p>
        </p:txBody>
      </p:sp>
      <p:pic>
        <p:nvPicPr>
          <p:cNvPr id="250" name="Рисунок 3" descr=""/>
          <p:cNvPicPr/>
          <p:nvPr/>
        </p:nvPicPr>
        <p:blipFill>
          <a:blip r:embed="rId1"/>
          <a:stretch/>
        </p:blipFill>
        <p:spPr>
          <a:xfrm>
            <a:off x="766080" y="2606400"/>
            <a:ext cx="1742760" cy="256680"/>
          </a:xfrm>
          <a:prstGeom prst="rect">
            <a:avLst/>
          </a:prstGeom>
          <a:ln w="0">
            <a:noFill/>
          </a:ln>
        </p:spPr>
      </p:pic>
      <p:pic>
        <p:nvPicPr>
          <p:cNvPr id="251" name="Рисунок 4" descr=""/>
          <p:cNvPicPr/>
          <p:nvPr/>
        </p:nvPicPr>
        <p:blipFill>
          <a:blip r:embed="rId2"/>
          <a:stretch/>
        </p:blipFill>
        <p:spPr>
          <a:xfrm>
            <a:off x="3772080" y="3305160"/>
            <a:ext cx="1599840" cy="247320"/>
          </a:xfrm>
          <a:prstGeom prst="rect">
            <a:avLst/>
          </a:prstGeom>
          <a:ln w="0">
            <a:noFill/>
          </a:ln>
        </p:spPr>
      </p:pic>
      <p:pic>
        <p:nvPicPr>
          <p:cNvPr id="252" name="Рисунок 5" descr=""/>
          <p:cNvPicPr/>
          <p:nvPr/>
        </p:nvPicPr>
        <p:blipFill>
          <a:blip r:embed="rId3"/>
          <a:stretch/>
        </p:blipFill>
        <p:spPr>
          <a:xfrm>
            <a:off x="6599160" y="2577600"/>
            <a:ext cx="1495080" cy="285480"/>
          </a:xfrm>
          <a:prstGeom prst="rect">
            <a:avLst/>
          </a:prstGeom>
          <a:ln w="0">
            <a:noFill/>
          </a:ln>
        </p:spPr>
      </p:pic>
      <p:pic>
        <p:nvPicPr>
          <p:cNvPr id="253" name="Рисунок 6" descr=""/>
          <p:cNvPicPr/>
          <p:nvPr/>
        </p:nvPicPr>
        <p:blipFill>
          <a:blip r:embed="rId4"/>
          <a:stretch/>
        </p:blipFill>
        <p:spPr>
          <a:xfrm>
            <a:off x="699840" y="3692520"/>
            <a:ext cx="2523600" cy="371160"/>
          </a:xfrm>
          <a:prstGeom prst="rect">
            <a:avLst/>
          </a:prstGeom>
          <a:ln w="0">
            <a:noFill/>
          </a:ln>
        </p:spPr>
      </p:pic>
      <p:pic>
        <p:nvPicPr>
          <p:cNvPr id="254" name="Рисунок 7" descr=""/>
          <p:cNvPicPr/>
          <p:nvPr/>
        </p:nvPicPr>
        <p:blipFill>
          <a:blip r:embed="rId5"/>
          <a:stretch/>
        </p:blipFill>
        <p:spPr>
          <a:xfrm>
            <a:off x="6263280" y="3539880"/>
            <a:ext cx="2619000" cy="304560"/>
          </a:xfrm>
          <a:prstGeom prst="rect">
            <a:avLst/>
          </a:prstGeom>
          <a:ln w="0">
            <a:noFill/>
          </a:ln>
        </p:spPr>
      </p:pic>
      <p:pic>
        <p:nvPicPr>
          <p:cNvPr id="255" name="Рисунок 8" descr=""/>
          <p:cNvPicPr/>
          <p:nvPr/>
        </p:nvPicPr>
        <p:blipFill>
          <a:blip r:embed="rId6"/>
          <a:stretch/>
        </p:blipFill>
        <p:spPr>
          <a:xfrm>
            <a:off x="3772080" y="4230360"/>
            <a:ext cx="2161800" cy="333000"/>
          </a:xfrm>
          <a:prstGeom prst="rect">
            <a:avLst/>
          </a:prstGeom>
          <a:ln w="0">
            <a:noFill/>
          </a:ln>
        </p:spPr>
      </p:pic>
      <p:pic>
        <p:nvPicPr>
          <p:cNvPr id="256" name="Рисунок 9" descr=""/>
          <p:cNvPicPr/>
          <p:nvPr/>
        </p:nvPicPr>
        <p:blipFill>
          <a:blip r:embed="rId7"/>
          <a:stretch/>
        </p:blipFill>
        <p:spPr>
          <a:xfrm>
            <a:off x="264240" y="1189080"/>
            <a:ext cx="2180880" cy="313920"/>
          </a:xfrm>
          <a:prstGeom prst="rect">
            <a:avLst/>
          </a:prstGeom>
          <a:ln w="0">
            <a:noFill/>
          </a:ln>
        </p:spPr>
      </p:pic>
      <p:pic>
        <p:nvPicPr>
          <p:cNvPr id="257" name="Рисунок 10" descr=""/>
          <p:cNvPicPr/>
          <p:nvPr/>
        </p:nvPicPr>
        <p:blipFill>
          <a:blip r:embed="rId8"/>
          <a:stretch/>
        </p:blipFill>
        <p:spPr>
          <a:xfrm>
            <a:off x="6599160" y="4563720"/>
            <a:ext cx="1790280" cy="313920"/>
          </a:xfrm>
          <a:prstGeom prst="rect">
            <a:avLst/>
          </a:prstGeom>
          <a:ln w="0">
            <a:noFill/>
          </a:ln>
        </p:spPr>
      </p:pic>
      <p:pic>
        <p:nvPicPr>
          <p:cNvPr id="258" name="Рисунок 11" descr=""/>
          <p:cNvPicPr/>
          <p:nvPr/>
        </p:nvPicPr>
        <p:blipFill>
          <a:blip r:embed="rId9"/>
          <a:stretch/>
        </p:blipFill>
        <p:spPr>
          <a:xfrm>
            <a:off x="5685480" y="1211040"/>
            <a:ext cx="3076200" cy="266400"/>
          </a:xfrm>
          <a:prstGeom prst="rect">
            <a:avLst/>
          </a:prstGeom>
          <a:ln w="0">
            <a:noFill/>
          </a:ln>
        </p:spPr>
      </p:pic>
      <p:pic>
        <p:nvPicPr>
          <p:cNvPr id="259" name="Рисунок 12" descr=""/>
          <p:cNvPicPr/>
          <p:nvPr/>
        </p:nvPicPr>
        <p:blipFill>
          <a:blip r:embed="rId10"/>
          <a:stretch/>
        </p:blipFill>
        <p:spPr>
          <a:xfrm>
            <a:off x="321480" y="4397040"/>
            <a:ext cx="2123640" cy="323640"/>
          </a:xfrm>
          <a:prstGeom prst="rect">
            <a:avLst/>
          </a:prstGeom>
          <a:ln w="0">
            <a:noFill/>
          </a:ln>
        </p:spPr>
      </p:pic>
      <p:pic>
        <p:nvPicPr>
          <p:cNvPr id="260" name="Рисунок 13" descr=""/>
          <p:cNvPicPr/>
          <p:nvPr/>
        </p:nvPicPr>
        <p:blipFill>
          <a:blip r:embed="rId11"/>
          <a:stretch/>
        </p:blipFill>
        <p:spPr>
          <a:xfrm>
            <a:off x="538560" y="5595120"/>
            <a:ext cx="3114360" cy="323640"/>
          </a:xfrm>
          <a:prstGeom prst="rect">
            <a:avLst/>
          </a:prstGeom>
          <a:ln w="0">
            <a:noFill/>
          </a:ln>
        </p:spPr>
      </p:pic>
      <p:pic>
        <p:nvPicPr>
          <p:cNvPr id="261" name="Рисунок 14" descr=""/>
          <p:cNvPicPr/>
          <p:nvPr/>
        </p:nvPicPr>
        <p:blipFill>
          <a:blip r:embed="rId12"/>
          <a:stretch/>
        </p:blipFill>
        <p:spPr>
          <a:xfrm>
            <a:off x="7139520" y="5163480"/>
            <a:ext cx="1742760" cy="371160"/>
          </a:xfrm>
          <a:prstGeom prst="rect">
            <a:avLst/>
          </a:prstGeom>
          <a:ln w="0">
            <a:noFill/>
          </a:ln>
        </p:spPr>
      </p:pic>
      <p:pic>
        <p:nvPicPr>
          <p:cNvPr id="262" name="Рисунок 15" descr=""/>
          <p:cNvPicPr/>
          <p:nvPr/>
        </p:nvPicPr>
        <p:blipFill>
          <a:blip r:embed="rId13"/>
          <a:stretch/>
        </p:blipFill>
        <p:spPr>
          <a:xfrm>
            <a:off x="6392160" y="6069600"/>
            <a:ext cx="2342880" cy="371160"/>
          </a:xfrm>
          <a:prstGeom prst="rect">
            <a:avLst/>
          </a:prstGeom>
          <a:ln w="0">
            <a:noFill/>
          </a:ln>
        </p:spPr>
      </p:pic>
      <p:pic>
        <p:nvPicPr>
          <p:cNvPr id="263" name="Рисунок 16" descr=""/>
          <p:cNvPicPr/>
          <p:nvPr/>
        </p:nvPicPr>
        <p:blipFill>
          <a:blip r:embed="rId14"/>
          <a:stretch/>
        </p:blipFill>
        <p:spPr>
          <a:xfrm>
            <a:off x="290520" y="3074400"/>
            <a:ext cx="2018880" cy="361440"/>
          </a:xfrm>
          <a:prstGeom prst="rect">
            <a:avLst/>
          </a:prstGeom>
          <a:ln w="0">
            <a:noFill/>
          </a:ln>
        </p:spPr>
      </p:pic>
      <p:pic>
        <p:nvPicPr>
          <p:cNvPr id="264" name="Рисунок 17" descr=""/>
          <p:cNvPicPr/>
          <p:nvPr/>
        </p:nvPicPr>
        <p:blipFill>
          <a:blip r:embed="rId15"/>
          <a:stretch/>
        </p:blipFill>
        <p:spPr>
          <a:xfrm>
            <a:off x="95760" y="1836720"/>
            <a:ext cx="1999800" cy="266400"/>
          </a:xfrm>
          <a:prstGeom prst="rect">
            <a:avLst/>
          </a:prstGeom>
          <a:ln w="0">
            <a:noFill/>
          </a:ln>
        </p:spPr>
      </p:pic>
      <p:pic>
        <p:nvPicPr>
          <p:cNvPr id="265" name="Рисунок 18" descr=""/>
          <p:cNvPicPr/>
          <p:nvPr/>
        </p:nvPicPr>
        <p:blipFill>
          <a:blip r:embed="rId16"/>
          <a:stretch/>
        </p:blipFill>
        <p:spPr>
          <a:xfrm>
            <a:off x="6900840" y="325440"/>
            <a:ext cx="1504440" cy="333000"/>
          </a:xfrm>
          <a:prstGeom prst="rect">
            <a:avLst/>
          </a:prstGeom>
          <a:ln w="0">
            <a:noFill/>
          </a:ln>
        </p:spPr>
      </p:pic>
      <p:pic>
        <p:nvPicPr>
          <p:cNvPr id="266" name="Рисунок 19" descr=""/>
          <p:cNvPicPr/>
          <p:nvPr/>
        </p:nvPicPr>
        <p:blipFill>
          <a:blip r:embed="rId17"/>
          <a:stretch/>
        </p:blipFill>
        <p:spPr>
          <a:xfrm>
            <a:off x="264240" y="80280"/>
            <a:ext cx="2190240" cy="342720"/>
          </a:xfrm>
          <a:prstGeom prst="rect">
            <a:avLst/>
          </a:prstGeom>
          <a:ln w="0">
            <a:noFill/>
          </a:ln>
        </p:spPr>
      </p:pic>
      <p:pic>
        <p:nvPicPr>
          <p:cNvPr id="267" name="Рисунок 20" descr=""/>
          <p:cNvPicPr/>
          <p:nvPr/>
        </p:nvPicPr>
        <p:blipFill>
          <a:blip r:embed="rId18"/>
          <a:stretch/>
        </p:blipFill>
        <p:spPr>
          <a:xfrm>
            <a:off x="2588760" y="4741200"/>
            <a:ext cx="3866760" cy="342720"/>
          </a:xfrm>
          <a:prstGeom prst="rect">
            <a:avLst/>
          </a:prstGeom>
          <a:ln w="0">
            <a:noFill/>
          </a:ln>
        </p:spPr>
      </p:pic>
      <p:sp>
        <p:nvSpPr>
          <p:cNvPr id="268" name="Скругленный прямоугольник 21"/>
          <p:cNvSpPr/>
          <p:nvPr/>
        </p:nvSpPr>
        <p:spPr>
          <a:xfrm>
            <a:off x="2434320" y="4666680"/>
            <a:ext cx="4289040" cy="580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69" name="Рисунок 22" descr=""/>
          <p:cNvPicPr/>
          <p:nvPr/>
        </p:nvPicPr>
        <p:blipFill>
          <a:blip r:embed="rId19"/>
          <a:stretch/>
        </p:blipFill>
        <p:spPr>
          <a:xfrm>
            <a:off x="3499920" y="2516760"/>
            <a:ext cx="1495080" cy="266400"/>
          </a:xfrm>
          <a:prstGeom prst="rect">
            <a:avLst/>
          </a:prstGeom>
          <a:ln w="0">
            <a:noFill/>
          </a:ln>
        </p:spPr>
      </p:pic>
      <p:pic>
        <p:nvPicPr>
          <p:cNvPr id="270" name="Рисунок 23" descr=""/>
          <p:cNvPicPr/>
          <p:nvPr/>
        </p:nvPicPr>
        <p:blipFill>
          <a:blip r:embed="rId20"/>
          <a:stretch/>
        </p:blipFill>
        <p:spPr>
          <a:xfrm>
            <a:off x="6551640" y="1865880"/>
            <a:ext cx="1837800" cy="266400"/>
          </a:xfrm>
          <a:prstGeom prst="rect">
            <a:avLst/>
          </a:prstGeom>
          <a:ln w="0">
            <a:noFill/>
          </a:ln>
        </p:spPr>
      </p:pic>
      <p:pic>
        <p:nvPicPr>
          <p:cNvPr id="271" name="Рисунок 24" descr=""/>
          <p:cNvPicPr/>
          <p:nvPr/>
        </p:nvPicPr>
        <p:blipFill>
          <a:blip r:embed="rId21"/>
          <a:stretch/>
        </p:blipFill>
        <p:spPr>
          <a:xfrm>
            <a:off x="4247640" y="6161760"/>
            <a:ext cx="1514160" cy="34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Прямоугольник 1"/>
          <p:cNvSpPr/>
          <p:nvPr/>
        </p:nvSpPr>
        <p:spPr>
          <a:xfrm>
            <a:off x="2209320" y="115560"/>
            <a:ext cx="4458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ОБОБЩАЕМ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273" name="Прямоугольник 25"/>
          <p:cNvSpPr/>
          <p:nvPr/>
        </p:nvSpPr>
        <p:spPr>
          <a:xfrm>
            <a:off x="152640" y="654480"/>
            <a:ext cx="2736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e6b9b8"/>
                </a:solidFill>
                <a:latin typeface="Arial"/>
                <a:ea typeface="DejaVu Sans"/>
              </a:rPr>
              <a:t>refactor</a:t>
            </a:r>
            <a:endParaRPr b="0" lang="ru-RU" sz="5400" spc="-1" strike="noStrike">
              <a:latin typeface="Arial"/>
            </a:endParaRPr>
          </a:p>
        </p:txBody>
      </p:sp>
      <p:pic>
        <p:nvPicPr>
          <p:cNvPr id="274" name="Рисунок 26" descr=""/>
          <p:cNvPicPr/>
          <p:nvPr/>
        </p:nvPicPr>
        <p:blipFill>
          <a:blip r:embed="rId1"/>
          <a:stretch/>
        </p:blipFill>
        <p:spPr>
          <a:xfrm>
            <a:off x="0" y="2042640"/>
            <a:ext cx="3485520" cy="1476000"/>
          </a:xfrm>
          <a:prstGeom prst="rect">
            <a:avLst/>
          </a:prstGeom>
          <a:ln w="0">
            <a:noFill/>
          </a:ln>
        </p:spPr>
      </p:pic>
      <p:pic>
        <p:nvPicPr>
          <p:cNvPr id="275" name="Рисунок 27" descr=""/>
          <p:cNvPicPr/>
          <p:nvPr/>
        </p:nvPicPr>
        <p:blipFill>
          <a:blip r:embed="rId2"/>
          <a:stretch/>
        </p:blipFill>
        <p:spPr>
          <a:xfrm>
            <a:off x="5812920" y="1027440"/>
            <a:ext cx="3171240" cy="952200"/>
          </a:xfrm>
          <a:prstGeom prst="rect">
            <a:avLst/>
          </a:prstGeom>
          <a:ln w="0">
            <a:noFill/>
          </a:ln>
        </p:spPr>
      </p:pic>
      <p:pic>
        <p:nvPicPr>
          <p:cNvPr id="276" name="Рисунок 28" descr=""/>
          <p:cNvPicPr/>
          <p:nvPr/>
        </p:nvPicPr>
        <p:blipFill>
          <a:blip r:embed="rId3"/>
          <a:stretch/>
        </p:blipFill>
        <p:spPr>
          <a:xfrm>
            <a:off x="2860560" y="1168560"/>
            <a:ext cx="2952000" cy="818640"/>
          </a:xfrm>
          <a:prstGeom prst="rect">
            <a:avLst/>
          </a:prstGeom>
          <a:ln w="0">
            <a:noFill/>
          </a:ln>
        </p:spPr>
      </p:pic>
      <p:pic>
        <p:nvPicPr>
          <p:cNvPr id="277" name="Рисунок 29" descr=""/>
          <p:cNvPicPr/>
          <p:nvPr/>
        </p:nvPicPr>
        <p:blipFill>
          <a:blip r:embed="rId4"/>
          <a:stretch/>
        </p:blipFill>
        <p:spPr>
          <a:xfrm>
            <a:off x="13320" y="3524760"/>
            <a:ext cx="3237840" cy="1694880"/>
          </a:xfrm>
          <a:prstGeom prst="rect">
            <a:avLst/>
          </a:prstGeom>
          <a:ln w="0">
            <a:noFill/>
          </a:ln>
        </p:spPr>
      </p:pic>
      <p:pic>
        <p:nvPicPr>
          <p:cNvPr id="278" name="Рисунок 30" descr=""/>
          <p:cNvPicPr/>
          <p:nvPr/>
        </p:nvPicPr>
        <p:blipFill>
          <a:blip r:embed="rId5"/>
          <a:stretch/>
        </p:blipFill>
        <p:spPr>
          <a:xfrm>
            <a:off x="5803560" y="2191680"/>
            <a:ext cx="3189960" cy="1399680"/>
          </a:xfrm>
          <a:prstGeom prst="rect">
            <a:avLst/>
          </a:prstGeom>
          <a:ln w="0">
            <a:noFill/>
          </a:ln>
        </p:spPr>
      </p:pic>
      <p:pic>
        <p:nvPicPr>
          <p:cNvPr id="279" name="Рисунок 31" descr=""/>
          <p:cNvPicPr/>
          <p:nvPr/>
        </p:nvPicPr>
        <p:blipFill>
          <a:blip r:embed="rId6"/>
          <a:stretch/>
        </p:blipFill>
        <p:spPr>
          <a:xfrm>
            <a:off x="5443560" y="3803760"/>
            <a:ext cx="3304440" cy="2323440"/>
          </a:xfrm>
          <a:prstGeom prst="rect">
            <a:avLst/>
          </a:prstGeom>
          <a:ln w="0">
            <a:noFill/>
          </a:ln>
        </p:spPr>
      </p:pic>
      <p:pic>
        <p:nvPicPr>
          <p:cNvPr id="280" name="Рисунок 32" descr=""/>
          <p:cNvPicPr/>
          <p:nvPr/>
        </p:nvPicPr>
        <p:blipFill>
          <a:blip r:embed="rId7"/>
          <a:stretch/>
        </p:blipFill>
        <p:spPr>
          <a:xfrm>
            <a:off x="2588760" y="5210280"/>
            <a:ext cx="2837880" cy="164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Прямоугольник 1"/>
          <p:cNvSpPr/>
          <p:nvPr/>
        </p:nvSpPr>
        <p:spPr>
          <a:xfrm>
            <a:off x="2791800" y="115560"/>
            <a:ext cx="329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e6b9b8"/>
                </a:solidFill>
                <a:latin typeface="Arial"/>
                <a:ea typeface="DejaVu Sans"/>
              </a:rPr>
              <a:t>почитать</a:t>
            </a:r>
            <a:endParaRPr b="0" lang="ru-RU" sz="5400" spc="-1" strike="noStrike">
              <a:latin typeface="Arial"/>
            </a:endParaRPr>
          </a:p>
        </p:txBody>
      </p:sp>
      <p:pic>
        <p:nvPicPr>
          <p:cNvPr id="282" name="Рисунок 2" descr=""/>
          <p:cNvPicPr/>
          <p:nvPr/>
        </p:nvPicPr>
        <p:blipFill>
          <a:blip r:embed="rId1"/>
          <a:stretch/>
        </p:blipFill>
        <p:spPr>
          <a:xfrm>
            <a:off x="273960" y="933120"/>
            <a:ext cx="3209040" cy="3561480"/>
          </a:xfrm>
          <a:prstGeom prst="rect">
            <a:avLst/>
          </a:prstGeom>
          <a:ln w="0">
            <a:noFill/>
          </a:ln>
        </p:spPr>
      </p:pic>
      <p:sp>
        <p:nvSpPr>
          <p:cNvPr id="283" name="Прямоугольник 3"/>
          <p:cNvSpPr/>
          <p:nvPr/>
        </p:nvSpPr>
        <p:spPr>
          <a:xfrm>
            <a:off x="5117400" y="1440360"/>
            <a:ext cx="2732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/>
              </a:rPr>
              <a:t>https://refactoring.guru/ru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284" name="Рисунок 4" descr=""/>
          <p:cNvPicPr/>
          <p:nvPr/>
        </p:nvPicPr>
        <p:blipFill>
          <a:blip r:embed="rId3"/>
          <a:stretch/>
        </p:blipFill>
        <p:spPr>
          <a:xfrm>
            <a:off x="5586480" y="2211480"/>
            <a:ext cx="2609280" cy="2523600"/>
          </a:xfrm>
          <a:prstGeom prst="rect">
            <a:avLst/>
          </a:prstGeom>
          <a:ln w="0">
            <a:noFill/>
          </a:ln>
          <a:effectLst>
            <a:glow rad="228600">
              <a:srgbClr val="eb2722">
                <a:alpha val="40000"/>
              </a:srgbClr>
            </a:glow>
          </a:effectLst>
        </p:spPr>
      </p:pic>
      <p:pic>
        <p:nvPicPr>
          <p:cNvPr id="285" name="Рисунок 5" descr=""/>
          <p:cNvPicPr/>
          <p:nvPr/>
        </p:nvPicPr>
        <p:blipFill>
          <a:blip r:embed="rId4"/>
          <a:stretch/>
        </p:blipFill>
        <p:spPr>
          <a:xfrm>
            <a:off x="3092040" y="3386160"/>
            <a:ext cx="2094840" cy="2618640"/>
          </a:xfrm>
          <a:prstGeom prst="rect">
            <a:avLst/>
          </a:prstGeom>
          <a:ln w="0">
            <a:noFill/>
          </a:ln>
          <a:effectLst>
            <a:glow rad="228600">
              <a:srgbClr val="a8e034">
                <a:alpha val="40000"/>
              </a:srgbClr>
            </a:glow>
          </a:effectLst>
        </p:spPr>
      </p:pic>
      <p:sp>
        <p:nvSpPr>
          <p:cNvPr id="286" name="Прямая соединительная линия 7"/>
          <p:cNvSpPr/>
          <p:nvPr/>
        </p:nvSpPr>
        <p:spPr>
          <a:xfrm>
            <a:off x="5419800" y="2028240"/>
            <a:ext cx="3117240" cy="2967480"/>
          </a:xfrm>
          <a:prstGeom prst="line">
            <a:avLst/>
          </a:prstGeom>
          <a:ln w="76200">
            <a:solidFill>
              <a:srgbClr val="be4b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287" name="Прямая соединительная линия 16"/>
          <p:cNvSpPr/>
          <p:nvPr/>
        </p:nvSpPr>
        <p:spPr>
          <a:xfrm flipH="1">
            <a:off x="5419800" y="1809720"/>
            <a:ext cx="2818080" cy="3102840"/>
          </a:xfrm>
          <a:prstGeom prst="line">
            <a:avLst/>
          </a:prstGeom>
          <a:ln w="76200">
            <a:solidFill>
              <a:srgbClr val="be4b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2366</TotalTime>
  <Application>LibreOffice/7.3.7.2$Linux_X86_64 LibreOffice_project/30$Build-2</Application>
  <AppVersion>15.0000</AppVersion>
  <Words>166</Words>
  <Paragraphs>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2020-03-19T07:02:32Z</dcterms:created>
  <dc:creator>ДНС</dc:creator>
  <dc:description/>
  <dc:language>ru-RU</dc:language>
  <cp:lastModifiedBy/>
  <dcterms:modified xsi:type="dcterms:W3CDTF">2024-10-25T12:14:37Z</dcterms:modified>
  <cp:revision>89</cp:revision>
  <dc:subject/>
  <dc:title>Обработка слов и чисел автоматами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Экран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68</vt:i4>
  </property>
</Properties>
</file>