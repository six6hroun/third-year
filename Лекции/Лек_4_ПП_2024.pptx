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diagrams/colors6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data6.xml" ContentType="application/vnd.openxmlformats-officedocument.drawingml.diagramData+xml"/>
  <Override PartName="/ppt/diagrams/quickStyle6.xml" ContentType="application/vnd.openxmlformats-officedocument.drawingml.diagramStyle+xml"/>
  <Override PartName="/ppt/diagrams/quickStyle3.xml" ContentType="application/vnd.openxmlformats-officedocument.drawingml.diagramStyle+xml"/>
  <Override PartName="/ppt/diagrams/data2.xml" ContentType="application/vnd.openxmlformats-officedocument.drawingml.diagramData+xml"/>
  <Override PartName="/ppt/diagrams/layout3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1.xml" ContentType="application/vnd.openxmlformats-officedocument.drawingml.diagramColors+xml"/>
  <Override PartName="/ppt/diagrams/data3.xml" ContentType="application/vnd.openxmlformats-officedocument.drawingml.diagramData+xml"/>
  <Override PartName="/ppt/diagrams/drawing6.xml" ContentType="application/vnd.ms-office.drawingml.diagramDrawing+xml"/>
  <Override PartName="/ppt/diagrams/colors7.xml" ContentType="application/vnd.openxmlformats-officedocument.drawingml.diagramColor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data1.xml" ContentType="application/vnd.openxmlformats-officedocument.drawingml.diagramData+xml"/>
  <Override PartName="/ppt/diagrams/quickStyle7.xml" ContentType="application/vnd.openxmlformats-officedocument.drawingml.diagramStyle+xml"/>
  <Override PartName="/ppt/diagrams/drawing7.xml" ContentType="application/vnd.ms-office.drawingml.diagramDrawing+xml"/>
  <Override PartName="/ppt/diagrams/colors2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drawing2.xml" ContentType="application/vnd.ms-office.drawingml.diagramDrawing+xml"/>
  <Override PartName="/ppt/diagrams/colors3.xml" ContentType="application/vnd.openxmlformats-officedocument.drawingml.diagramColors+xml"/>
  <Override PartName="/ppt/diagrams/quickStyle4.xml" ContentType="application/vnd.openxmlformats-officedocument.drawingml.diagram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drawing3.xml" ContentType="application/vnd.ms-office.drawingml.diagramDrawing+xml"/>
  <Override PartName="/ppt/diagrams/colors4.xml" ContentType="application/vnd.openxmlformats-officedocument.drawingml.diagramColors+xml"/>
  <Override PartName="/ppt/diagrams/quickStyle5.xml" ContentType="application/vnd.openxmlformats-officedocument.drawingml.diagram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colors5.xml" ContentType="application/vnd.openxmlformats-officedocument.drawingml.diagramColors+xml"/>
  <Override PartName="/ppt/diagrams/drawing4.xml" ContentType="application/vnd.ms-office.drawingml.diagramDrawing+xml"/>
  <Override PartName="/ppt/notesSlides/_rels/notesSlide33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58.png" ContentType="image/png"/>
  <Override PartName="/ppt/media/image1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16.png" ContentType="image/png"/>
  <Override PartName="/ppt/media/image56.wmf" ContentType="image/x-wmf"/>
  <Override PartName="/ppt/media/image15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13.png" ContentType="image/png"/>
  <Override PartName="/ppt/media/image11.png" ContentType="image/png"/>
  <Override PartName="/ppt/media/image48.png" ContentType="image/png"/>
  <Override PartName="/ppt/media/image51.png" ContentType="image/png"/>
  <Override PartName="/ppt/media/image40.png" ContentType="image/png"/>
  <Override PartName="/ppt/media/image52.png" ContentType="image/png"/>
  <Override PartName="/ppt/media/image41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31.jpeg" ContentType="image/jpeg"/>
  <Override PartName="/ppt/media/image30.png" ContentType="image/png"/>
  <Override PartName="/ppt/media/image39.png" ContentType="image/png"/>
  <Override PartName="/ppt/media/image9.png" ContentType="image/png"/>
  <Override PartName="/ppt/media/image17.wmf" ContentType="image/x-wmf"/>
  <Override PartName="/ppt/media/image38.png" ContentType="image/png"/>
  <Override PartName="/ppt/media/image8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7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52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55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50.xml.rels" ContentType="application/vnd.openxmlformats-package.relationships+xml"/>
  <Override PartName="/ppt/slides/_rels/slide34.xml.rels" ContentType="application/vnd.openxmlformats-package.relationships+xml"/>
  <Override PartName="/ppt/slides/_rels/slide4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4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57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28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8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46.xml.rels" ContentType="application/vnd.openxmlformats-package.relationships+xml"/>
  <Override PartName="/ppt/slides/_rels/slide53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Проблема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7864C5C-13CF-4A7D-8DDD-03EE0FF2FC5A}" type="presOf" srcId="{3F685927-FB4F-4064-8DB5-6B9E9D2B3179}" destId="{6A00D6F5-8A9E-4D30-A92B-42AA7B7ABA00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A0056F24-DF74-40A3-9ED8-09F4E356A608}" type="presOf" srcId="{9245D56F-DF2F-4ED1-AE7F-7ED0FBE4CA71}" destId="{82F9B57D-D607-41A5-A6B1-F5DE03C5642B}" srcOrd="0" destOrd="0" presId="urn:microsoft.com/office/officeart/2005/8/layout/vList2"/>
    <dgm:cxn modelId="{3BCDFD62-AD77-4ACF-905A-75B605EACC04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Решение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EFD7710-6E13-4EE2-B22F-0B83D526DC43}" type="presOf" srcId="{9245D56F-DF2F-4ED1-AE7F-7ED0FBE4CA71}" destId="{82F9B57D-D607-41A5-A6B1-F5DE03C5642B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14E31D15-AEDB-46CA-B9F5-EF4E90EC6885}" type="presOf" srcId="{3F685927-FB4F-4064-8DB5-6B9E9D2B3179}" destId="{6A00D6F5-8A9E-4D30-A92B-42AA7B7ABA00}" srcOrd="0" destOrd="0" presId="urn:microsoft.com/office/officeart/2005/8/layout/vList2"/>
    <dgm:cxn modelId="{DA59274A-FBB5-467E-83BE-B42806C0080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Структура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4CDC84C6-F029-48D4-A575-807F795480B9}" type="presOf" srcId="{3F685927-FB4F-4064-8DB5-6B9E9D2B3179}" destId="{6A00D6F5-8A9E-4D30-A92B-42AA7B7ABA00}" srcOrd="0" destOrd="0" presId="urn:microsoft.com/office/officeart/2005/8/layout/vList2"/>
    <dgm:cxn modelId="{26441737-CD31-4D57-B2C3-EF19E7D647AD}" type="presOf" srcId="{9245D56F-DF2F-4ED1-AE7F-7ED0FBE4CA71}" destId="{82F9B57D-D607-41A5-A6B1-F5DE03C5642B}" srcOrd="0" destOrd="0" presId="urn:microsoft.com/office/officeart/2005/8/layout/vList2"/>
    <dgm:cxn modelId="{52F8FE21-9994-4001-909A-9CE017C4C34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062BFF-185E-4CF6-9694-3CFAA4DE4FC2}">
      <dgm:prSet/>
      <dgm:spPr/>
      <dgm:t>
        <a:bodyPr/>
        <a:lstStyle/>
        <a:p>
          <a:pPr rtl="0"/>
          <a:r>
            <a:rPr lang="ru-RU" dirty="0" smtClean="0"/>
            <a:t>Адаптер - Пример</a:t>
          </a:r>
          <a:endParaRPr lang="ru-RU" dirty="0"/>
        </a:p>
      </dgm:t>
    </dgm:pt>
    <dgm:pt modelId="{93A71F5B-4DC9-4F9C-A264-68B9DAA34BC0}" type="parTrans" cxnId="{8EFEE715-D843-429C-8C6F-58805FDBC90B}">
      <dgm:prSet/>
      <dgm:spPr/>
      <dgm:t>
        <a:bodyPr/>
        <a:lstStyle/>
        <a:p>
          <a:endParaRPr lang="ru-RU"/>
        </a:p>
      </dgm:t>
    </dgm:pt>
    <dgm:pt modelId="{0AAACFF4-032B-48A0-8351-A200C8D3475E}" type="sibTrans" cxnId="{8EFEE715-D843-429C-8C6F-58805FDBC90B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0BFD94F-861C-4E5E-94D5-196832379422}" type="pres">
      <dgm:prSet presAssocID="{A7062BFF-185E-4CF6-9694-3CFAA4DE4FC2}" presName="parentText" presStyleLbl="node1" presStyleIdx="0" presStyleCnt="1" custLinFactNeighborX="126" custLinFactNeighborY="445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90B1AA1-EE42-4AB9-95BA-CFCB7AEDE49C}" type="presOf" srcId="{A7062BFF-185E-4CF6-9694-3CFAA4DE4FC2}" destId="{E0BFD94F-861C-4E5E-94D5-196832379422}" srcOrd="0" destOrd="0" presId="urn:microsoft.com/office/officeart/2005/8/layout/vList2"/>
    <dgm:cxn modelId="{8EFEE715-D843-429C-8C6F-58805FDBC90B}" srcId="{9245D56F-DF2F-4ED1-AE7F-7ED0FBE4CA71}" destId="{A7062BFF-185E-4CF6-9694-3CFAA4DE4FC2}" srcOrd="0" destOrd="0" parTransId="{93A71F5B-4DC9-4F9C-A264-68B9DAA34BC0}" sibTransId="{0AAACFF4-032B-48A0-8351-A200C8D3475E}"/>
    <dgm:cxn modelId="{F065303A-C292-4633-9F6A-01964BF39C44}" type="presOf" srcId="{9245D56F-DF2F-4ED1-AE7F-7ED0FBE4CA71}" destId="{82F9B57D-D607-41A5-A6B1-F5DE03C5642B}" srcOrd="0" destOrd="0" presId="urn:microsoft.com/office/officeart/2005/8/layout/vList2"/>
    <dgm:cxn modelId="{AAB4DED4-874C-4592-85F4-EA1EF755C29A}" type="presParOf" srcId="{82F9B57D-D607-41A5-A6B1-F5DE03C5642B}" destId="{E0BFD94F-861C-4E5E-94D5-19683237942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Проблема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7864C5C-13CF-4A7D-8DDD-03EE0FF2FC5A}" type="presOf" srcId="{3F685927-FB4F-4064-8DB5-6B9E9D2B3179}" destId="{6A00D6F5-8A9E-4D30-A92B-42AA7B7ABA00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A0056F24-DF74-40A3-9ED8-09F4E356A608}" type="presOf" srcId="{9245D56F-DF2F-4ED1-AE7F-7ED0FBE4CA71}" destId="{82F9B57D-D607-41A5-A6B1-F5DE03C5642B}" srcOrd="0" destOrd="0" presId="urn:microsoft.com/office/officeart/2005/8/layout/vList2"/>
    <dgm:cxn modelId="{3BCDFD62-AD77-4ACF-905A-75B605EACC04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Решение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EFD7710-6E13-4EE2-B22F-0B83D526DC43}" type="presOf" srcId="{9245D56F-DF2F-4ED1-AE7F-7ED0FBE4CA71}" destId="{82F9B57D-D607-41A5-A6B1-F5DE03C5642B}" srcOrd="0" destOrd="0" presId="urn:microsoft.com/office/officeart/2005/8/layout/vList2"/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14E31D15-AEDB-46CA-B9F5-EF4E90EC6885}" type="presOf" srcId="{3F685927-FB4F-4064-8DB5-6B9E9D2B3179}" destId="{6A00D6F5-8A9E-4D30-A92B-42AA7B7ABA00}" srcOrd="0" destOrd="0" presId="urn:microsoft.com/office/officeart/2005/8/layout/vList2"/>
    <dgm:cxn modelId="{DA59274A-FBB5-467E-83BE-B42806C0080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245D56F-DF2F-4ED1-AE7F-7ED0FBE4C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F685927-FB4F-4064-8DB5-6B9E9D2B3179}">
      <dgm:prSet/>
      <dgm:spPr/>
      <dgm:t>
        <a:bodyPr/>
        <a:lstStyle/>
        <a:p>
          <a:r>
            <a:rPr lang="ru-RU" dirty="0" smtClean="0"/>
            <a:t>Шаблонный метод - Структура</a:t>
          </a:r>
          <a:endParaRPr lang="ru-RU" dirty="0"/>
        </a:p>
      </dgm:t>
    </dgm:pt>
    <dgm:pt modelId="{2F4C8510-6F67-4609-86BB-81AFCCD623B4}" type="parTrans" cxnId="{7D8314C7-762D-4406-A15E-AAA239374B7C}">
      <dgm:prSet/>
      <dgm:spPr/>
      <dgm:t>
        <a:bodyPr/>
        <a:lstStyle/>
        <a:p>
          <a:endParaRPr lang="ru-RU"/>
        </a:p>
      </dgm:t>
    </dgm:pt>
    <dgm:pt modelId="{D7361685-3631-4E75-830A-B3C543C8A2C3}" type="sibTrans" cxnId="{7D8314C7-762D-4406-A15E-AAA239374B7C}">
      <dgm:prSet/>
      <dgm:spPr/>
      <dgm:t>
        <a:bodyPr/>
        <a:lstStyle/>
        <a:p>
          <a:endParaRPr lang="ru-RU"/>
        </a:p>
      </dgm:t>
    </dgm:pt>
    <dgm:pt modelId="{82F9B57D-D607-41A5-A6B1-F5DE03C5642B}" type="pres">
      <dgm:prSet presAssocID="{9245D56F-DF2F-4ED1-AE7F-7ED0FBE4CA7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00D6F5-8A9E-4D30-A92B-42AA7B7ABA00}" type="pres">
      <dgm:prSet presAssocID="{3F685927-FB4F-4064-8DB5-6B9E9D2B3179}" presName="parentText" presStyleLbl="node1" presStyleIdx="0" presStyleCnt="1" custLinFactNeighborX="126" custLinFactNeighborY="469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D8314C7-762D-4406-A15E-AAA239374B7C}" srcId="{9245D56F-DF2F-4ED1-AE7F-7ED0FBE4CA71}" destId="{3F685927-FB4F-4064-8DB5-6B9E9D2B3179}" srcOrd="0" destOrd="0" parTransId="{2F4C8510-6F67-4609-86BB-81AFCCD623B4}" sibTransId="{D7361685-3631-4E75-830A-B3C543C8A2C3}"/>
    <dgm:cxn modelId="{4CDC84C6-F029-48D4-A575-807F795480B9}" type="presOf" srcId="{3F685927-FB4F-4064-8DB5-6B9E9D2B3179}" destId="{6A00D6F5-8A9E-4D30-A92B-42AA7B7ABA00}" srcOrd="0" destOrd="0" presId="urn:microsoft.com/office/officeart/2005/8/layout/vList2"/>
    <dgm:cxn modelId="{26441737-CD31-4D57-B2C3-EF19E7D647AD}" type="presOf" srcId="{9245D56F-DF2F-4ED1-AE7F-7ED0FBE4CA71}" destId="{82F9B57D-D607-41A5-A6B1-F5DE03C5642B}" srcOrd="0" destOrd="0" presId="urn:microsoft.com/office/officeart/2005/8/layout/vList2"/>
    <dgm:cxn modelId="{52F8FE21-9994-4001-909A-9CE017C4C34C}" type="presParOf" srcId="{82F9B57D-D607-41A5-A6B1-F5DE03C5642B}" destId="{6A00D6F5-8A9E-4D30-A92B-42AA7B7ABA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Проблема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90888"/>
          <a:ext cx="680466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Шаблонный метод - Решение</a:t>
          </a:r>
          <a:endParaRPr lang="ru-RU" sz="3600" kern="1200" dirty="0"/>
        </a:p>
      </dsp:txBody>
      <dsp:txXfrm>
        <a:off x="41123" y="132011"/>
        <a:ext cx="6722414" cy="760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Структура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D94F-861C-4E5E-94D5-196832379422}">
      <dsp:nvSpPr>
        <dsp:cNvPr id="0" name=""/>
        <dsp:cNvSpPr/>
      </dsp:nvSpPr>
      <dsp:spPr>
        <a:xfrm>
          <a:off x="0" y="15705"/>
          <a:ext cx="822960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700" kern="1200" dirty="0" smtClean="0"/>
            <a:t>Адаптер - Пример</a:t>
          </a:r>
          <a:endParaRPr lang="ru-RU" sz="4700" kern="1200" dirty="0"/>
        </a:p>
      </dsp:txBody>
      <dsp:txXfrm>
        <a:off x="55030" y="70735"/>
        <a:ext cx="8119540" cy="10172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Проблема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90888"/>
          <a:ext cx="680466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 smtClean="0"/>
            <a:t>Шаблонный метод - Решение</a:t>
          </a:r>
          <a:endParaRPr lang="ru-RU" sz="3600" kern="1200" dirty="0"/>
        </a:p>
      </dsp:txBody>
      <dsp:txXfrm>
        <a:off x="41123" y="132011"/>
        <a:ext cx="6722414" cy="7601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0D6F5-8A9E-4D30-A92B-42AA7B7ABA00}">
      <dsp:nvSpPr>
        <dsp:cNvPr id="0" name=""/>
        <dsp:cNvSpPr/>
      </dsp:nvSpPr>
      <dsp:spPr>
        <a:xfrm>
          <a:off x="0" y="101489"/>
          <a:ext cx="680466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500" kern="1200" dirty="0" smtClean="0"/>
            <a:t>Шаблонный метод - Структура</a:t>
          </a:r>
          <a:endParaRPr lang="ru-RU" sz="3500" kern="1200" dirty="0"/>
        </a:p>
      </dsp:txBody>
      <dsp:txXfrm>
        <a:off x="39980" y="141469"/>
        <a:ext cx="6724700" cy="739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dt" idx="1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 type="ftr" idx="1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 type="sldNum" idx="1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5717140-36F3-4CFA-9AE6-25A8F8922C4D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47" name="TextShape 42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fld id="{25A8DD7C-950C-4600-9E8C-D0DD15173B15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29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50" name="TextShape 44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fld id="{C4E3DADA-B1DE-4DC0-9630-142CFED3102C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30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53" name="TextShape 47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fld id="{3CE9C2F1-D067-44DD-B753-976309B6AAC9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31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0920" cy="3427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56" name="TextShape 50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fld id="{B2CF0128-3555-4062-B5A9-405143140FE3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32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559" name="TextShape 5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  <a:buNone/>
            </a:pPr>
            <a:fld id="{11B07D83-1F70-4064-9736-4045D972AEED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33</a:t>
            </a:fld>
            <a:endParaRPr b="0" lang="ru-RU" sz="12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244853-85C6-47F8-BF21-8A57C9BD46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E731FB-96F8-4FE4-B36C-185A5FDF13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494FF9-EDF5-4E13-B86F-C3CB1F21CD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D900FC-A3A1-40DF-B22A-25E06F7F9C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D385B8-D55D-463F-BAA1-E77C0935DE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4AF680-6506-4EA5-BF7C-A81319C0D0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49D214-7799-49F7-B61A-AD036958F4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AC6388-E5D1-45C4-A145-CAB00F1D96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52783E-3A90-4414-B00C-92DB9F9993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1B6E38-51AC-4592-BDC0-AF39920E2A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6127F8-A45E-48A8-B576-65AF91458B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61C281-36F9-4ABB-811D-38A3BAB2ED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5291D74-927C-45C3-A56B-D607DEF0D1DE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B5E1FE8-CDC0-46A6-81CD-674554E316EA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5380248-DAF3-48FF-942A-0BEBE8CF3C90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874655F-1F5C-4D41-8F26-0687A8C24E51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69C5586-42C7-491D-96AF-ABD0ACE786F1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713BC02-0393-4817-A533-4AAD30C47B5F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A01710-16CB-475D-AB83-31BE39104436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FAC403-FA3C-48CD-B47D-8E5F34E78E67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89EABF1-B493-4031-957A-5ECA6F4C7A1B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89C0B19-A144-46E9-A83B-D630E93C7BAE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BB8087-F6DB-4A01-A906-FB7ABD32FB4B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1F65378-8426-4D69-9BB8-334895142D39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1F49385-660F-4735-B9DA-2AF0C2185A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071423A-1834-4E76-9041-51869EC8EC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CF73B22-B104-45CE-B1B0-67BBFBE53C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9B38A20-B66E-4DDC-B070-184E8AAF2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3E68A2B-6974-4C68-B1E5-E441B2C455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5869293-BDB7-4A59-8F8B-7692257B24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0D8FD4F-B702-427C-ABB6-CE0F3CA61F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E6F3D86-FAA3-41C2-AAD8-1D20A0984D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908E478-41F8-43E1-B387-B756DCCBE2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ACD29CA-D24C-4BCD-BADA-6F69D425AE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A46F70D-FC59-4B96-8306-7B4DC9D8BC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CCCA2A-2B1A-4899-A26B-E4847B02A6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81486A1-288A-459C-8084-7AA3B85BB3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4938FB9-B02F-4DEF-A17B-6117137C50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745043A-F247-4334-A0D3-579C70C884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0456702-12C5-4BE0-993C-B51302DC77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05569D-A29E-48B3-A40E-606E372346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2F3D53C-76E2-4CEE-950A-A83F34F436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55C3D23-6135-425F-888A-A1DD2FC5D3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6B478F2-BC97-46AC-ACFD-B4219ACBEA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620358D-AF52-4807-B063-CD2DCF16FB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FDDF3FB-301F-45C3-B16D-D49420C935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2BFA1D4-44E6-4370-8FEC-AFF3DAC072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4AB5662-44B4-41A4-B5D8-9A4DFA4581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7.xml"/><Relationship Id="rId15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3" descr=""/>
          <p:cNvPicPr/>
          <p:nvPr/>
        </p:nvPicPr>
        <p:blipFill>
          <a:blip r:embed="rId2"/>
          <a:stretch/>
        </p:blipFill>
        <p:spPr>
          <a:xfrm>
            <a:off x="0" y="5104800"/>
            <a:ext cx="10077840" cy="578880"/>
          </a:xfrm>
          <a:prstGeom prst="rect">
            <a:avLst/>
          </a:prstGeom>
          <a:ln w="0">
            <a:noFill/>
          </a:ln>
        </p:spPr>
      </p:pic>
      <p:pic>
        <p:nvPicPr>
          <p:cNvPr id="1" name="Рисунок 4" descr=""/>
          <p:cNvPicPr/>
          <p:nvPr/>
        </p:nvPicPr>
        <p:blipFill>
          <a:blip r:embed="rId3"/>
          <a:stretch/>
        </p:blipFill>
        <p:spPr>
          <a:xfrm>
            <a:off x="0" y="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</a:t>
            </a:r>
            <a:r>
              <a:rPr b="0" lang="ru-RU" sz="4400" spc="-1" strike="noStrike">
                <a:latin typeface="Arial"/>
              </a:rPr>
              <a:t>правки </a:t>
            </a:r>
            <a:r>
              <a:rPr b="0" lang="ru-RU" sz="4400" spc="-1" strike="noStrike">
                <a:latin typeface="Arial"/>
              </a:rPr>
              <a:t>текста </a:t>
            </a:r>
            <a:r>
              <a:rPr b="0" lang="ru-RU" sz="4400" spc="-1" strike="noStrike">
                <a:latin typeface="Arial"/>
              </a:rPr>
              <a:t>заглавия </a:t>
            </a:r>
            <a:r>
              <a:rPr b="0" lang="ru-RU" sz="4400" spc="-1" strike="noStrike">
                <a:latin typeface="Arial"/>
              </a:rPr>
              <a:t>щёлкнит</a:t>
            </a:r>
            <a:r>
              <a:rPr b="0" lang="ru-RU" sz="4400" spc="-1" strike="noStrike">
                <a:latin typeface="Arial"/>
              </a:rPr>
              <a:t>е </a:t>
            </a:r>
            <a:r>
              <a:rPr b="0" lang="ru-RU" sz="4400" spc="-1" strike="noStrike">
                <a:latin typeface="Arial"/>
              </a:rPr>
              <a:t>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41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42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7DF829CA-18E9-43ED-A5EB-4509CF329E64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</a:t>
            </a:r>
            <a:r>
              <a:rPr b="0" lang="ru-RU" sz="4400" spc="-1" strike="noStrike">
                <a:latin typeface="Arial"/>
              </a:rPr>
              <a:t>правки </a:t>
            </a:r>
            <a:r>
              <a:rPr b="0" lang="ru-RU" sz="4400" spc="-1" strike="noStrike">
                <a:latin typeface="Arial"/>
              </a:rPr>
              <a:t>текста </a:t>
            </a:r>
            <a:r>
              <a:rPr b="0" lang="ru-RU" sz="4400" spc="-1" strike="noStrike">
                <a:latin typeface="Arial"/>
              </a:rPr>
              <a:t>заглав</a:t>
            </a:r>
            <a:r>
              <a:rPr b="0" lang="ru-RU" sz="4400" spc="-1" strike="noStrike">
                <a:latin typeface="Arial"/>
              </a:rPr>
              <a:t>ия </a:t>
            </a:r>
            <a:r>
              <a:rPr b="0" lang="ru-RU" sz="4400" spc="-1" strike="noStrike">
                <a:latin typeface="Arial"/>
              </a:rPr>
              <a:t>щёлкн</a:t>
            </a:r>
            <a:r>
              <a:rPr b="0" lang="ru-RU" sz="4400" spc="-1" strike="noStrike">
                <a:latin typeface="Arial"/>
              </a:rPr>
              <a:t>ите </a:t>
            </a:r>
            <a:r>
              <a:rPr b="0" lang="ru-RU" sz="4400" spc="-1" strike="noStrike">
                <a:latin typeface="Arial"/>
              </a:rPr>
              <a:t>мышь</a:t>
            </a:r>
            <a:r>
              <a:rPr b="0" lang="ru-RU" sz="4400" spc="-1" strike="noStrike">
                <a:latin typeface="Arial"/>
              </a:rPr>
              <a:t>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</a:t>
            </a:r>
            <a:r>
              <a:rPr b="0" lang="ru-RU" sz="1800" spc="-1" strike="noStrike">
                <a:latin typeface="Arial"/>
              </a:rPr>
              <a:t>текста заглавия </a:t>
            </a:r>
            <a:r>
              <a:rPr b="0" lang="ru-RU" sz="1800" spc="-1" strike="noStrike">
                <a:latin typeface="Arial"/>
              </a:rPr>
              <a:t>щёлкните </a:t>
            </a:r>
            <a:r>
              <a:rPr b="0" lang="ru-RU" sz="1800" spc="-1" strike="noStrike">
                <a:latin typeface="Arial"/>
              </a:rPr>
              <a:t>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122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25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1AC5F793-E2C0-4B1D-87BD-E9DD3464A35A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</a:t>
            </a:r>
            <a:r>
              <a:rPr b="0" lang="ru-RU" sz="1800" spc="-1" strike="noStrike">
                <a:latin typeface="Arial"/>
              </a:rPr>
              <a:t>правки </a:t>
            </a:r>
            <a:r>
              <a:rPr b="0" lang="ru-RU" sz="1800" spc="-1" strike="noStrike">
                <a:latin typeface="Arial"/>
              </a:rPr>
              <a:t>текста </a:t>
            </a:r>
            <a:r>
              <a:rPr b="0" lang="ru-RU" sz="1800" spc="-1" strike="noStrike">
                <a:latin typeface="Arial"/>
              </a:rPr>
              <a:t>заглавия </a:t>
            </a:r>
            <a:r>
              <a:rPr b="0" lang="ru-RU" sz="1800" spc="-1" strike="noStrike">
                <a:latin typeface="Arial"/>
              </a:rPr>
              <a:t>щёлкните </a:t>
            </a:r>
            <a:r>
              <a:rPr b="0" lang="ru-RU" sz="1800" spc="-1" strike="noStrike">
                <a:latin typeface="Arial"/>
              </a:rPr>
              <a:t>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165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166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595B20F7-628F-4BC9-B1EE-8E76677AB243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E0E0216B-1648-4F9F-B5CC-97BF2403ABF5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t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211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12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0417585A-90EE-4B1C-9ED9-4251F1F6A67C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sldNum" idx="4"/>
          </p:nvPr>
        </p:nvSpPr>
        <p:spPr>
          <a:xfrm>
            <a:off x="7689960" y="5216400"/>
            <a:ext cx="23515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19DB30E5-4B17-458E-B240-4410A865B5D1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7840" cy="321840"/>
          </a:xfrm>
          <a:prstGeom prst="rect">
            <a:avLst/>
          </a:prstGeom>
          <a:ln w="0">
            <a:noFill/>
          </a:ln>
        </p:spPr>
      </p:pic>
      <p:pic>
        <p:nvPicPr>
          <p:cNvPr id="255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7840" cy="321840"/>
          </a:xfrm>
          <a:prstGeom prst="rect">
            <a:avLst/>
          </a:prstGeom>
          <a:ln w="0">
            <a:noFill/>
          </a:ln>
        </p:spPr>
      </p:pic>
      <p:sp>
        <p:nvSpPr>
          <p:cNvPr id="256" name="CustomShape 1"/>
          <p:cNvSpPr/>
          <p:nvPr/>
        </p:nvSpPr>
        <p:spPr>
          <a:xfrm>
            <a:off x="172836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4221360" y="5400360"/>
            <a:ext cx="319284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7659720" y="5400360"/>
            <a:ext cx="23461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63BCEFD6-7157-4161-8418-DEDDA729128F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8200" cy="322200"/>
          </a:xfrm>
          <a:prstGeom prst="rect">
            <a:avLst/>
          </a:prstGeom>
          <a:ln w="0">
            <a:noFill/>
          </a:ln>
        </p:spPr>
      </p:pic>
      <p:pic>
        <p:nvPicPr>
          <p:cNvPr id="299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8200" cy="322200"/>
          </a:xfrm>
          <a:prstGeom prst="rect">
            <a:avLst/>
          </a:prstGeom>
          <a:ln w="0">
            <a:noFill/>
          </a:ln>
        </p:spPr>
      </p:pic>
      <p:sp>
        <p:nvSpPr>
          <p:cNvPr id="300" name="CustomShape 1"/>
          <p:cNvSpPr/>
          <p:nvPr/>
        </p:nvSpPr>
        <p:spPr>
          <a:xfrm>
            <a:off x="172836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4221360" y="5400360"/>
            <a:ext cx="31932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02" name="CustomShape 3"/>
          <p:cNvSpPr/>
          <p:nvPr/>
        </p:nvSpPr>
        <p:spPr>
          <a:xfrm>
            <a:off x="765972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DB0D1A08-CD4B-42D0-8FDC-EA5476CB112C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  <a:ea typeface="DejaVu Sans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DejaVu Sans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dt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&lt;дата/время&gt;</a:t>
            </a:r>
            <a:endParaRPr b="0" lang="ru-RU" sz="1800" spc="-1" strike="noStrike"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ftr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302BD4E0-86EB-4E94-B64A-8300F5FF7749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Рисунок 39" descr=""/>
          <p:cNvPicPr/>
          <p:nvPr/>
        </p:nvPicPr>
        <p:blipFill>
          <a:blip r:embed="rId2"/>
          <a:stretch/>
        </p:blipFill>
        <p:spPr>
          <a:xfrm>
            <a:off x="6120" y="0"/>
            <a:ext cx="10078200" cy="322200"/>
          </a:xfrm>
          <a:prstGeom prst="rect">
            <a:avLst/>
          </a:prstGeom>
          <a:ln w="0">
            <a:noFill/>
          </a:ln>
        </p:spPr>
      </p:pic>
      <p:pic>
        <p:nvPicPr>
          <p:cNvPr id="345" name="Рисунок 40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78200" cy="322200"/>
          </a:xfrm>
          <a:prstGeom prst="rect">
            <a:avLst/>
          </a:prstGeom>
          <a:ln w="0">
            <a:noFill/>
          </a:ln>
        </p:spPr>
      </p:pic>
      <p:sp>
        <p:nvSpPr>
          <p:cNvPr id="346" name="CustomShape 1"/>
          <p:cNvSpPr/>
          <p:nvPr/>
        </p:nvSpPr>
        <p:spPr>
          <a:xfrm>
            <a:off x="172836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&lt;дата/время&gt;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47" name="CustomShape 2"/>
          <p:cNvSpPr/>
          <p:nvPr/>
        </p:nvSpPr>
        <p:spPr>
          <a:xfrm>
            <a:off x="4221360" y="5400360"/>
            <a:ext cx="319320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&lt;нижний колонтитул&gt;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348" name="CustomShape 3"/>
          <p:cNvSpPr/>
          <p:nvPr/>
        </p:nvSpPr>
        <p:spPr>
          <a:xfrm>
            <a:off x="7659720" y="5400360"/>
            <a:ext cx="234648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fld id="{A64AE3A3-9324-402B-BB60-BCAAF20B5454}" type="slidenum"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&lt;номер&gt;</a:t>
            </a:fld>
            <a:endParaRPr b="0" lang="ru-RU" sz="1400" spc="-1" strike="noStrike">
              <a:latin typeface="Arial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504000" y="1323000"/>
            <a:ext cx="4451760" cy="37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текста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Второй уровень</a:t>
            </a:r>
            <a:endParaRPr b="0" lang="ru-RU" sz="1979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60" spc="-1" strike="noStrike">
                <a:solidFill>
                  <a:srgbClr val="000000"/>
                </a:solidFill>
                <a:latin typeface="Arial"/>
                <a:ea typeface="DejaVu Sans"/>
              </a:rPr>
              <a:t>Третий уровень</a:t>
            </a:r>
            <a:endParaRPr b="0" lang="ru-RU" sz="166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90" spc="-1" strike="noStrike">
                <a:solidFill>
                  <a:srgbClr val="000000"/>
                </a:solidFill>
                <a:latin typeface="Arial"/>
                <a:ea typeface="DejaVu Sans"/>
              </a:rPr>
              <a:t>Четвертый уровень</a:t>
            </a:r>
            <a:endParaRPr b="0" lang="ru-RU" sz="149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90" spc="-1" strike="noStrike">
                <a:solidFill>
                  <a:srgbClr val="000000"/>
                </a:solidFill>
                <a:latin typeface="Arial"/>
                <a:ea typeface="DejaVu Sans"/>
              </a:rPr>
              <a:t>Пятый уровень</a:t>
            </a:r>
            <a:endParaRPr b="0" lang="ru-RU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body"/>
          </p:nvPr>
        </p:nvSpPr>
        <p:spPr>
          <a:xfrm>
            <a:off x="5124240" y="1323000"/>
            <a:ext cx="4451760" cy="374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Образец текста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Второй уровень</a:t>
            </a:r>
            <a:endParaRPr b="0" lang="ru-RU" sz="1979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660" spc="-1" strike="noStrike">
                <a:solidFill>
                  <a:srgbClr val="000000"/>
                </a:solidFill>
                <a:latin typeface="Arial"/>
                <a:ea typeface="DejaVu Sans"/>
              </a:rPr>
              <a:t>Третий уровень</a:t>
            </a:r>
            <a:endParaRPr b="0" lang="ru-RU" sz="166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90" spc="-1" strike="noStrike">
                <a:solidFill>
                  <a:srgbClr val="000000"/>
                </a:solidFill>
                <a:latin typeface="Arial"/>
                <a:ea typeface="DejaVu Sans"/>
              </a:rPr>
              <a:t>Четвертый уровень</a:t>
            </a:r>
            <a:endParaRPr b="0" lang="ru-RU" sz="149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90" spc="-1" strike="noStrike">
                <a:solidFill>
                  <a:srgbClr val="000000"/>
                </a:solidFill>
                <a:latin typeface="Arial"/>
                <a:ea typeface="DejaVu Sans"/>
              </a:rPr>
              <a:t>Пятый уровень</a:t>
            </a:r>
            <a:endParaRPr b="0" lang="ru-RU" sz="1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dt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&lt;дата/время&gt;</a:t>
            </a:r>
            <a:endParaRPr b="0" lang="ru-RU" sz="1800" spc="-1" strike="noStrike">
              <a:latin typeface="Times New Roman"/>
            </a:endParaRPr>
          </a:p>
        </p:txBody>
      </p:sp>
      <p:sp>
        <p:nvSpPr>
          <p:cNvPr id="353" name="PlaceHolder 5"/>
          <p:cNvSpPr>
            <a:spLocks noGrp="1"/>
          </p:cNvSpPr>
          <p:nvPr>
            <p:ph type="ft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54" name="PlaceHolder 6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ru-RU" sz="1800" spc="-1" strike="noStrike">
                <a:solidFill>
                  <a:srgbClr val="000000"/>
                </a:solidFill>
                <a:latin typeface="Arial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fld id="{7B652E64-6695-4B36-AD66-B9E4A3617C74}" type="slidenum"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&lt;номер&gt;</a:t>
            </a:fld>
            <a:endParaRPr b="0" lang="ru-RU" sz="18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8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2.xml"/><Relationship Id="rId2" Type="http://schemas.openxmlformats.org/officeDocument/2006/relationships/diagramLayout" Target="../diagrams/layout2.xml"/><Relationship Id="rId3" Type="http://schemas.openxmlformats.org/officeDocument/2006/relationships/diagramQuickStyle" Target="../diagrams/quickStyle2.xml"/><Relationship Id="rId4" Type="http://schemas.openxmlformats.org/officeDocument/2006/relationships/diagramColors" Target="../diagrams/colors2.xml"/><Relationship Id="rId5" Type="http://schemas.microsoft.com/office/2007/relationships/diagramDrawing" Target="../diagrams/drawing2.xml"/><Relationship Id="rId6" Type="http://schemas.openxmlformats.org/officeDocument/2006/relationships/slideLayout" Target="../slideLayouts/slideLayout8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3.xml"/><Relationship Id="rId2" Type="http://schemas.openxmlformats.org/officeDocument/2006/relationships/diagramLayout" Target="../diagrams/layout3.xml"/><Relationship Id="rId3" Type="http://schemas.openxmlformats.org/officeDocument/2006/relationships/diagramQuickStyle" Target="../diagrams/quickStyle3.xml"/><Relationship Id="rId4" Type="http://schemas.openxmlformats.org/officeDocument/2006/relationships/diagramColors" Target="../diagrams/colors3.xml"/><Relationship Id="rId5" Type="http://schemas.microsoft.com/office/2007/relationships/diagramDrawing" Target="../diagrams/drawing3.xml"/><Relationship Id="rId6" Type="http://schemas.openxmlformats.org/officeDocument/2006/relationships/image" Target="../media/image17.wmf"/><Relationship Id="rId7" Type="http://schemas.openxmlformats.org/officeDocument/2006/relationships/slideLayout" Target="../slideLayouts/slideLayout8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8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8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8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8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diagramData" Target="../diagrams/data4.xml"/><Relationship Id="rId2" Type="http://schemas.openxmlformats.org/officeDocument/2006/relationships/diagramLayout" Target="../diagrams/layout4.xml"/><Relationship Id="rId3" Type="http://schemas.openxmlformats.org/officeDocument/2006/relationships/diagramQuickStyle" Target="../diagrams/quickStyle4.xml"/><Relationship Id="rId4" Type="http://schemas.openxmlformats.org/officeDocument/2006/relationships/diagramColors" Target="../diagrams/colors4.xml"/><Relationship Id="rId5" Type="http://schemas.microsoft.com/office/2007/relationships/diagramDrawing" Target="../diagrams/drawing4.xml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2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0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8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8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8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8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8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diagramData" Target="../diagrams/data5.xml"/><Relationship Id="rId2" Type="http://schemas.openxmlformats.org/officeDocument/2006/relationships/diagramLayout" Target="../diagrams/layout5.xml"/><Relationship Id="rId3" Type="http://schemas.openxmlformats.org/officeDocument/2006/relationships/diagramQuickStyle" Target="../diagrams/quickStyle5.xml"/><Relationship Id="rId4" Type="http://schemas.openxmlformats.org/officeDocument/2006/relationships/diagramColors" Target="../diagrams/colors5.xml"/><Relationship Id="rId5" Type="http://schemas.microsoft.com/office/2007/relationships/diagramDrawing" Target="../diagrams/drawing5.xml"/><Relationship Id="rId6" Type="http://schemas.openxmlformats.org/officeDocument/2006/relationships/slideLayout" Target="../slideLayouts/slideLayout8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diagramData" Target="../diagrams/data6.xml"/><Relationship Id="rId2" Type="http://schemas.openxmlformats.org/officeDocument/2006/relationships/diagramLayout" Target="../diagrams/layout6.xml"/><Relationship Id="rId3" Type="http://schemas.openxmlformats.org/officeDocument/2006/relationships/diagramQuickStyle" Target="../diagrams/quickStyle6.xml"/><Relationship Id="rId4" Type="http://schemas.openxmlformats.org/officeDocument/2006/relationships/diagramColors" Target="../diagrams/colors6.xml"/><Relationship Id="rId5" Type="http://schemas.microsoft.com/office/2007/relationships/diagramDrawing" Target="../diagrams/drawing6.xml"/><Relationship Id="rId6" Type="http://schemas.openxmlformats.org/officeDocument/2006/relationships/slideLayout" Target="../slideLayouts/slideLayout8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diagramData" Target="../diagrams/data7.xml"/><Relationship Id="rId2" Type="http://schemas.openxmlformats.org/officeDocument/2006/relationships/diagramLayout" Target="../diagrams/layout7.xml"/><Relationship Id="rId3" Type="http://schemas.openxmlformats.org/officeDocument/2006/relationships/diagramQuickStyle" Target="../diagrams/quickStyle7.xml"/><Relationship Id="rId4" Type="http://schemas.openxmlformats.org/officeDocument/2006/relationships/diagramColors" Target="../diagrams/colors7.xml"/><Relationship Id="rId5" Type="http://schemas.microsoft.com/office/2007/relationships/diagramDrawing" Target="../diagrams/drawing7.xml"/><Relationship Id="rId6" Type="http://schemas.openxmlformats.org/officeDocument/2006/relationships/image" Target="../media/image56.wmf"/><Relationship Id="rId7" Type="http://schemas.openxmlformats.org/officeDocument/2006/relationships/slideLayout" Target="../slideLayouts/slideLayout8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85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7920" y="648000"/>
            <a:ext cx="9069480" cy="2733840"/>
          </a:xfrm>
          <a:prstGeom prst="rect">
            <a:avLst/>
          </a:prstGeom>
          <a:solidFill>
            <a:srgbClr val="c7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ffffff"/>
                </a:solidFill>
                <a:latin typeface="Arial"/>
                <a:ea typeface="DejaVu Sans"/>
              </a:rPr>
              <a:t>Паттерны программирования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8" name="CustomShape 2"/>
          <p:cNvSpPr/>
          <p:nvPr/>
        </p:nvSpPr>
        <p:spPr>
          <a:xfrm>
            <a:off x="2553120" y="3496680"/>
            <a:ext cx="6516360" cy="14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Лекция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ru-RU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DejaVu Sans"/>
              </a:rPr>
              <a:t>Простейшие паттерны проектирования</a:t>
            </a: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CustomShape 1"/>
          <p:cNvSpPr/>
          <p:nvPr/>
        </p:nvSpPr>
        <p:spPr>
          <a:xfrm>
            <a:off x="504000" y="565560"/>
            <a:ext cx="90694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4400" spc="-1" strike="noStrike">
                <a:solidFill>
                  <a:srgbClr val="c7243a"/>
                </a:solidFill>
                <a:latin typeface="Arial"/>
                <a:ea typeface="DejaVu Sans"/>
              </a:rPr>
              <a:t>Учебные вопросы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00" name="CustomShape 2"/>
          <p:cNvSpPr/>
          <p:nvPr/>
        </p:nvSpPr>
        <p:spPr>
          <a:xfrm>
            <a:off x="2374560" y="1800000"/>
            <a:ext cx="503748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Стратегия.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Адаптер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Фабричный метод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4.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Декоратор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5.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 Шаблон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6. Итератор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638000" y="227160"/>
            <a:ext cx="680436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6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ectangle 3"/>
          <p:cNvSpPr/>
          <p:nvPr/>
        </p:nvSpPr>
        <p:spPr>
          <a:xfrm>
            <a:off x="1408320" y="1353240"/>
            <a:ext cx="7259760" cy="38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0" rIns="75600" tIns="37800" bIns="37800" anchor="ctr">
            <a:normAutofit fontScale="82000"/>
          </a:bodyPr>
          <a:p>
            <a:pPr marL="343080" indent="-343080">
              <a:lnSpc>
                <a:spcPct val="85000"/>
              </a:lnSpc>
              <a:spcBef>
                <a:spcPts val="46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Название и классификация</a:t>
            </a:r>
            <a:br>
              <a:rPr sz="232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шаблонный метод, 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template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– паттерн, обеспечивающий поведение объектов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Назначение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 скелет алгоритма, перекладывая ответственность за некоторые его шаги на подклассы. Паттерн позволяет подклассам переопределять шаги алгоритма, не меняя его общей структуры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Применимость</a:t>
            </a:r>
            <a:endParaRPr b="0" lang="ru-RU" sz="2320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подклассы должны расширять базовый алгоритм, не меняя его структуры</a:t>
            </a:r>
            <a:endParaRPr b="0" lang="ru-RU" sz="1979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у вас есть несколько классов, делающих одно и то же с незначительными отличиями. Если вы редактируете один класс, то приходится вносить такие же правки и в остальные классы</a:t>
            </a:r>
            <a:endParaRPr b="0" lang="ru-RU" sz="197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F62C22A-84BC-4A06-8C65-3BF4DC76825A}" type="slidenum">
              <a:t>3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4167354943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03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Определить алгоритм и реализовать возможность переопределения некоторых шагов алгоритма для подклассов (без изменения общей структуры алгоритма.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1752059949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04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АбстрактныйКласс" определяет абстрактные Операции(), замещаемые в конкретных подклассах для реализации шагов алгоритма, и реализует ШаблонныйМетод(), определяющий "скелет" алгоритма. "КонкретныйКласс" релизует Операции(), выполняющие шаги алгоритма способом, который зависит от подкласса. "КонкретныйКласс" предполагает, что инвариантные шаги алгоритма будут выполнены в "АбстрактномКлассе".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1820108104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05" name="Picture 5" descr=""/>
          <p:cNvPicPr/>
          <p:nvPr/>
        </p:nvPicPr>
        <p:blipFill>
          <a:blip r:embed="rId6"/>
          <a:stretch/>
        </p:blipFill>
        <p:spPr>
          <a:xfrm>
            <a:off x="2662920" y="1337040"/>
            <a:ext cx="4754160" cy="371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Picture 18" descr=""/>
          <p:cNvPicPr/>
          <p:nvPr/>
        </p:nvPicPr>
        <p:blipFill>
          <a:blip r:embed="rId1"/>
          <a:stretch/>
        </p:blipFill>
        <p:spPr>
          <a:xfrm>
            <a:off x="2098800" y="1071000"/>
            <a:ext cx="5882760" cy="459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7D9BC3C-63B8-40FA-AEF3-68D914C88C5F}" type="slidenum">
              <a:t>7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9" name="Picture 19" descr=""/>
          <p:cNvPicPr/>
          <p:nvPr/>
        </p:nvPicPr>
        <p:blipFill>
          <a:blip r:embed="rId1"/>
          <a:stretch/>
        </p:blipFill>
        <p:spPr>
          <a:xfrm>
            <a:off x="2027880" y="1362600"/>
            <a:ext cx="6024600" cy="2945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CBCBB77-9923-40A2-A3C2-D71C792044CA}" type="slidenum">
              <a:t>8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1489680" y="7452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" descr=""/>
          <p:cNvPicPr/>
          <p:nvPr/>
        </p:nvPicPr>
        <p:blipFill>
          <a:blip r:embed="rId1"/>
          <a:stretch/>
        </p:blipFill>
        <p:spPr>
          <a:xfrm>
            <a:off x="1620000" y="48924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" descr=""/>
          <p:cNvPicPr/>
          <p:nvPr/>
        </p:nvPicPr>
        <p:blipFill>
          <a:blip r:embed="rId1"/>
          <a:stretch/>
        </p:blipFill>
        <p:spPr>
          <a:xfrm>
            <a:off x="1440000" y="5400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" descr=""/>
          <p:cNvPicPr/>
          <p:nvPr/>
        </p:nvPicPr>
        <p:blipFill>
          <a:blip r:embed="rId1"/>
          <a:stretch/>
        </p:blipFill>
        <p:spPr>
          <a:xfrm>
            <a:off x="1695600" y="54000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" descr=""/>
          <p:cNvPicPr/>
          <p:nvPr/>
        </p:nvPicPr>
        <p:blipFill>
          <a:blip r:embed="rId1"/>
          <a:stretch/>
        </p:blipFill>
        <p:spPr>
          <a:xfrm>
            <a:off x="1515600" y="489240"/>
            <a:ext cx="7124400" cy="419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Shape 19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7034452E-90D9-4B81-A21D-06156C67DF59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22" name="TextShape 20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Adapter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23" name="TextShape 21"/>
          <p:cNvSpPr/>
          <p:nvPr/>
        </p:nvSpPr>
        <p:spPr>
          <a:xfrm>
            <a:off x="1408320" y="1353240"/>
            <a:ext cx="7259040" cy="38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6000"/>
          </a:bodyPr>
          <a:p>
            <a:pPr marL="283680" indent="-28332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Название и классификация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Адаптер – паттерн, структурирующий классы и объекты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Назначение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Преобразует интерфейс одного класса в интерфейс другого, который ожидают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клиенты. Адаптер обеспечивает 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совместную работу классов 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с несовместимыми интерфейсами, 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которая без него была бы невозможна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Известен также под именем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Wrapper</a:t>
            </a:r>
            <a:endParaRPr b="0" lang="ru-RU" sz="2320" spc="-1" strike="noStrike">
              <a:latin typeface="Arial"/>
            </a:endParaRPr>
          </a:p>
        </p:txBody>
      </p:sp>
      <p:pic>
        <p:nvPicPr>
          <p:cNvPr id="424" name="Рисунок 2" descr=""/>
          <p:cNvPicPr/>
          <p:nvPr/>
        </p:nvPicPr>
        <p:blipFill>
          <a:blip r:embed="rId1"/>
          <a:stretch/>
        </p:blipFill>
        <p:spPr>
          <a:xfrm>
            <a:off x="7124400" y="3192480"/>
            <a:ext cx="1629360" cy="192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Shape 22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AA48F0B6-A4CD-4201-9E9F-A78F306A8DFA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26" name="TextShape 23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Adapter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Применимость</a:t>
            </a:r>
            <a:endParaRPr b="0" lang="ru-RU" sz="2640" spc="-1" strike="noStrike">
              <a:latin typeface="Arial"/>
            </a:endParaRPr>
          </a:p>
        </p:txBody>
      </p:sp>
      <p:sp>
        <p:nvSpPr>
          <p:cNvPr id="427" name="TextShape 24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83680" indent="-28332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Применяйте </a:t>
            </a:r>
            <a:r>
              <a:rPr b="0" lang="ru-RU" sz="1979" spc="-1" strike="noStrike">
                <a:solidFill>
                  <a:srgbClr val="4f81bd"/>
                </a:solidFill>
                <a:latin typeface="Calibri"/>
                <a:ea typeface="DejaVu Sans"/>
              </a:rPr>
              <a:t>адаптер классов</a:t>
            </a: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, когда: </a:t>
            </a:r>
            <a:endParaRPr b="0" lang="ru-RU" sz="1979" spc="-1" strike="noStrike">
              <a:latin typeface="Arial"/>
            </a:endParaRPr>
          </a:p>
          <a:p>
            <a:pPr lvl="1" marL="614520" indent="-23616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660" spc="-1" strike="noStrike">
                <a:solidFill>
                  <a:srgbClr val="000000"/>
                </a:solidFill>
                <a:latin typeface="Calibri"/>
                <a:ea typeface="DejaVu Sans"/>
              </a:rPr>
              <a:t>хотите использовать существующий класс, но его интерфейс не соответствует вашим потребностям</a:t>
            </a:r>
            <a:endParaRPr b="0" lang="ru-RU" sz="1660" spc="-1" strike="noStrike">
              <a:latin typeface="Arial"/>
            </a:endParaRPr>
          </a:p>
          <a:p>
            <a:pPr lvl="1" marL="614520" indent="-23616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660" spc="-1" strike="noStrike">
                <a:solidFill>
                  <a:srgbClr val="000000"/>
                </a:solidFill>
                <a:latin typeface="Calibri"/>
                <a:ea typeface="DejaVu Sans"/>
              </a:rPr>
              <a:t>собираетесь создать повторно используемый класс, который должен взаимодействовать с заранее неизвестными или не связанными с ним классами, имеющими несовместимые интерфейсы</a:t>
            </a:r>
            <a:endParaRPr b="0" lang="ru-RU" sz="166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Применяйте </a:t>
            </a:r>
            <a:r>
              <a:rPr b="0" lang="ru-RU" sz="1979" spc="-1" strike="noStrike">
                <a:solidFill>
                  <a:srgbClr val="4f81bd"/>
                </a:solidFill>
                <a:latin typeface="Calibri"/>
                <a:ea typeface="DejaVu Sans"/>
              </a:rPr>
              <a:t>адаптер объектов</a:t>
            </a:r>
            <a:r>
              <a:rPr b="0" i="1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 когда </a:t>
            </a:r>
            <a:endParaRPr b="0" lang="ru-RU" sz="1979" spc="-1" strike="noStrike">
              <a:latin typeface="Arial"/>
            </a:endParaRPr>
          </a:p>
          <a:p>
            <a:pPr lvl="1" marL="614520" indent="-236160">
              <a:lnSpc>
                <a:spcPct val="90000"/>
              </a:lnSpc>
              <a:spcBef>
                <a:spcPts val="992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660" spc="-1" strike="noStrike">
                <a:solidFill>
                  <a:srgbClr val="000000"/>
                </a:solidFill>
                <a:latin typeface="Calibri"/>
                <a:ea typeface="DejaVu Sans"/>
              </a:rPr>
              <a:t>нужно использовать несколько существующих подклассов, но непрактично адаптировать их интерфейсы путем порождения новых подклассов от каждого. В этом случае адаптер объектов может приспосабливать интерфейс их общего родительского класса</a:t>
            </a:r>
            <a:endParaRPr b="0" lang="ru-RU" sz="166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Shape 25"/>
          <p:cNvSpPr/>
          <p:nvPr/>
        </p:nvSpPr>
        <p:spPr>
          <a:xfrm>
            <a:off x="7027560" y="5216400"/>
            <a:ext cx="17632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C666CFC8-230F-478A-88A3-5BDBE09CE08C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21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29" name="TextShape 26"/>
          <p:cNvSpPr/>
          <p:nvPr/>
        </p:nvSpPr>
        <p:spPr>
          <a:xfrm>
            <a:off x="1408320" y="0"/>
            <a:ext cx="725904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Adapter (</a:t>
            </a: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класса)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0" name="Picture 6" descr="adapt106"/>
          <p:cNvPicPr/>
          <p:nvPr/>
        </p:nvPicPr>
        <p:blipFill>
          <a:blip r:embed="rId1"/>
          <a:srcRect l="2297" t="4797" r="3237" b="6466"/>
          <a:stretch/>
        </p:blipFill>
        <p:spPr>
          <a:xfrm>
            <a:off x="2077560" y="1367280"/>
            <a:ext cx="5879160" cy="2003040"/>
          </a:xfrm>
          <a:prstGeom prst="rect">
            <a:avLst/>
          </a:prstGeom>
          <a:ln w="0">
            <a:noFill/>
          </a:ln>
        </p:spPr>
      </p:pic>
      <p:sp>
        <p:nvSpPr>
          <p:cNvPr id="431" name="TextShape 27"/>
          <p:cNvSpPr/>
          <p:nvPr/>
        </p:nvSpPr>
        <p:spPr>
          <a:xfrm>
            <a:off x="1408320" y="3268440"/>
            <a:ext cx="7259040" cy="17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98000"/>
          </a:bodyPr>
          <a:p>
            <a:pPr marL="283680" indent="-283320">
              <a:lnSpc>
                <a:spcPct val="9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Неприменим, если требуется адаптировать не только конкретный класс, но и его подклассы</a:t>
            </a:r>
            <a:endParaRPr b="0" lang="ru-RU" sz="1979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Возможно изменение в адаптере операций адаптируемого класса</a:t>
            </a:r>
            <a:endParaRPr b="0" lang="ru-RU" sz="1979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Вводится только один объект (непосредственно адаптера)</a:t>
            </a:r>
            <a:endParaRPr b="0" lang="ru-RU" sz="1979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Shape 28"/>
          <p:cNvSpPr/>
          <p:nvPr/>
        </p:nvSpPr>
        <p:spPr>
          <a:xfrm>
            <a:off x="7027560" y="5216400"/>
            <a:ext cx="17632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7E44891E-366B-48FF-B921-AEE80AC6F685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22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33" name="TextShape 29"/>
          <p:cNvSpPr/>
          <p:nvPr/>
        </p:nvSpPr>
        <p:spPr>
          <a:xfrm>
            <a:off x="1408320" y="0"/>
            <a:ext cx="725904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Adapter (</a:t>
            </a: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объекта)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34" name="Picture 8" descr="adapt104"/>
          <p:cNvPicPr/>
          <p:nvPr/>
        </p:nvPicPr>
        <p:blipFill>
          <a:blip r:embed="rId1"/>
          <a:stretch/>
        </p:blipFill>
        <p:spPr>
          <a:xfrm>
            <a:off x="2117520" y="1227600"/>
            <a:ext cx="5839200" cy="2194560"/>
          </a:xfrm>
          <a:prstGeom prst="rect">
            <a:avLst/>
          </a:prstGeom>
          <a:ln w="0">
            <a:noFill/>
          </a:ln>
        </p:spPr>
      </p:pic>
      <p:sp>
        <p:nvSpPr>
          <p:cNvPr id="435" name="TextShape 30"/>
          <p:cNvSpPr/>
          <p:nvPr/>
        </p:nvSpPr>
        <p:spPr>
          <a:xfrm>
            <a:off x="1408320" y="3368520"/>
            <a:ext cx="7259040" cy="17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3680" indent="-283320">
              <a:lnSpc>
                <a:spcPct val="9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Один адаптер может работать со множеством адаптируемых объектов, включая объекты подклассов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Затруднено замещение операций адаптируемого класса</a:t>
            </a:r>
            <a:endParaRPr b="0" lang="ru-RU" sz="232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4"/>
          <p:cNvGraphicFramePr/>
          <p:nvPr>
            <p:extLst>
              <p:ext uri="{D42A27DB-BD31-4B8C-83A1-F6EECF244321}">
                <p14:modId xmlns:p14="http://schemas.microsoft.com/office/powerpoint/2010/main" val="2515868772"/>
              </p:ext>
            </p:extLst>
          </p:nvPr>
        </p:nvGraphicFramePr>
        <p:xfrm>
          <a:off x="1638000" y="227160"/>
          <a:ext cx="6803640" cy="94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36" name="TextShape 31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7" name="Picture 7" descr=""/>
          <p:cNvPicPr/>
          <p:nvPr/>
        </p:nvPicPr>
        <p:blipFill>
          <a:blip r:embed="rId6"/>
          <a:stretch/>
        </p:blipFill>
        <p:spPr>
          <a:xfrm>
            <a:off x="1569600" y="1395360"/>
            <a:ext cx="4779360" cy="411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Shape 32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4454DC65-1401-492C-A741-B317D6EB4536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39" name="TextShape 33"/>
          <p:cNvSpPr/>
          <p:nvPr/>
        </p:nvSpPr>
        <p:spPr>
          <a:xfrm>
            <a:off x="1646640" y="3708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Адаптер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40" name="Picture 10" descr=""/>
          <p:cNvPicPr/>
          <p:nvPr/>
        </p:nvPicPr>
        <p:blipFill>
          <a:blip r:embed="rId1"/>
          <a:stretch/>
        </p:blipFill>
        <p:spPr>
          <a:xfrm>
            <a:off x="2599200" y="870480"/>
            <a:ext cx="5127840" cy="419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34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5CB0FB16-C22A-4C92-9614-87349BFAD919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42" name="TextShape 35"/>
          <p:cNvSpPr/>
          <p:nvPr/>
        </p:nvSpPr>
        <p:spPr>
          <a:xfrm>
            <a:off x="1646640" y="3708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Адаптер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43" name="Picture 9" descr=""/>
          <p:cNvPicPr/>
          <p:nvPr/>
        </p:nvPicPr>
        <p:blipFill>
          <a:blip r:embed="rId1"/>
          <a:stretch/>
        </p:blipFill>
        <p:spPr>
          <a:xfrm>
            <a:off x="2480040" y="882720"/>
            <a:ext cx="5087520" cy="464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TextShape 36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21BA6184-9540-4600-89CC-009F8134D41F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45" name="TextShape 37"/>
          <p:cNvSpPr/>
          <p:nvPr/>
        </p:nvSpPr>
        <p:spPr>
          <a:xfrm>
            <a:off x="1646640" y="3708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Адаптер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46" name="Picture 12" descr=""/>
          <p:cNvPicPr/>
          <p:nvPr/>
        </p:nvPicPr>
        <p:blipFill>
          <a:blip r:embed="rId1"/>
          <a:stretch/>
        </p:blipFill>
        <p:spPr>
          <a:xfrm>
            <a:off x="1720800" y="1980720"/>
            <a:ext cx="6638040" cy="170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Shape 38"/>
          <p:cNvSpPr/>
          <p:nvPr/>
        </p:nvSpPr>
        <p:spPr>
          <a:xfrm>
            <a:off x="6678360" y="5256000"/>
            <a:ext cx="1763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82B81C9D-2A26-4ACB-8501-6000330848B6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48" name="TextShape 39"/>
          <p:cNvSpPr/>
          <p:nvPr/>
        </p:nvSpPr>
        <p:spPr>
          <a:xfrm>
            <a:off x="1646640" y="3708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Адаптер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49" name="Picture 11" descr=""/>
          <p:cNvPicPr/>
          <p:nvPr/>
        </p:nvPicPr>
        <p:blipFill>
          <a:blip r:embed="rId1"/>
          <a:stretch/>
        </p:blipFill>
        <p:spPr>
          <a:xfrm>
            <a:off x="2354400" y="894960"/>
            <a:ext cx="5423760" cy="454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Shape 40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7000"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Назначение паттерна «Фабричный метод»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51" name="TextShape 41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Определяет интерфейс для создания объекта, но оставляет подклассам решение о том, какой класс инстанцировать</a:t>
            </a:r>
            <a:endParaRPr b="0" lang="ru-RU" sz="2640" spc="-1" strike="noStrike">
              <a:latin typeface="Arial"/>
            </a:endParaRPr>
          </a:p>
          <a:p>
            <a:pPr lvl="1" marL="614520" indent="-23616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Фабричный метод</a:t>
            </a:r>
            <a:r>
              <a:rPr b="0" lang="en-US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позволяет классу делегировать инстанцирование подклассам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Альтернативное название паттерна – «Виртуальный конструктор»</a:t>
            </a:r>
            <a:endParaRPr b="0" lang="ru-RU" sz="264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TextShape 43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Структура</a:t>
            </a:r>
            <a:endParaRPr b="0" lang="ru-RU" sz="3640" spc="-1" strike="noStrike">
              <a:latin typeface="Arial"/>
            </a:endParaRPr>
          </a:p>
        </p:txBody>
      </p:sp>
      <p:pic>
        <p:nvPicPr>
          <p:cNvPr id="453" name="Picture 13" descr=""/>
          <p:cNvPicPr/>
          <p:nvPr/>
        </p:nvPicPr>
        <p:blipFill>
          <a:blip r:embed="rId1"/>
          <a:stretch/>
        </p:blipFill>
        <p:spPr>
          <a:xfrm>
            <a:off x="1732320" y="2303640"/>
            <a:ext cx="6885360" cy="2716200"/>
          </a:xfrm>
          <a:prstGeom prst="rect">
            <a:avLst/>
          </a:prstGeom>
          <a:ln w="0">
            <a:noFill/>
          </a:ln>
        </p:spPr>
      </p:pic>
      <p:sp>
        <p:nvSpPr>
          <p:cNvPr id="454" name="CustomShape 4"/>
          <p:cNvSpPr/>
          <p:nvPr/>
        </p:nvSpPr>
        <p:spPr>
          <a:xfrm>
            <a:off x="1260000" y="1535760"/>
            <a:ext cx="2479680" cy="707760"/>
          </a:xfrm>
          <a:prstGeom prst="borderCallout1">
            <a:avLst>
              <a:gd name="adj1" fmla="val 108008"/>
              <a:gd name="adj2" fmla="val 5332"/>
              <a:gd name="adj3" fmla="val 155236"/>
              <a:gd name="adj4" fmla="val 17883"/>
            </a:avLst>
          </a:prstGeom>
          <a:gradFill rotWithShape="0">
            <a:gsLst>
              <a:gs pos="0">
                <a:srgbClr val="ffc1be"/>
              </a:gs>
              <a:gs pos="100000">
                <a:srgbClr val="ffe5e5"/>
              </a:gs>
            </a:gsLst>
            <a:lin ang="16200000"/>
          </a:gradFill>
          <a:ln w="28440">
            <a:solidFill>
              <a:srgbClr val="be4b48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74520" rIns="74520" tIns="37080" bIns="370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Определяет интерфейс объектов, создаваемых фабричным методом</a:t>
            </a:r>
            <a:endParaRPr b="0" lang="ru-RU" sz="1320" spc="-1" strike="noStrike">
              <a:latin typeface="Arial"/>
            </a:endParaRPr>
          </a:p>
        </p:txBody>
      </p:sp>
      <p:sp>
        <p:nvSpPr>
          <p:cNvPr id="455" name="CustomShape 5"/>
          <p:cNvSpPr/>
          <p:nvPr/>
        </p:nvSpPr>
        <p:spPr>
          <a:xfrm>
            <a:off x="1319040" y="4902480"/>
            <a:ext cx="1830240" cy="530640"/>
          </a:xfrm>
          <a:prstGeom prst="borderCallout1">
            <a:avLst>
              <a:gd name="adj1" fmla="val -3102"/>
              <a:gd name="adj2" fmla="val 6900"/>
              <a:gd name="adj3" fmla="val -102540"/>
              <a:gd name="adj4" fmla="val 20497"/>
            </a:avLst>
          </a:prstGeom>
          <a:gradFill rotWithShape="0">
            <a:gsLst>
              <a:gs pos="0">
                <a:srgbClr val="ffc1be"/>
              </a:gs>
              <a:gs pos="100000">
                <a:srgbClr val="ffe5e5"/>
              </a:gs>
            </a:gsLst>
            <a:lin ang="16200000"/>
          </a:gradFill>
          <a:ln w="28440">
            <a:solidFill>
              <a:srgbClr val="be4b48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74520" rIns="74520" tIns="37080" bIns="370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Реализует интерфейс </a:t>
            </a:r>
            <a:r>
              <a:rPr b="0" lang="en-US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Product</a:t>
            </a:r>
            <a:endParaRPr b="0" lang="ru-RU" sz="1320" spc="-1" strike="noStrike">
              <a:latin typeface="Arial"/>
            </a:endParaRPr>
          </a:p>
        </p:txBody>
      </p:sp>
      <p:sp>
        <p:nvSpPr>
          <p:cNvPr id="456" name="CustomShape 9"/>
          <p:cNvSpPr/>
          <p:nvPr/>
        </p:nvSpPr>
        <p:spPr>
          <a:xfrm>
            <a:off x="4390560" y="900000"/>
            <a:ext cx="4969440" cy="1343880"/>
          </a:xfrm>
          <a:prstGeom prst="borderCallout1">
            <a:avLst>
              <a:gd name="adj1" fmla="val 108008"/>
              <a:gd name="adj2" fmla="val 5332"/>
              <a:gd name="adj3" fmla="val 127158"/>
              <a:gd name="adj4" fmla="val 1138"/>
            </a:avLst>
          </a:prstGeom>
          <a:gradFill rotWithShape="0">
            <a:gsLst>
              <a:gs pos="0">
                <a:srgbClr val="ffc1be"/>
              </a:gs>
              <a:gs pos="100000">
                <a:srgbClr val="ffe5e5"/>
              </a:gs>
            </a:gsLst>
            <a:lin ang="16200000"/>
          </a:gradFill>
          <a:ln w="28440">
            <a:solidFill>
              <a:srgbClr val="be4b48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74520" rIns="74520" tIns="37080" bIns="37080" anchor="ctr">
            <a:noAutofit/>
          </a:bodyPr>
          <a:p>
            <a:pPr marL="216000" indent="-1785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Объявляет фабричный метод, возвращающий объект типа Product, может также определять реализацию по умолчанию данного фабричного метода</a:t>
            </a:r>
            <a:endParaRPr b="0" lang="ru-RU" sz="1320" spc="-1" strike="noStrike">
              <a:latin typeface="Arial"/>
            </a:endParaRPr>
          </a:p>
          <a:p>
            <a:pPr marL="216000" indent="-1785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ru-RU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Может вызывать фабричный метод для создания объекта Product.</a:t>
            </a:r>
            <a:endParaRPr b="0" lang="ru-RU" sz="1320" spc="-1" strike="noStrike">
              <a:latin typeface="Arial"/>
            </a:endParaRPr>
          </a:p>
        </p:txBody>
      </p:sp>
      <p:sp>
        <p:nvSpPr>
          <p:cNvPr id="457" name="CustomShape 10"/>
          <p:cNvSpPr/>
          <p:nvPr/>
        </p:nvSpPr>
        <p:spPr>
          <a:xfrm>
            <a:off x="3681720" y="4902480"/>
            <a:ext cx="2479680" cy="648720"/>
          </a:xfrm>
          <a:prstGeom prst="borderCallout1">
            <a:avLst>
              <a:gd name="adj1" fmla="val -5773"/>
              <a:gd name="adj2" fmla="val 6686"/>
              <a:gd name="adj3" fmla="val -141409"/>
              <a:gd name="adj4" fmla="val 29631"/>
            </a:avLst>
          </a:prstGeom>
          <a:gradFill rotWithShape="0">
            <a:gsLst>
              <a:gs pos="0">
                <a:srgbClr val="ffc1be"/>
              </a:gs>
              <a:gs pos="100000">
                <a:srgbClr val="ffe5e5"/>
              </a:gs>
            </a:gsLst>
            <a:lin ang="16200000"/>
          </a:gradFill>
          <a:ln w="28440">
            <a:solidFill>
              <a:srgbClr val="be4b48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74520" rIns="74520" tIns="37080" bIns="3708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ru-RU" sz="1320" spc="-1" strike="noStrike">
                <a:solidFill>
                  <a:srgbClr val="000000"/>
                </a:solidFill>
                <a:latin typeface="Calibri"/>
                <a:ea typeface="DejaVu Sans"/>
              </a:rPr>
              <a:t>Замещает фабричный метод, возвращающий объект ConcreteProduct</a:t>
            </a:r>
            <a:endParaRPr b="0" lang="ru-RU" sz="13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1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21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31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41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Shape 45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7000"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Отношения между участниками паттерна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59" name="TextShape 46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Создатель </a:t>
            </a: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«полагается» на свои </a:t>
            </a:r>
            <a:r>
              <a:rPr b="1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подклассы</a:t>
            </a: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 в определении фабричного метода, который будет возвращать экземпляр подходящего конкретного продукта</a:t>
            </a:r>
            <a:endParaRPr b="0" lang="ru-RU" sz="264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Shape 48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Применимость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61" name="TextShape 49"/>
          <p:cNvSpPr/>
          <p:nvPr/>
        </p:nvSpPr>
        <p:spPr>
          <a:xfrm>
            <a:off x="1638000" y="132300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3680" indent="-283320">
              <a:lnSpc>
                <a:spcPct val="9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Классу заранее неизвестно, объекты каких классов ему нужно создавать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Класс спроектирован так, чтобы объекты, которые он создает, специфицировались подклассами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Класс делегирует свои обязанности одному из нескольких вспомогательных подклассов</a:t>
            </a:r>
            <a:endParaRPr b="0" lang="ru-RU" sz="2320" spc="-1" strike="noStrike">
              <a:latin typeface="Arial"/>
            </a:endParaRPr>
          </a:p>
          <a:p>
            <a:pPr lvl="1" marL="614520" indent="-236160">
              <a:lnSpc>
                <a:spcPct val="9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тип конкретного вспомогательного подкласса выбирается в ходе выполнения программы</a:t>
            </a:r>
            <a:endParaRPr b="0" lang="ru-RU" sz="197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TextShape 51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Пример использования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63" name="TextShape 52"/>
          <p:cNvSpPr/>
          <p:nvPr/>
        </p:nvSpPr>
        <p:spPr>
          <a:xfrm>
            <a:off x="1646640" y="989280"/>
            <a:ext cx="68036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1000"/>
          </a:bodyPr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Каркас приложения, позволяющего пользователю работать с различными типами документов</a:t>
            </a:r>
            <a:endParaRPr b="0" lang="ru-RU" sz="2640" spc="-1" strike="noStrike">
              <a:latin typeface="Arial"/>
            </a:endParaRPr>
          </a:p>
          <a:p>
            <a:pPr lvl="1" marL="614520" indent="-23616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Основные абстракции в таком каркасе – классы </a:t>
            </a:r>
            <a:r>
              <a:rPr b="0" lang="en-US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CApplication </a:t>
            </a: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и </a:t>
            </a:r>
            <a:r>
              <a:rPr b="0" lang="en-US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CDocument</a:t>
            </a:r>
            <a:endParaRPr b="0" lang="ru-RU" sz="2320" spc="-1" strike="noStrike">
              <a:latin typeface="Arial"/>
            </a:endParaRPr>
          </a:p>
          <a:p>
            <a:pPr lvl="2" marL="945000" indent="-188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CApplication – </a:t>
            </a: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управляет созданием и открытием документов</a:t>
            </a:r>
            <a:endParaRPr b="0" lang="ru-RU" sz="1979" spc="-1" strike="noStrike">
              <a:latin typeface="Arial"/>
            </a:endParaRPr>
          </a:p>
          <a:p>
            <a:pPr lvl="2" marL="945000" indent="-188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CDocument – </a:t>
            </a: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базовый абстрактный класс </a:t>
            </a:r>
            <a:r>
              <a:rPr b="0" lang="en-US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CDocument</a:t>
            </a:r>
            <a:r>
              <a:rPr b="0" lang="ru-RU" sz="1979" spc="-1" strike="noStrike">
                <a:solidFill>
                  <a:srgbClr val="000000"/>
                </a:solidFill>
                <a:latin typeface="Calibri"/>
                <a:ea typeface="DejaVu Sans"/>
              </a:rPr>
              <a:t>, основа для создания конкретных документов</a:t>
            </a:r>
            <a:endParaRPr b="0" lang="ru-RU" sz="1979" spc="-1" strike="noStrike">
              <a:latin typeface="Arial"/>
            </a:endParaRPr>
          </a:p>
          <a:p>
            <a:pPr marL="283680" indent="-283320">
              <a:lnSpc>
                <a:spcPct val="100000"/>
              </a:lnSpc>
              <a:spcBef>
                <a:spcPts val="53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Проблема</a:t>
            </a: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 – класс </a:t>
            </a:r>
            <a:r>
              <a:rPr b="0" lang="en-US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CApplication </a:t>
            </a: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знает, в какой момент документ должен быть создан, но ему известно лишь об абстрактном классе </a:t>
            </a:r>
            <a:r>
              <a:rPr b="0" lang="en-US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CDocument</a:t>
            </a: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, который инстанцировать нельзя</a:t>
            </a:r>
            <a:endParaRPr b="0" lang="ru-RU" sz="2640" spc="-1" strike="noStrike">
              <a:latin typeface="Arial"/>
            </a:endParaRPr>
          </a:p>
          <a:p>
            <a:pPr lvl="1" marL="614520" indent="-236160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Паттерн «Фабричный метод»</a:t>
            </a:r>
            <a:r>
              <a:rPr b="0" lang="en-US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предлагает решение данной проблемы</a:t>
            </a:r>
            <a:endParaRPr b="0" lang="ru-RU" sz="23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Shape 54"/>
          <p:cNvSpPr/>
          <p:nvPr/>
        </p:nvSpPr>
        <p:spPr>
          <a:xfrm>
            <a:off x="1638000" y="227160"/>
            <a:ext cx="68036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Иерархия классов</a:t>
            </a:r>
            <a:endParaRPr b="0" lang="ru-RU" sz="3640" spc="-1" strike="noStrike">
              <a:latin typeface="Arial"/>
            </a:endParaRPr>
          </a:p>
        </p:txBody>
      </p:sp>
      <p:grpSp>
        <p:nvGrpSpPr>
          <p:cNvPr id="465" name="Group 2"/>
          <p:cNvGrpSpPr/>
          <p:nvPr/>
        </p:nvGrpSpPr>
        <p:grpSpPr>
          <a:xfrm>
            <a:off x="1496160" y="1594800"/>
            <a:ext cx="7264440" cy="2893320"/>
            <a:chOff x="1496160" y="1594800"/>
            <a:chExt cx="7264440" cy="2893320"/>
          </a:xfrm>
        </p:grpSpPr>
        <p:sp>
          <p:nvSpPr>
            <p:cNvPr id="466" name="CustomShape 6"/>
            <p:cNvSpPr/>
            <p:nvPr/>
          </p:nvSpPr>
          <p:spPr>
            <a:xfrm>
              <a:off x="1673280" y="1771920"/>
              <a:ext cx="1239480" cy="294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CDocument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67" name="CustomShape 7"/>
            <p:cNvSpPr/>
            <p:nvPr/>
          </p:nvSpPr>
          <p:spPr>
            <a:xfrm>
              <a:off x="1673280" y="2067120"/>
              <a:ext cx="1239480" cy="7077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Open()</a:t>
              </a:r>
              <a:endParaRPr b="0" lang="ru-RU" sz="149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i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Close()</a:t>
              </a:r>
              <a:br>
                <a:rPr sz="1490"/>
              </a:br>
              <a:r>
                <a:rPr b="0" i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Save()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68" name="CustomShape 8"/>
            <p:cNvSpPr/>
            <p:nvPr/>
          </p:nvSpPr>
          <p:spPr>
            <a:xfrm>
              <a:off x="5926320" y="3780360"/>
              <a:ext cx="2361600" cy="471600"/>
            </a:xfrm>
            <a:prstGeom prst="foldedCorner">
              <a:avLst>
                <a:gd name="adj" fmla="val 40370"/>
              </a:avLst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2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return new CMyDocument()</a:t>
              </a:r>
              <a:endParaRPr b="0" lang="ru-RU" sz="1320" spc="-1" strike="noStrike">
                <a:latin typeface="Arial"/>
              </a:endParaRPr>
            </a:p>
          </p:txBody>
        </p:sp>
        <p:sp>
          <p:nvSpPr>
            <p:cNvPr id="469" name="CustomShape 11"/>
            <p:cNvSpPr/>
            <p:nvPr/>
          </p:nvSpPr>
          <p:spPr>
            <a:xfrm>
              <a:off x="3740760" y="1771920"/>
              <a:ext cx="1947960" cy="294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CApplication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70" name="CustomShape 13"/>
            <p:cNvSpPr/>
            <p:nvPr/>
          </p:nvSpPr>
          <p:spPr>
            <a:xfrm>
              <a:off x="3740760" y="2067120"/>
              <a:ext cx="1947960" cy="7077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i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CreateDocument()</a:t>
              </a:r>
              <a:endParaRPr b="0" lang="ru-RU" sz="149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NewDocument()</a:t>
              </a:r>
              <a:br>
                <a:rPr sz="1490"/>
              </a:b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OpenDocument()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71" name="CustomShape 14"/>
            <p:cNvSpPr/>
            <p:nvPr/>
          </p:nvSpPr>
          <p:spPr>
            <a:xfrm>
              <a:off x="3740760" y="3485160"/>
              <a:ext cx="1947960" cy="294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CMyApplication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72" name="CustomShape 17"/>
            <p:cNvSpPr/>
            <p:nvPr/>
          </p:nvSpPr>
          <p:spPr>
            <a:xfrm>
              <a:off x="3740760" y="3780360"/>
              <a:ext cx="1947960" cy="4716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CreateDocument()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73" name="CustomShape 20"/>
            <p:cNvSpPr/>
            <p:nvPr/>
          </p:nvSpPr>
          <p:spPr>
            <a:xfrm>
              <a:off x="3504600" y="1831320"/>
              <a:ext cx="235440" cy="176040"/>
            </a:xfrm>
            <a:prstGeom prst="diamond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</p:sp>
        <p:sp>
          <p:nvSpPr>
            <p:cNvPr id="474" name="CustomShape 21"/>
            <p:cNvSpPr/>
            <p:nvPr/>
          </p:nvSpPr>
          <p:spPr>
            <a:xfrm>
              <a:off x="4567680" y="2953440"/>
              <a:ext cx="294120" cy="235440"/>
            </a:xfrm>
            <a:prstGeom prst="triangle">
              <a:avLst>
                <a:gd name="adj" fmla="val 50000"/>
              </a:avLst>
            </a:prstGeom>
            <a:noFill/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75" name="Line 7"/>
            <p:cNvSpPr/>
            <p:nvPr/>
          </p:nvSpPr>
          <p:spPr>
            <a:xfrm>
              <a:off x="4714920" y="3189240"/>
              <a:ext cx="360" cy="295200"/>
            </a:xfrm>
            <a:prstGeom prst="line">
              <a:avLst/>
            </a:prstGeom>
            <a:ln w="2844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76" name="CustomShape 22"/>
            <p:cNvSpPr/>
            <p:nvPr/>
          </p:nvSpPr>
          <p:spPr>
            <a:xfrm>
              <a:off x="1496160" y="3485160"/>
              <a:ext cx="1593720" cy="294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CMyDocument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77" name="CustomShape 23"/>
            <p:cNvSpPr/>
            <p:nvPr/>
          </p:nvSpPr>
          <p:spPr>
            <a:xfrm>
              <a:off x="2145960" y="2953440"/>
              <a:ext cx="294120" cy="235440"/>
            </a:xfrm>
            <a:prstGeom prst="triangle">
              <a:avLst>
                <a:gd name="adj" fmla="val 50000"/>
              </a:avLst>
            </a:prstGeom>
            <a:noFill/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78" name="Line 8"/>
            <p:cNvSpPr/>
            <p:nvPr/>
          </p:nvSpPr>
          <p:spPr>
            <a:xfrm>
              <a:off x="2293200" y="3189240"/>
              <a:ext cx="360" cy="295200"/>
            </a:xfrm>
            <a:prstGeom prst="line">
              <a:avLst/>
            </a:prstGeom>
            <a:ln w="2844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79" name="Line 9"/>
            <p:cNvSpPr/>
            <p:nvPr/>
          </p:nvSpPr>
          <p:spPr>
            <a:xfrm>
              <a:off x="2293200" y="2775960"/>
              <a:ext cx="360" cy="177120"/>
            </a:xfrm>
            <a:prstGeom prst="line">
              <a:avLst/>
            </a:prstGeom>
            <a:ln w="2844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0" name="CustomShape 25"/>
            <p:cNvSpPr/>
            <p:nvPr/>
          </p:nvSpPr>
          <p:spPr>
            <a:xfrm rot="10800000">
              <a:off x="3092040" y="3633480"/>
              <a:ext cx="648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4a7ebb"/>
              </a:solidFill>
              <a:prstDash val="dash"/>
              <a:round/>
              <a:tailEnd len="lg" type="arrow" w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1" name="Line 10"/>
            <p:cNvSpPr/>
            <p:nvPr/>
          </p:nvSpPr>
          <p:spPr>
            <a:xfrm>
              <a:off x="4714920" y="2775960"/>
              <a:ext cx="360" cy="177120"/>
            </a:xfrm>
            <a:prstGeom prst="line">
              <a:avLst/>
            </a:prstGeom>
            <a:ln w="28440">
              <a:solidFill>
                <a:srgbClr val="4a7eb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2" name="Line 11"/>
            <p:cNvSpPr/>
            <p:nvPr/>
          </p:nvSpPr>
          <p:spPr>
            <a:xfrm>
              <a:off x="5630760" y="4016160"/>
              <a:ext cx="295200" cy="360"/>
            </a:xfrm>
            <a:prstGeom prst="line">
              <a:avLst/>
            </a:prstGeom>
            <a:ln w="28440">
              <a:solidFill>
                <a:srgbClr val="4a7ebb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3" name="CustomShape 26"/>
            <p:cNvSpPr/>
            <p:nvPr/>
          </p:nvSpPr>
          <p:spPr>
            <a:xfrm>
              <a:off x="5513040" y="3957480"/>
              <a:ext cx="117000" cy="117000"/>
            </a:xfrm>
            <a:prstGeom prst="ellipse">
              <a:avLst/>
            </a:prstGeom>
            <a:noFill/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4" name="CustomShape 27"/>
            <p:cNvSpPr/>
            <p:nvPr/>
          </p:nvSpPr>
          <p:spPr>
            <a:xfrm>
              <a:off x="5867280" y="2008440"/>
              <a:ext cx="2893320" cy="707760"/>
            </a:xfrm>
            <a:prstGeom prst="foldedCorner">
              <a:avLst>
                <a:gd name="adj" fmla="val 40370"/>
              </a:avLst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32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Document* doc = CreateDocument();</a:t>
              </a:r>
              <a:endParaRPr b="0" lang="ru-RU" sz="132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32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docs.Add(doc);</a:t>
              </a:r>
              <a:endParaRPr b="0" lang="ru-RU" sz="132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32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doc-&gt;Open(filename);</a:t>
              </a:r>
              <a:endParaRPr b="0" lang="ru-RU" sz="1320" spc="-1" strike="noStrike">
                <a:latin typeface="Arial"/>
              </a:endParaRPr>
            </a:p>
          </p:txBody>
        </p:sp>
        <p:sp>
          <p:nvSpPr>
            <p:cNvPr id="485" name="CustomShape 40"/>
            <p:cNvSpPr/>
            <p:nvPr/>
          </p:nvSpPr>
          <p:spPr>
            <a:xfrm flipV="1" rot="10800000">
              <a:off x="2970000" y="1919880"/>
              <a:ext cx="534600" cy="1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440">
              <a:solidFill>
                <a:srgbClr val="4a7ebb"/>
              </a:solidFill>
              <a:round/>
              <a:tailEnd len="lg" type="arrow" w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6" name="CustomShape 41"/>
            <p:cNvSpPr/>
            <p:nvPr/>
          </p:nvSpPr>
          <p:spPr>
            <a:xfrm>
              <a:off x="2913840" y="1893960"/>
              <a:ext cx="54000" cy="54000"/>
            </a:xfrm>
            <a:prstGeom prst="ellipse">
              <a:avLst/>
            </a:prstGeom>
            <a:solidFill>
              <a:srgbClr val="4f81bd"/>
            </a:solidFill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7" name="Line 12"/>
            <p:cNvSpPr/>
            <p:nvPr/>
          </p:nvSpPr>
          <p:spPr>
            <a:xfrm>
              <a:off x="5630760" y="2362320"/>
              <a:ext cx="236160" cy="360"/>
            </a:xfrm>
            <a:prstGeom prst="line">
              <a:avLst/>
            </a:prstGeom>
            <a:ln w="28440">
              <a:solidFill>
                <a:srgbClr val="4a7ebb"/>
              </a:solidFill>
              <a:prstDash val="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8" name="CustomShape 42"/>
            <p:cNvSpPr/>
            <p:nvPr/>
          </p:nvSpPr>
          <p:spPr>
            <a:xfrm>
              <a:off x="5513040" y="2303640"/>
              <a:ext cx="117000" cy="117000"/>
            </a:xfrm>
            <a:prstGeom prst="ellipse">
              <a:avLst/>
            </a:prstGeom>
            <a:noFill/>
            <a:ln>
              <a:solidFill>
                <a:srgbClr val="3a5f8b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489" name="CustomShape 43"/>
            <p:cNvSpPr/>
            <p:nvPr/>
          </p:nvSpPr>
          <p:spPr>
            <a:xfrm>
              <a:off x="1496160" y="3780360"/>
              <a:ext cx="1593720" cy="7077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74520" rIns="74520" tIns="37080" bIns="37080" anchor="ctr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Open()</a:t>
              </a:r>
              <a:endParaRPr b="0" lang="ru-RU" sz="149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Close()</a:t>
              </a:r>
              <a:br>
                <a:rPr sz="1490"/>
              </a:br>
              <a:r>
                <a:rPr b="0" lang="en-US" sz="149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Save()</a:t>
              </a:r>
              <a:endParaRPr b="0" lang="ru-RU" sz="1490" spc="-1" strike="noStrike">
                <a:latin typeface="Arial"/>
              </a:endParaRPr>
            </a:p>
          </p:txBody>
        </p:sp>
        <p:sp>
          <p:nvSpPr>
            <p:cNvPr id="490" name="CustomShape 44"/>
            <p:cNvSpPr/>
            <p:nvPr/>
          </p:nvSpPr>
          <p:spPr>
            <a:xfrm>
              <a:off x="3268440" y="1594800"/>
              <a:ext cx="530640" cy="25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4520" rIns="74520" tIns="37080" bIns="3708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160" spc="-1" strike="noStrike">
                  <a:solidFill>
                    <a:srgbClr val="000000"/>
                  </a:solidFill>
                  <a:latin typeface="Calibri"/>
                  <a:ea typeface="DejaVu Sans"/>
                </a:rPr>
                <a:t>docs</a:t>
              </a:r>
              <a:endParaRPr b="0" lang="ru-RU" sz="116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Picture 14" descr=""/>
          <p:cNvPicPr/>
          <p:nvPr/>
        </p:nvPicPr>
        <p:blipFill>
          <a:blip r:embed="rId1"/>
          <a:stretch/>
        </p:blipFill>
        <p:spPr>
          <a:xfrm>
            <a:off x="1348920" y="453600"/>
            <a:ext cx="7466760" cy="404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Picture 15" descr=""/>
          <p:cNvPicPr/>
          <p:nvPr/>
        </p:nvPicPr>
        <p:blipFill>
          <a:blip r:embed="rId1"/>
          <a:stretch/>
        </p:blipFill>
        <p:spPr>
          <a:xfrm>
            <a:off x="1589400" y="239040"/>
            <a:ext cx="6899400" cy="519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CustomShape 12"/>
          <p:cNvSpPr/>
          <p:nvPr/>
        </p:nvSpPr>
        <p:spPr>
          <a:xfrm>
            <a:off x="180000" y="0"/>
            <a:ext cx="9540000" cy="55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520" rIns="74520" tIns="37080" bIns="3708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1. Приведите все создаваемые продукты к общему интерфейсу.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2. В классе, который производит продукты, создайте пустой фабричный метод. В качестве возвращаемого типа укажите общий интерфейс продукта.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3. Затем пройдитесь по коду класса и найдите все участки, создающие продукты. Поочерёдно замените эти участки вызовами фабричного метода, перенося в него код создания различных продуктов.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В фабричный метод, возможно, придётся добавить несколько параметров, контролирующих, какой из продуктов нужно создать.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На этом этапе фабричный метод, скорее всего, будет выглядеть удручающе. В нём будет жить большой условный оператор, выбирающий класс создаваемого продукта. Но не волнуйтесь, мы вот-вот исправим это.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4. Для каждого типа продуктов заведите подкласс и переопределите в нём фабричный метод. Переместите туда код создания соответствующего продукта из суперкласса.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5. Если создаваемых продуктов слишком много для существующих подклассов создателя, вы можете подумать о введении параметров в фабричный метод, которые позволят возвращать различные продукты в пределах одного подкласса.</a:t>
            </a: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ru-RU" sz="14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490" spc="-1" strike="noStrike">
                <a:solidFill>
                  <a:srgbClr val="000000"/>
                </a:solidFill>
                <a:latin typeface="Calibri"/>
                <a:ea typeface="DejaVu Sans"/>
              </a:rPr>
              <a:t>6. Если после всех перемещений фабричный метод стал пустым, можете сделать его абстрактным. Если в нём что-то осталось — не беда, это будет его реализацией по умолчанию.</a:t>
            </a:r>
            <a:endParaRPr b="0" lang="ru-RU" sz="14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Picture 16" descr=""/>
          <p:cNvPicPr/>
          <p:nvPr/>
        </p:nvPicPr>
        <p:blipFill>
          <a:blip r:embed="rId1"/>
          <a:stretch/>
        </p:blipFill>
        <p:spPr>
          <a:xfrm>
            <a:off x="1632600" y="1299600"/>
            <a:ext cx="6813000" cy="307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Picture 17" descr=""/>
          <p:cNvPicPr/>
          <p:nvPr/>
        </p:nvPicPr>
        <p:blipFill>
          <a:blip r:embed="rId1"/>
          <a:stretch/>
        </p:blipFill>
        <p:spPr>
          <a:xfrm>
            <a:off x="1632600" y="1299600"/>
            <a:ext cx="6813000" cy="307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Shape 1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B188991F-C495-48FD-BB82-99DEB82E6CE8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497" name="TextShape 2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endParaRPr b="0" lang="ru-RU" sz="3640" spc="-1" strike="noStrike">
              <a:latin typeface="Arial"/>
            </a:endParaRPr>
          </a:p>
        </p:txBody>
      </p:sp>
      <p:sp>
        <p:nvSpPr>
          <p:cNvPr id="498" name="TextShape 3"/>
          <p:cNvSpPr/>
          <p:nvPr/>
        </p:nvSpPr>
        <p:spPr>
          <a:xfrm>
            <a:off x="1638000" y="1323000"/>
            <a:ext cx="6804000" cy="37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83680" indent="-283320">
              <a:lnSpc>
                <a:spcPct val="90000"/>
              </a:lnSpc>
              <a:spcBef>
                <a:spcPts val="1488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Название и классификация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Декоратор – паттерн, структурирующий объекты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1488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Назначение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Динамически добавляет объекту новые обязанности. Является гибкой альтернативой порождению подклассов с целью расширения функциональности</a:t>
            </a:r>
            <a:endParaRPr b="0" lang="ru-RU" sz="2320" spc="-1" strike="noStrike">
              <a:latin typeface="Arial"/>
            </a:endParaRPr>
          </a:p>
          <a:p>
            <a:pPr marL="283680" indent="-283320">
              <a:lnSpc>
                <a:spcPct val="90000"/>
              </a:lnSpc>
              <a:spcBef>
                <a:spcPts val="1488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Calibri"/>
                <a:ea typeface="DejaVu Sans"/>
              </a:rPr>
              <a:t>Известен также под именем</a:t>
            </a:r>
            <a:br>
              <a:rPr sz="1490"/>
            </a:br>
            <a:r>
              <a:rPr b="0" lang="ru-RU" sz="2320" spc="-1" strike="noStrike">
                <a:solidFill>
                  <a:srgbClr val="000000"/>
                </a:solidFill>
                <a:latin typeface="Calibri"/>
                <a:ea typeface="DejaVu Sans"/>
              </a:rPr>
              <a:t>Wrapper</a:t>
            </a:r>
            <a:endParaRPr b="0" lang="ru-RU" sz="232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Shape 4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6FF09469-CA50-4935-8377-A537E60FA500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500" name="TextShape 5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Мотивация</a:t>
            </a:r>
            <a:endParaRPr b="0" lang="ru-RU" sz="2640" spc="-1" strike="noStrike">
              <a:latin typeface="Arial"/>
            </a:endParaRPr>
          </a:p>
        </p:txBody>
      </p:sp>
      <p:pic>
        <p:nvPicPr>
          <p:cNvPr id="501" name="Picture 2" descr=""/>
          <p:cNvPicPr/>
          <p:nvPr/>
        </p:nvPicPr>
        <p:blipFill>
          <a:blip r:embed="rId1"/>
          <a:stretch/>
        </p:blipFill>
        <p:spPr>
          <a:xfrm>
            <a:off x="3075480" y="1227600"/>
            <a:ext cx="4286160" cy="1513440"/>
          </a:xfrm>
          <a:prstGeom prst="rect">
            <a:avLst/>
          </a:prstGeom>
          <a:ln w="0">
            <a:noFill/>
          </a:ln>
        </p:spPr>
      </p:pic>
      <p:pic>
        <p:nvPicPr>
          <p:cNvPr id="502" name="Picture 3" descr=""/>
          <p:cNvPicPr/>
          <p:nvPr/>
        </p:nvPicPr>
        <p:blipFill>
          <a:blip r:embed="rId2"/>
          <a:stretch/>
        </p:blipFill>
        <p:spPr>
          <a:xfrm>
            <a:off x="2599200" y="2835360"/>
            <a:ext cx="5079240" cy="2733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Shape 7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BBDEDF2A-6369-4ACE-9AFA-F6988CDB2DEE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504" name="TextShape 6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Применимость</a:t>
            </a:r>
            <a:endParaRPr b="0" lang="ru-RU" sz="2640" spc="-1" strike="noStrike">
              <a:latin typeface="Arial"/>
            </a:endParaRPr>
          </a:p>
        </p:txBody>
      </p:sp>
      <p:sp>
        <p:nvSpPr>
          <p:cNvPr id="505" name="TextShape 10"/>
          <p:cNvSpPr/>
          <p:nvPr/>
        </p:nvSpPr>
        <p:spPr>
          <a:xfrm>
            <a:off x="1638000" y="1323000"/>
            <a:ext cx="6804000" cy="37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83680" indent="-283320">
              <a:lnSpc>
                <a:spcPct val="80000"/>
              </a:lnSpc>
              <a:spcBef>
                <a:spcPts val="1488"/>
              </a:spcBef>
              <a:buNone/>
              <a:tabLst>
                <a:tab algn="l" pos="0"/>
              </a:tabLst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Используйте паттерн декоратор:</a:t>
            </a:r>
            <a:endParaRPr b="0" lang="ru-RU" sz="264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для динамического, прозрачного для клиентов добавления обязанностей объектам</a:t>
            </a:r>
            <a:endParaRPr b="0" lang="ru-RU" sz="264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для реализации обязанностей, которые могут быть сняты с объекта</a:t>
            </a:r>
            <a:endParaRPr b="0" lang="ru-RU" sz="264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когда расширение путем порождения подклассов по каким-то причинам неудобно или невозможно</a:t>
            </a:r>
            <a:endParaRPr b="0" lang="ru-RU" sz="264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Shape 8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4C1C0CC6-C757-4266-ABA6-9C6B62B12D9C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pic>
        <p:nvPicPr>
          <p:cNvPr id="507" name="Picture 1" descr=""/>
          <p:cNvPicPr/>
          <p:nvPr/>
        </p:nvPicPr>
        <p:blipFill>
          <a:blip r:embed="rId1"/>
          <a:stretch/>
        </p:blipFill>
        <p:spPr>
          <a:xfrm>
            <a:off x="1646640" y="453600"/>
            <a:ext cx="6906240" cy="437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Shape 9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7648A990-6D1E-4457-A506-FACAF091C556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509" name="TextShape 13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Особенности</a:t>
            </a:r>
            <a:endParaRPr b="0" lang="ru-RU" sz="2640" spc="-1" strike="noStrike">
              <a:latin typeface="Arial"/>
            </a:endParaRPr>
          </a:p>
        </p:txBody>
      </p:sp>
      <p:sp>
        <p:nvSpPr>
          <p:cNvPr id="510" name="TextShape 14"/>
          <p:cNvSpPr/>
          <p:nvPr/>
        </p:nvSpPr>
        <p:spPr>
          <a:xfrm>
            <a:off x="1638000" y="1323000"/>
            <a:ext cx="6804000" cy="37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1000"/>
          </a:bodyPr>
          <a:p>
            <a:pPr marL="283680" indent="-283320">
              <a:lnSpc>
                <a:spcPct val="8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Большая гибкость, чем у статического наследования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Создание цепочек декораторов, в том числе из одних и тех же в одной цепочке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Позволяет избежать перегруженных функциями классов на верхних уровнях иерархии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Декоратор и его компонент не идентичны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32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Множество мелких объектов</a:t>
            </a:r>
            <a:endParaRPr b="0" lang="ru-RU" sz="2480" spc="-1" strike="noStrike">
              <a:latin typeface="Arial"/>
            </a:endParaRPr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Shape 11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F7070825-C118-454A-BA90-DC6DCCC7E522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512" name="TextShape 12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Особенности</a:t>
            </a:r>
            <a:endParaRPr b="0" lang="ru-RU" sz="2640" spc="-1" strike="noStrike">
              <a:latin typeface="Arial"/>
            </a:endParaRPr>
          </a:p>
        </p:txBody>
      </p:sp>
      <p:sp>
        <p:nvSpPr>
          <p:cNvPr id="513" name="TextShape 16"/>
          <p:cNvSpPr/>
          <p:nvPr/>
        </p:nvSpPr>
        <p:spPr>
          <a:xfrm>
            <a:off x="1638000" y="1323000"/>
            <a:ext cx="6804000" cy="374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9000"/>
          </a:bodyPr>
          <a:p>
            <a:pPr marL="283680" indent="-283320">
              <a:lnSpc>
                <a:spcPct val="80000"/>
              </a:lnSpc>
              <a:spcBef>
                <a:spcPts val="182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Соответствие интерфейсов декоратора и декорируемого объекта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82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Возможное отсутствие абстрактного класса декоратора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82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Облегчение, по возможности,</a:t>
            </a:r>
            <a:br>
              <a:rPr sz="1490"/>
            </a:b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 декорируемого класса</a:t>
            </a:r>
            <a:endParaRPr b="0" lang="ru-RU" sz="2480" spc="-1" strike="noStrike">
              <a:latin typeface="Arial"/>
            </a:endParaRPr>
          </a:p>
          <a:p>
            <a:pPr marL="283680" indent="-283320">
              <a:lnSpc>
                <a:spcPct val="80000"/>
              </a:lnSpc>
              <a:spcBef>
                <a:spcPts val="182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Изменяется «облик», </a:t>
            </a:r>
            <a:br>
              <a:rPr sz="1490"/>
            </a:b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а не внутренне </a:t>
            </a:r>
            <a:br>
              <a:rPr sz="1490"/>
            </a:br>
            <a:r>
              <a:rPr b="0" lang="ru-RU" sz="2480" spc="-1" strike="noStrike">
                <a:solidFill>
                  <a:srgbClr val="000000"/>
                </a:solidFill>
                <a:latin typeface="Calibri"/>
                <a:ea typeface="DejaVu Sans"/>
              </a:rPr>
              <a:t>устройство объекта</a:t>
            </a:r>
            <a:endParaRPr b="0" lang="ru-RU" sz="2480" spc="-1" strike="noStrike">
              <a:latin typeface="Arial"/>
            </a:endParaRPr>
          </a:p>
        </p:txBody>
      </p:sp>
      <p:pic>
        <p:nvPicPr>
          <p:cNvPr id="514" name="Рисунок 1" descr=""/>
          <p:cNvPicPr/>
          <p:nvPr/>
        </p:nvPicPr>
        <p:blipFill>
          <a:blip r:embed="rId1"/>
          <a:stretch/>
        </p:blipFill>
        <p:spPr>
          <a:xfrm>
            <a:off x="5576040" y="3510000"/>
            <a:ext cx="3137040" cy="164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TextShape 15"/>
          <p:cNvSpPr/>
          <p:nvPr/>
        </p:nvSpPr>
        <p:spPr>
          <a:xfrm>
            <a:off x="6678360" y="5256000"/>
            <a:ext cx="1763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</a:pPr>
            <a:fld id="{74D910DC-875D-4859-8E7C-6538EE4D5BEF}" type="slidenum">
              <a:rPr b="0" lang="ru-RU" sz="989" spc="-1" strike="noStrike">
                <a:solidFill>
                  <a:srgbClr val="8b8b8b"/>
                </a:solidFill>
                <a:latin typeface="Calibri"/>
                <a:ea typeface="DejaVu Sans"/>
              </a:rPr>
              <a:t>&lt;номер&gt;</a:t>
            </a:fld>
            <a:endParaRPr b="0" lang="ru-RU" sz="989" spc="-1" strike="noStrike">
              <a:latin typeface="Arial"/>
            </a:endParaRPr>
          </a:p>
        </p:txBody>
      </p:sp>
      <p:sp>
        <p:nvSpPr>
          <p:cNvPr id="516" name="TextShape 18"/>
          <p:cNvSpPr/>
          <p:nvPr/>
        </p:nvSpPr>
        <p:spPr>
          <a:xfrm>
            <a:off x="1638000" y="227160"/>
            <a:ext cx="6804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9000"/>
          </a:bodyPr>
          <a:p>
            <a:pPr algn="ctr">
              <a:lnSpc>
                <a:spcPct val="100000"/>
              </a:lnSpc>
              <a:buNone/>
            </a:pPr>
            <a:r>
              <a:rPr b="0" lang="en-US" sz="3640" spc="-1" strike="noStrike">
                <a:solidFill>
                  <a:srgbClr val="000000"/>
                </a:solidFill>
                <a:latin typeface="Calibri"/>
                <a:ea typeface="DejaVu Sans"/>
              </a:rPr>
              <a:t>Decorator</a:t>
            </a:r>
            <a:br>
              <a:rPr sz="1490"/>
            </a:br>
            <a:r>
              <a:rPr b="0" lang="ru-RU" sz="2640" spc="-1" strike="noStrike">
                <a:solidFill>
                  <a:srgbClr val="000000"/>
                </a:solidFill>
                <a:latin typeface="Calibri"/>
                <a:ea typeface="DejaVu Sans"/>
              </a:rPr>
              <a:t>Особенности</a:t>
            </a:r>
            <a:endParaRPr b="0" lang="ru-RU" sz="2640" spc="-1" strike="noStrike">
              <a:latin typeface="Arial"/>
            </a:endParaRPr>
          </a:p>
        </p:txBody>
      </p:sp>
      <p:pic>
        <p:nvPicPr>
          <p:cNvPr id="517" name="Picture 4" descr=""/>
          <p:cNvPicPr/>
          <p:nvPr/>
        </p:nvPicPr>
        <p:blipFill>
          <a:blip r:embed="rId1"/>
          <a:stretch/>
        </p:blipFill>
        <p:spPr>
          <a:xfrm>
            <a:off x="1534320" y="1240200"/>
            <a:ext cx="7009920" cy="318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1638000" y="227160"/>
            <a:ext cx="6804360" cy="58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6000"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Rectangle 6"/>
          <p:cNvSpPr/>
          <p:nvPr/>
        </p:nvSpPr>
        <p:spPr>
          <a:xfrm>
            <a:off x="1408320" y="1353240"/>
            <a:ext cx="7259760" cy="380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5600" rIns="75600" tIns="37800" bIns="37800" anchor="ctr">
            <a:normAutofit fontScale="82000"/>
          </a:bodyPr>
          <a:p>
            <a:pPr marL="343080" indent="-343080">
              <a:lnSpc>
                <a:spcPct val="85000"/>
              </a:lnSpc>
              <a:spcBef>
                <a:spcPts val="46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Название и классификация</a:t>
            </a:r>
            <a:br>
              <a:rPr sz="2320"/>
            </a:b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шаблонный метод, </a:t>
            </a:r>
            <a:r>
              <a:rPr b="0" lang="en-US" sz="1979" spc="-1" strike="noStrike">
                <a:solidFill>
                  <a:srgbClr val="000000"/>
                </a:solidFill>
                <a:latin typeface="Arial"/>
                <a:ea typeface="DejaVu Sans"/>
              </a:rPr>
              <a:t>template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 – паттерн, обеспечивающий поведение объектов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Назначение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Определяет скелет алгоритма, перекладывая ответственность за некоторые его шаги на подклассы. Паттерн позволяет подклассам переопределять шаги алгоритма, не меняя его общей структуры</a:t>
            </a: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ru-RU" sz="1979" spc="-1" strike="noStrike">
              <a:latin typeface="Arial"/>
            </a:endParaRPr>
          </a:p>
          <a:p>
            <a:pPr marL="343080" indent="-343080">
              <a:lnSpc>
                <a:spcPct val="85000"/>
              </a:lnSpc>
              <a:spcBef>
                <a:spcPts val="992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Применимость</a:t>
            </a:r>
            <a:endParaRPr b="0" lang="ru-RU" sz="2320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подклассы должны расширять базовый алгоритм, не меняя его структуры</a:t>
            </a:r>
            <a:endParaRPr b="0" lang="ru-RU" sz="1979" spc="-1" strike="noStrike">
              <a:latin typeface="Arial"/>
            </a:endParaRPr>
          </a:p>
          <a:p>
            <a:pPr lvl="1" marL="743040" indent="-285840">
              <a:lnSpc>
                <a:spcPct val="85000"/>
              </a:lnSpc>
              <a:spcBef>
                <a:spcPts val="397"/>
              </a:spcBef>
              <a:buClr>
                <a:srgbClr val="000000"/>
              </a:buClr>
              <a:buFont typeface="Arial"/>
              <a:buChar char="–"/>
            </a:pPr>
            <a:r>
              <a:rPr b="1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Когда у вас есть несколько классов, делающих одно и то же с незначительными отличиями. Если вы редактируете один класс, то приходится вносить такие же правки и в остальные классы</a:t>
            </a:r>
            <a:endParaRPr b="0" lang="ru-RU" sz="1979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9559C9D-FC50-400E-B161-5A0F243326DF}" type="slidenum">
              <a:t>47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28600" indent="-228600">
              <a:lnSpc>
                <a:spcPct val="90000"/>
              </a:lnSpc>
              <a:spcBef>
                <a:spcPts val="1653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Название и классификация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Итератор – паттерн поведения объектов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653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Назначение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Предоставляет способ последовательного доступа ко всем элементам составного объекта, не раскрывая его внутреннего представления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653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4f81bd"/>
                </a:solidFill>
                <a:latin typeface="Arial"/>
                <a:ea typeface="DejaVu Sans"/>
              </a:rPr>
              <a:t>Известен также под именем</a:t>
            </a:r>
            <a:br>
              <a:rPr sz="2320"/>
            </a:b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Cursor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AC207D0-4EAF-44C6-A8DB-09494542B85F}" type="slidenum">
              <a:t>48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8000"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br>
              <a:rPr sz="4400"/>
            </a:br>
            <a:r>
              <a:rPr b="0" lang="ru-RU" sz="2640" spc="-1" strike="noStrike">
                <a:solidFill>
                  <a:srgbClr val="000000"/>
                </a:solidFill>
                <a:latin typeface="Arial"/>
                <a:ea typeface="DejaVu Sans"/>
              </a:rPr>
              <a:t>Мотивация</a:t>
            </a:r>
            <a:endParaRPr b="0" lang="ru-RU" sz="2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3" name="Picture 23" descr="itera039"/>
          <p:cNvPicPr/>
          <p:nvPr/>
        </p:nvPicPr>
        <p:blipFill>
          <a:blip r:embed="rId1"/>
          <a:stretch/>
        </p:blipFill>
        <p:spPr>
          <a:xfrm>
            <a:off x="3423240" y="1228680"/>
            <a:ext cx="3223440" cy="1303200"/>
          </a:xfrm>
          <a:prstGeom prst="rect">
            <a:avLst/>
          </a:prstGeom>
          <a:ln w="0">
            <a:noFill/>
          </a:ln>
        </p:spPr>
      </p:pic>
      <p:pic>
        <p:nvPicPr>
          <p:cNvPr id="524" name="Picture 24" descr="itera040"/>
          <p:cNvPicPr/>
          <p:nvPr/>
        </p:nvPicPr>
        <p:blipFill>
          <a:blip r:embed="rId2"/>
          <a:stretch/>
        </p:blipFill>
        <p:spPr>
          <a:xfrm>
            <a:off x="2598840" y="2537280"/>
            <a:ext cx="4970520" cy="2643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2CEEB04-284B-46B9-AFED-B20783F6FECF}" type="slidenum">
              <a:t>49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8000"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br>
              <a:rPr sz="4400"/>
            </a:br>
            <a:r>
              <a:rPr b="0" lang="ru-RU" sz="2640" spc="-1" strike="noStrike">
                <a:solidFill>
                  <a:srgbClr val="000000"/>
                </a:solidFill>
                <a:latin typeface="Arial"/>
                <a:ea typeface="DejaVu Sans"/>
              </a:rPr>
              <a:t>Применимость</a:t>
            </a:r>
            <a:endParaRPr b="0" lang="ru-RU" sz="2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1408320" y="1353240"/>
            <a:ext cx="7259760" cy="380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28600" indent="-228600">
              <a:lnSpc>
                <a:spcPct val="80000"/>
              </a:lnSpc>
              <a:spcBef>
                <a:spcPts val="1488"/>
              </a:spcBef>
              <a:buNone/>
              <a:tabLst>
                <a:tab algn="l" pos="0"/>
              </a:tabLst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Используйте итератор: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Для доступа к содержимому агрегированных объектов без раскрытия их внутреннего представления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Для поддержки нескольких активных обходов одного и того же агрегированного объекта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80000"/>
              </a:lnSpc>
              <a:spcBef>
                <a:spcPts val="1488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Для предоставления единообразного интерфейса с целью обхода различных агрегированных структур (для поддержки полиморфной итерации)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8249AE1-1D53-4142-9ACD-CFB241BC37D6}" type="slidenum">
              <a:t>50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8000"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br>
              <a:rPr sz="4400"/>
            </a:br>
            <a:r>
              <a:rPr b="0" lang="ru-RU" sz="2640" spc="-1" strike="noStrike">
                <a:solidFill>
                  <a:srgbClr val="000000"/>
                </a:solidFill>
                <a:latin typeface="Arial"/>
                <a:ea typeface="DejaVu Sans"/>
              </a:rPr>
              <a:t>Структура</a:t>
            </a:r>
            <a:endParaRPr b="0" lang="ru-RU" sz="2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8" name="Picture 25" descr="iterator"/>
          <p:cNvPicPr/>
          <p:nvPr/>
        </p:nvPicPr>
        <p:blipFill>
          <a:blip r:embed="rId1"/>
          <a:stretch/>
        </p:blipFill>
        <p:spPr>
          <a:xfrm>
            <a:off x="1408320" y="1586880"/>
            <a:ext cx="7057800" cy="3236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1269E58-79BD-409C-A69D-4E9E7127E874}" type="slidenum">
              <a:t>51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0" name="Picture 26" descr=""/>
          <p:cNvPicPr/>
          <p:nvPr/>
        </p:nvPicPr>
        <p:blipFill>
          <a:blip r:embed="rId1"/>
          <a:stretch/>
        </p:blipFill>
        <p:spPr>
          <a:xfrm>
            <a:off x="3016080" y="1168200"/>
            <a:ext cx="4768920" cy="4340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C7A8DFB-98C2-4B40-A3D2-79D2E2F84C2D}" type="slidenum">
              <a:t>52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2" name="Picture 27" descr=""/>
          <p:cNvPicPr/>
          <p:nvPr/>
        </p:nvPicPr>
        <p:blipFill>
          <a:blip r:embed="rId1"/>
          <a:stretch/>
        </p:blipFill>
        <p:spPr>
          <a:xfrm>
            <a:off x="2420640" y="1525320"/>
            <a:ext cx="5772600" cy="24724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B385751-B4E8-413D-BAB0-24124E4F37B5}" type="slidenum">
              <a:t>53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4" name="Picture 28" descr=""/>
          <p:cNvPicPr/>
          <p:nvPr/>
        </p:nvPicPr>
        <p:blipFill>
          <a:blip r:embed="rId1"/>
          <a:stretch/>
        </p:blipFill>
        <p:spPr>
          <a:xfrm>
            <a:off x="2067120" y="1307520"/>
            <a:ext cx="5945760" cy="3055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D2FC8C-C907-4C17-B1A9-E3F029EEEA73}" type="slidenum">
              <a:t>54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Iterator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1638000" y="1323000"/>
            <a:ext cx="6804360" cy="180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28600" indent="-228600">
              <a:lnSpc>
                <a:spcPct val="8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320" spc="-1" strike="noStrike">
                <a:solidFill>
                  <a:srgbClr val="000000"/>
                </a:solidFill>
                <a:latin typeface="Arial"/>
                <a:ea typeface="DejaVu Sans"/>
              </a:rPr>
              <a:t>Особенности</a:t>
            </a:r>
            <a:endParaRPr b="0" lang="ru-RU" sz="232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Поддерживает различные виды обхода агрегата</a:t>
            </a:r>
            <a:endParaRPr b="0" lang="ru-RU" sz="1979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Итераторы упрощают интерфейс класса-агрегата</a:t>
            </a:r>
            <a:endParaRPr b="0" lang="ru-RU" sz="1979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979" spc="-1" strike="noStrike">
                <a:solidFill>
                  <a:srgbClr val="000000"/>
                </a:solidFill>
                <a:latin typeface="Arial"/>
                <a:ea typeface="DejaVu Sans"/>
              </a:rPr>
              <a:t>Одновременно для данного агрегата может быть активно несколько обходов</a:t>
            </a:r>
            <a:endParaRPr b="0" lang="ru-RU" sz="1979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ru-RU" sz="149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7" name="Рисунок 3" descr=""/>
          <p:cNvPicPr/>
          <p:nvPr/>
        </p:nvPicPr>
        <p:blipFill>
          <a:blip r:embed="rId1"/>
          <a:stretch/>
        </p:blipFill>
        <p:spPr>
          <a:xfrm>
            <a:off x="4147200" y="3073320"/>
            <a:ext cx="1918080" cy="2237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E2E3321-98DB-4712-B47C-4040BD33C5B2}" type="slidenum">
              <a:t>55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5"/>
          <p:cNvGraphicFramePr/>
          <p:nvPr>
            <p:extLst>
              <p:ext uri="{D42A27DB-BD31-4B8C-83A1-F6EECF244321}">
                <p14:modId xmlns:p14="http://schemas.microsoft.com/office/powerpoint/2010/main" val="2457893414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38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Определить алгоритм и реализовать возможность переопределения некоторых шагов алгоритма для подклассов (без изменения общей структуры алгоритма.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6"/>
          <p:cNvGraphicFramePr/>
          <p:nvPr>
            <p:extLst>
              <p:ext uri="{D42A27DB-BD31-4B8C-83A1-F6EECF244321}">
                <p14:modId xmlns:p14="http://schemas.microsoft.com/office/powerpoint/2010/main" val="309433625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39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  <a:ea typeface="DejaVu Sans"/>
              </a:rPr>
              <a:t>АбстрактныйКласс" определяет абстрактные Операции(), замещаемые в конкретных подклассах для реализации шагов алгоритма, и реализует ШаблонныйМетод(), определяющий "скелет" алгоритма. "КонкретныйКласс" релизует Операции(), выполняющие шаги алгоритма способом, который зависит от подкласса. "КонкретныйКласс" предполагает, что инвариантные шаги алгоритма будут выполнены в "АбстрактномКлассе".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7"/>
          <p:cNvGraphicFramePr/>
          <p:nvPr>
            <p:extLst>
              <p:ext uri="{D42A27DB-BD31-4B8C-83A1-F6EECF244321}">
                <p14:modId xmlns:p14="http://schemas.microsoft.com/office/powerpoint/2010/main" val="666955916"/>
              </p:ext>
            </p:extLst>
          </p:nvPr>
        </p:nvGraphicFramePr>
        <p:xfrm>
          <a:off x="1638000" y="227160"/>
          <a:ext cx="6804360" cy="94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540" name="Picture 20" descr=""/>
          <p:cNvPicPr/>
          <p:nvPr/>
        </p:nvPicPr>
        <p:blipFill>
          <a:blip r:embed="rId6"/>
          <a:stretch/>
        </p:blipFill>
        <p:spPr>
          <a:xfrm>
            <a:off x="2662920" y="1337040"/>
            <a:ext cx="4754160" cy="371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2" name="Picture 21" descr=""/>
          <p:cNvPicPr/>
          <p:nvPr/>
        </p:nvPicPr>
        <p:blipFill>
          <a:blip r:embed="rId1"/>
          <a:stretch/>
        </p:blipFill>
        <p:spPr>
          <a:xfrm>
            <a:off x="2098800" y="1071000"/>
            <a:ext cx="5882760" cy="4599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A7FB24-4799-4F9C-9580-390059E2A5AA}" type="slidenum">
              <a:t>59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DejaVu Sans"/>
              </a:rPr>
              <a:t>Шаблон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4" name="Picture 22" descr=""/>
          <p:cNvPicPr/>
          <p:nvPr/>
        </p:nvPicPr>
        <p:blipFill>
          <a:blip r:embed="rId1"/>
          <a:stretch/>
        </p:blipFill>
        <p:spPr>
          <a:xfrm>
            <a:off x="2027880" y="1362600"/>
            <a:ext cx="6024600" cy="2945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20692FB-70E1-4331-BE47-9CC9F33A48C6}" type="slidenum">
              <a:t>60</a:t>
            </a:fld>
          </a:p>
        </p:txBody>
      </p:sp>
    </p:spTree>
  </p:cSld>
  <mc:AlternateContent>
    <mc:Choice Requires="p14">
      <p:transition spd="slow" p14:dur="16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  <Words>1162</Words>
  <Paragraphs>204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2021-01-19T18:14:00Z</dcterms:created>
  <dc:creator>Жук Арсений Сергеевич</dc:creator>
  <dc:description/>
  <dc:language>ru-RU</dc:language>
  <cp:lastModifiedBy/>
  <dcterms:modified xsi:type="dcterms:W3CDTF">2024-09-30T14:38:53Z</dcterms:modified>
  <cp:revision>40</cp:revision>
  <dc:subject/>
  <dc:title>Classy Red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ICV">
    <vt:lpwstr>7450A538B59F47B28A9C5A9612727B88</vt:lpwstr>
  </property>
  <property fmtid="{D5CDD505-2E9C-101B-9397-08002B2CF9AE}" pid="5" name="KSOProductBuildVer">
    <vt:lpwstr>1049-11.2.0.10443</vt:lpwstr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Произвольный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47</vt:i4>
  </property>
</Properties>
</file>