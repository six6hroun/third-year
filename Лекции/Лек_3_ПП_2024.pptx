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diagrams/quickStyle3.xml" ContentType="application/vnd.openxmlformats-officedocument.drawingml.diagramStyl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3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_rels/presentation.xml.rels" ContentType="application/vnd.openxmlformats-package.relationships+xml"/>
  <Override PartName="/ppt/media/image23.png" ContentType="image/png"/>
  <Override PartName="/ppt/media/image5.png" ContentType="image/png"/>
  <Override PartName="/ppt/media/image10.png" ContentType="image/png"/>
  <Override PartName="/ppt/media/image30.png" ContentType="image/png"/>
  <Override PartName="/ppt/media/image28.wmf" ContentType="image/x-wmf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22.jpeg" ContentType="image/jpeg"/>
  <Override PartName="/ppt/media/image9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4.xml" ContentType="application/vnd.openxmlformats-officedocument.presentationml.slide+xml"/>
  <Override PartName="/ppt/slides/slide9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Проблема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7864C5C-13CF-4A7D-8DDD-03EE0FF2FC5A}" type="presOf" srcId="{3F685927-FB4F-4064-8DB5-6B9E9D2B3179}" destId="{6A00D6F5-8A9E-4D30-A92B-42AA7B7ABA00}" srcOrd="0" destOrd="0" presId="urn:microsoft.com/office/officeart/2005/8/layout/vList2"/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A0056F24-DF74-40A3-9ED8-09F4E356A608}" type="presOf" srcId="{9245D56F-DF2F-4ED1-AE7F-7ED0FBE4CA71}" destId="{82F9B57D-D607-41A5-A6B1-F5DE03C5642B}" srcOrd="0" destOrd="0" presId="urn:microsoft.com/office/officeart/2005/8/layout/vList2"/>
    <dgm:cxn modelId="{3BCDFD62-AD77-4ACF-905A-75B605EACC04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Решение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EFD7710-6E13-4EE2-B22F-0B83D526DC43}" type="presOf" srcId="{9245D56F-DF2F-4ED1-AE7F-7ED0FBE4CA71}" destId="{82F9B57D-D607-41A5-A6B1-F5DE03C5642B}" srcOrd="0" destOrd="0" presId="urn:microsoft.com/office/officeart/2005/8/layout/vList2"/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14E31D15-AEDB-46CA-B9F5-EF4E90EC6885}" type="presOf" srcId="{3F685927-FB4F-4064-8DB5-6B9E9D2B3179}" destId="{6A00D6F5-8A9E-4D30-A92B-42AA7B7ABA00}" srcOrd="0" destOrd="0" presId="urn:microsoft.com/office/officeart/2005/8/layout/vList2"/>
    <dgm:cxn modelId="{DA59274A-FBB5-467E-83BE-B42806C0080C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Структура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4CDC84C6-F029-48D4-A575-807F795480B9}" type="presOf" srcId="{3F685927-FB4F-4064-8DB5-6B9E9D2B3179}" destId="{6A00D6F5-8A9E-4D30-A92B-42AA7B7ABA00}" srcOrd="0" destOrd="0" presId="urn:microsoft.com/office/officeart/2005/8/layout/vList2"/>
    <dgm:cxn modelId="{26441737-CD31-4D57-B2C3-EF19E7D647AD}" type="presOf" srcId="{9245D56F-DF2F-4ED1-AE7F-7ED0FBE4CA71}" destId="{82F9B57D-D607-41A5-A6B1-F5DE03C5642B}" srcOrd="0" destOrd="0" presId="urn:microsoft.com/office/officeart/2005/8/layout/vList2"/>
    <dgm:cxn modelId="{52F8FE21-9994-4001-909A-9CE017C4C34C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101489"/>
          <a:ext cx="680466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Шаблонный метод - Проблема</a:t>
          </a:r>
          <a:endParaRPr lang="ru-RU" sz="3500" kern="1200" dirty="0"/>
        </a:p>
      </dsp:txBody>
      <dsp:txXfrm>
        <a:off x="39980" y="141469"/>
        <a:ext cx="6724700" cy="7390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90888"/>
          <a:ext cx="680466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Шаблонный метод - Решение</a:t>
          </a:r>
          <a:endParaRPr lang="ru-RU" sz="3600" kern="1200" dirty="0"/>
        </a:p>
      </dsp:txBody>
      <dsp:txXfrm>
        <a:off x="41123" y="132011"/>
        <a:ext cx="6722414" cy="760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101489"/>
          <a:ext cx="680466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Шаблонный метод - Структура</a:t>
          </a:r>
          <a:endParaRPr lang="ru-RU" sz="3500" kern="1200" dirty="0"/>
        </a:p>
      </dsp:txBody>
      <dsp:txXfrm>
        <a:off x="39980" y="141469"/>
        <a:ext cx="6724700" cy="739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</a:t>
            </a:r>
            <a:r>
              <a:rPr b="0" lang="ru-RU" sz="4400" spc="-1" strike="noStrike">
                <a:latin typeface="Arial"/>
              </a:rPr>
              <a:t>перем</a:t>
            </a:r>
            <a:r>
              <a:rPr b="0" lang="ru-RU" sz="4400" spc="-1" strike="noStrike">
                <a:latin typeface="Arial"/>
              </a:rPr>
              <a:t>ещени</a:t>
            </a:r>
            <a:r>
              <a:rPr b="0" lang="ru-RU" sz="4400" spc="-1" strike="noStrike">
                <a:latin typeface="Arial"/>
              </a:rPr>
              <a:t>я </a:t>
            </a:r>
            <a:r>
              <a:rPr b="0" lang="ru-RU" sz="4400" spc="-1" strike="noStrike">
                <a:latin typeface="Arial"/>
              </a:rPr>
              <a:t>страни</a:t>
            </a:r>
            <a:r>
              <a:rPr b="0" lang="ru-RU" sz="4400" spc="-1" strike="noStrike">
                <a:latin typeface="Arial"/>
              </a:rPr>
              <a:t>цы </a:t>
            </a:r>
            <a:r>
              <a:rPr b="0" lang="ru-RU" sz="4400" spc="-1" strike="noStrike">
                <a:latin typeface="Arial"/>
              </a:rPr>
              <a:t>щёлкн</a:t>
            </a:r>
            <a:r>
              <a:rPr b="0" lang="ru-RU" sz="4400" spc="-1" strike="noStrike">
                <a:latin typeface="Arial"/>
              </a:rPr>
              <a:t>ите </a:t>
            </a:r>
            <a:r>
              <a:rPr b="0" lang="ru-RU" sz="4400" spc="-1" strike="noStrike">
                <a:latin typeface="Arial"/>
              </a:rPr>
              <a:t>мышь</a:t>
            </a:r>
            <a:r>
              <a:rPr b="0" lang="ru-RU" sz="4400" spc="-1" strike="noStrike">
                <a:latin typeface="Arial"/>
              </a:rPr>
              <a:t>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dt" idx="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ftr" idx="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5ABAC44-AA80-4592-A454-7F84D03EEBA7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Num" idx="19"/>
          </p:nvPr>
        </p:nvSpPr>
        <p:spPr>
          <a:xfrm>
            <a:off x="4281480" y="10155240"/>
            <a:ext cx="327600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03A59AB-18D0-4AE5-89F7-A4600BBA6C42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2680" cy="360756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3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7640" cy="420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000" spc="-1" strike="noStrike">
                <a:latin typeface="Arial"/>
              </a:rPr>
              <a:t>Паттерны проектирования</a:t>
            </a:r>
            <a:r>
              <a:rPr b="0" lang="ru-RU" sz="2000" spc="-1" strike="noStrike">
                <a:latin typeface="Arial"/>
              </a:rPr>
              <a:t> - эффективные способы решения характерных задач проектирования компьютерных программ</a:t>
            </a:r>
            <a:endParaRPr b="0" lang="ru-RU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latin typeface="Arial"/>
              </a:rPr>
              <a:t>Представляют собой обобщенное описание решения задачи, которое можно использовать в различных ситуациях</a:t>
            </a:r>
            <a:endParaRPr b="0" lang="ru-RU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latin typeface="Arial"/>
              </a:rPr>
              <a:t>ОО паттерны проектирования часто показывают отношения и взаимодействия между классами или объектами без определения того какие именно классы и объекты будут использоваться</a:t>
            </a:r>
            <a:endParaRPr b="0" lang="ru-RU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latin typeface="Arial"/>
              </a:rPr>
              <a:t>Алгоритмы не являются паттернами, т.к. решают задачу вычисления а не программирования</a:t>
            </a:r>
            <a:endParaRPr b="0" lang="ru-RU" sz="20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2680" cy="3607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7640" cy="420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0"/>
          </p:nvPr>
        </p:nvSpPr>
        <p:spPr>
          <a:xfrm>
            <a:off x="4281480" y="10155240"/>
            <a:ext cx="327600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A664161-46AE-4890-9383-03C6607F8E78}" type="slidenum">
              <a:rPr b="0" lang="ru-RU" sz="1200" spc="-1" strike="noStrike">
                <a:solidFill>
                  <a:srgbClr val="000000"/>
                </a:solidFill>
                <a:latin typeface="Calibri"/>
                <a:ea typeface="+mn-ea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CA4EEE-86EE-47DA-AAB9-1AA6A20511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F4C299-760F-4095-A742-384A323A66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3449D0-6041-4011-8267-91C60366BF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08DBFB-7D4A-4ADA-A9A4-FF5989DC50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F8F8B9-0007-4B14-8DC2-071CBDBD05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D56536-EC0C-480D-A56F-18D5B983A3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B903E0-3759-4EE8-B5FD-A4B10C64AA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EFCA3A-8B97-45F2-82FC-7723D03A42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E5B5D6-2E40-4E2F-A88B-53866AF81A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C1BD7E-B19B-427C-9F31-3C4CD3670B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BF13A9-911A-4B99-A4ED-8ABD2739EF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8675F5-549F-4E05-BC92-A5E102A05E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FC8D70B-E75A-4CD3-95F1-F33543B147C7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FCDBEE8-5FEE-45C0-B36E-9AE18502470A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2E8F9B5-7F63-4DF9-B95A-D0B288DC7FD4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ED3E666-4507-42AD-B675-362ED66C3C7D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9DFFA66-85E7-47BC-AFAF-35052C206145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DC9A1D9-F0F5-4803-8B73-0306B59EBB04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4908665-7D06-4438-B949-C78A0E2D8082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81C8AB6-1CBD-42A5-8E01-9285010AD868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2311750-1F98-4C21-BB3B-F609E9A56DD5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EA1A495-8DC3-47D5-B353-7BE6E9734503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B4A044C-AA97-411E-9847-FB942FFD171C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EA4066E-EA4E-4A0E-A250-218E2FA8B6F0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103DE45-C9D5-43ED-820B-F450787FFD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0517249-EC05-4DA9-8E81-236EBB2609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A536FF4-26EB-43B9-BE6B-9FCBA5276D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DE11079-D232-4F6B-A224-78F7EBA5F4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7ED15D0-3827-47B3-8611-1F1EDB8472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7909FB5-03FF-4A4A-B9B7-43AC741270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7C20FE7-DCC7-41BC-BED1-E10D0EAE42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D76341A-73C1-41F3-A5E8-1C08F5FE33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1C9B588-FAED-4A73-AD2B-2985955A47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3345F3E-6FAD-4CB7-9F41-8681D48AC8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3DDC748-517A-4B76-BF2D-37A3288790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2D87E1C-CF49-4AFF-9C2E-D5D1A9F142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3" descr=""/>
          <p:cNvPicPr/>
          <p:nvPr/>
        </p:nvPicPr>
        <p:blipFill>
          <a:blip r:embed="rId2"/>
          <a:stretch/>
        </p:blipFill>
        <p:spPr>
          <a:xfrm>
            <a:off x="0" y="5104800"/>
            <a:ext cx="10077840" cy="578880"/>
          </a:xfrm>
          <a:prstGeom prst="rect">
            <a:avLst/>
          </a:prstGeom>
          <a:ln w="0">
            <a:noFill/>
          </a:ln>
        </p:spPr>
      </p:pic>
      <p:pic>
        <p:nvPicPr>
          <p:cNvPr id="1" name="Рисунок 4" descr=""/>
          <p:cNvPicPr/>
          <p:nvPr/>
        </p:nvPicPr>
        <p:blipFill>
          <a:blip r:embed="rId3"/>
          <a:stretch/>
        </p:blipFill>
        <p:spPr>
          <a:xfrm>
            <a:off x="0" y="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41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42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C419276B-4AEE-440E-B692-9F95A7579EB8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122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123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7891D98F-E1DE-4356-AA03-AC23B1C116AC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165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166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68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1372E5BF-6E3A-47C1-8480-061D3A75179E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Num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fld id="{9849554C-3002-438B-B757-9D3E4E8D1814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211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212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14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8FB9B2BD-C870-4D15-A5CA-E92131318669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4"/>
          </p:nvPr>
        </p:nvSpPr>
        <p:spPr>
          <a:xfrm>
            <a:off x="7689960" y="5216400"/>
            <a:ext cx="2351520" cy="3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fld id="{AEF62BF9-369F-4D6E-B97E-C9D16D0A1470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255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256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BF81D27B-0B33-4341-B4AF-365F31EE2C4D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</a:t>
            </a:r>
            <a:r>
              <a:rPr b="0" lang="ru-RU" sz="1800" spc="-1" strike="noStrike">
                <a:latin typeface="Arial"/>
              </a:rPr>
              <a:t>заглавия щёлкните </a:t>
            </a:r>
            <a:r>
              <a:rPr b="0" lang="ru-RU" sz="1800" spc="-1" strike="noStrike">
                <a:latin typeface="Arial"/>
              </a:rPr>
              <a:t>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8200" cy="322200"/>
          </a:xfrm>
          <a:prstGeom prst="rect">
            <a:avLst/>
          </a:prstGeom>
          <a:ln w="0">
            <a:noFill/>
          </a:ln>
        </p:spPr>
      </p:pic>
      <p:pic>
        <p:nvPicPr>
          <p:cNvPr id="299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8200" cy="322200"/>
          </a:xfrm>
          <a:prstGeom prst="rect">
            <a:avLst/>
          </a:prstGeom>
          <a:ln w="0">
            <a:noFill/>
          </a:ln>
        </p:spPr>
      </p:pic>
      <p:sp>
        <p:nvSpPr>
          <p:cNvPr id="300" name="CustomShape 1"/>
          <p:cNvSpPr/>
          <p:nvPr/>
        </p:nvSpPr>
        <p:spPr>
          <a:xfrm>
            <a:off x="1728360" y="5400360"/>
            <a:ext cx="234648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4221360" y="5400360"/>
            <a:ext cx="319320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02" name="CustomShape 3"/>
          <p:cNvSpPr/>
          <p:nvPr/>
        </p:nvSpPr>
        <p:spPr>
          <a:xfrm>
            <a:off x="7659720" y="5400360"/>
            <a:ext cx="234648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0D8F8F6E-3581-463C-A027-EE4F6717D936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Образ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ец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заголо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вка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Образец текста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Второй уровень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DejaVu Sans"/>
              </a:rPr>
              <a:t>Третий уровень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Четвертый уровень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Пятый уровень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dt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&lt;дата/время&gt;</a:t>
            </a:r>
            <a:endParaRPr b="0" lang="ru-RU" sz="1800" spc="-1" strike="noStrike">
              <a:latin typeface="Times New Roman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ftr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fld id="{0C2346D1-DE82-4B1E-B635-7B3F6B9EAF65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8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8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image" Target="../media/image28.wmf"/><Relationship Id="rId7" Type="http://schemas.openxmlformats.org/officeDocument/2006/relationships/slideLayout" Target="../slideLayouts/slideLayout8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8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7920" y="648000"/>
            <a:ext cx="9069480" cy="2733840"/>
          </a:xfrm>
          <a:prstGeom prst="rect">
            <a:avLst/>
          </a:prstGeom>
          <a:solidFill>
            <a:srgbClr val="c7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ffffff"/>
                </a:solidFill>
                <a:latin typeface="Arial"/>
                <a:ea typeface="DejaVu Sans"/>
              </a:rPr>
              <a:t>Паттерны программирования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2553120" y="3496680"/>
            <a:ext cx="6516360" cy="14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DejaVu Sans"/>
              </a:rPr>
              <a:t>Лекция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DejaVu Sans"/>
              </a:rPr>
              <a:t>Введение в ООП проектирование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CustomShape 1"/>
          <p:cNvSpPr/>
          <p:nvPr/>
        </p:nvSpPr>
        <p:spPr>
          <a:xfrm>
            <a:off x="504000" y="56556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c7243a"/>
                </a:solidFill>
                <a:latin typeface="Arial"/>
                <a:ea typeface="DejaVu Sans"/>
              </a:rPr>
              <a:t>Учебные вопросы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53" name="CustomShape 2"/>
          <p:cNvSpPr/>
          <p:nvPr/>
        </p:nvSpPr>
        <p:spPr>
          <a:xfrm>
            <a:off x="2374560" y="1800000"/>
            <a:ext cx="5037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Основные принципы ООП проектирования. Отношения между классами.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Паттерны. Суть и классификация.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Одиночка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4. Шаблон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Shape 1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55" name="CustomShape 3"/>
          <p:cNvSpPr/>
          <p:nvPr/>
        </p:nvSpPr>
        <p:spPr>
          <a:xfrm>
            <a:off x="2256120" y="2880000"/>
            <a:ext cx="4511160" cy="15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4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Ассоциация</a:t>
            </a:r>
            <a:endParaRPr b="0" lang="ru-RU" sz="2200" spc="-1" strike="noStrike">
              <a:latin typeface="Arial"/>
            </a:endParaRPr>
          </a:p>
          <a:p>
            <a:pPr marL="285840" indent="-2854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аггрегация;</a:t>
            </a:r>
            <a:endParaRPr b="0" lang="ru-RU" sz="2200" spc="-1" strike="noStrike">
              <a:latin typeface="Arial"/>
            </a:endParaRPr>
          </a:p>
          <a:p>
            <a:pPr marL="285840" indent="-28548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200" spc="-1" strike="noStrike">
                <a:solidFill>
                  <a:srgbClr val="000000"/>
                </a:solidFill>
                <a:latin typeface="Arial"/>
                <a:ea typeface="DejaVu Sans"/>
              </a:rPr>
              <a:t>композиция;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Shape 2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1"/>
          <a:stretch/>
        </p:blipFill>
        <p:spPr>
          <a:xfrm>
            <a:off x="2448000" y="2376000"/>
            <a:ext cx="4094640" cy="229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Shape 3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359" name="" descr=""/>
          <p:cNvPicPr/>
          <p:nvPr/>
        </p:nvPicPr>
        <p:blipFill>
          <a:blip r:embed="rId1"/>
          <a:stretch/>
        </p:blipFill>
        <p:spPr>
          <a:xfrm>
            <a:off x="2808000" y="2520000"/>
            <a:ext cx="3599280" cy="296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Shape 4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1"/>
          <a:stretch/>
        </p:blipFill>
        <p:spPr>
          <a:xfrm>
            <a:off x="2411280" y="2448000"/>
            <a:ext cx="4428000" cy="282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Shape 5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2411280" y="2448000"/>
            <a:ext cx="4428000" cy="282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Shape 6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1"/>
          <a:stretch/>
        </p:blipFill>
        <p:spPr>
          <a:xfrm>
            <a:off x="2428200" y="2166480"/>
            <a:ext cx="4123080" cy="380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Shape 7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367" name="" descr=""/>
          <p:cNvPicPr/>
          <p:nvPr/>
        </p:nvPicPr>
        <p:blipFill>
          <a:blip r:embed="rId1"/>
          <a:stretch/>
        </p:blipFill>
        <p:spPr>
          <a:xfrm>
            <a:off x="2280960" y="2356920"/>
            <a:ext cx="4342320" cy="289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Shape 8"/>
          <p:cNvSpPr/>
          <p:nvPr/>
        </p:nvSpPr>
        <p:spPr>
          <a:xfrm>
            <a:off x="1486080" y="833400"/>
            <a:ext cx="6171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8000"/>
          </a:bodyPr>
          <a:p>
            <a:pPr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Делегация или наследование</a:t>
            </a:r>
            <a:endParaRPr b="0" lang="ru-RU" sz="4400" spc="-1" strike="noStrike">
              <a:latin typeface="Arial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1853640" y="272160"/>
            <a:ext cx="5409000" cy="630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CustomShape 1"/>
          <p:cNvSpPr/>
          <p:nvPr/>
        </p:nvSpPr>
        <p:spPr>
          <a:xfrm>
            <a:off x="504000" y="301680"/>
            <a:ext cx="8782200" cy="12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c7243a"/>
                </a:solidFill>
                <a:latin typeface="Arial"/>
                <a:ea typeface="DejaVu Sans"/>
              </a:rPr>
              <a:t>Введение в паттерны проектирования</a:t>
            </a:r>
            <a:endParaRPr b="0" lang="ru-RU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2488680" y="689040"/>
            <a:ext cx="510264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9000"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Признаки плохого кода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72" name="TextBox 4"/>
          <p:cNvSpPr/>
          <p:nvPr/>
        </p:nvSpPr>
        <p:spPr>
          <a:xfrm>
            <a:off x="3174840" y="1763640"/>
            <a:ext cx="373032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дублирование кода;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длинный метод;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большой класс;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длинный список параметров;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классы данных;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несгруппированные данные.</a:t>
            </a:r>
            <a:endParaRPr b="0" lang="ru-RU" sz="18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2466000" y="870480"/>
            <a:ext cx="510264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Причины возникновения</a:t>
            </a:r>
            <a:br>
              <a:rPr sz="4400"/>
            </a:b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плохого кода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74" name="TextBox 2"/>
          <p:cNvSpPr/>
          <p:nvPr/>
        </p:nvSpPr>
        <p:spPr>
          <a:xfrm>
            <a:off x="2763000" y="2299320"/>
            <a:ext cx="479340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Частые изменения в требованиях, противоречащие исходной архитектуре;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недостаточно времени сделать работу качественно;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глупый менеджер/начальник/заказчик и т.д.</a:t>
            </a:r>
            <a:endParaRPr b="0" lang="ru-RU" sz="1820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820" spc="-1" strike="noStrike">
                <a:solidFill>
                  <a:srgbClr val="000000"/>
                </a:solidFill>
                <a:latin typeface="Arial"/>
                <a:ea typeface="DejaVu Sans"/>
              </a:rPr>
              <a:t>Ваш вариант.</a:t>
            </a:r>
            <a:endParaRPr b="0" lang="ru-RU" sz="18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2488680" y="708840"/>
            <a:ext cx="5102640" cy="170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3309" spc="-1" strike="noStrike">
                <a:solidFill>
                  <a:srgbClr val="000000"/>
                </a:solidFill>
                <a:latin typeface="Arial"/>
                <a:ea typeface="DejaVu Sans"/>
              </a:rPr>
              <a:t>Настоящие</a:t>
            </a:r>
            <a:r>
              <a:rPr b="1" lang="en-US" sz="3309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br>
              <a:rPr sz="3310"/>
            </a:br>
            <a:r>
              <a:rPr b="1" lang="ru-RU" sz="3309" spc="-1" strike="noStrike">
                <a:solidFill>
                  <a:srgbClr val="000000"/>
                </a:solidFill>
                <a:latin typeface="Arial"/>
                <a:ea typeface="DejaVu Sans"/>
              </a:rPr>
              <a:t>причины возникновения</a:t>
            </a:r>
            <a:br>
              <a:rPr sz="3310"/>
            </a:br>
            <a:r>
              <a:rPr b="1" lang="ru-RU" sz="3309" spc="-1" strike="noStrike">
                <a:solidFill>
                  <a:srgbClr val="000000"/>
                </a:solidFill>
                <a:latin typeface="Arial"/>
                <a:ea typeface="DejaVu Sans"/>
              </a:rPr>
              <a:t>плохого кода</a:t>
            </a:r>
            <a:endParaRPr b="0" lang="ru-RU" sz="3309" spc="-1" strike="noStrike">
              <a:latin typeface="Arial"/>
            </a:endParaRPr>
          </a:p>
        </p:txBody>
      </p:sp>
      <p:sp>
        <p:nvSpPr>
          <p:cNvPr id="376" name="TextBox 2"/>
          <p:cNvSpPr/>
          <p:nvPr/>
        </p:nvSpPr>
        <p:spPr>
          <a:xfrm>
            <a:off x="3940200" y="3013920"/>
            <a:ext cx="3493800" cy="9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Непрофессионализм</a:t>
            </a:r>
            <a:endParaRPr b="0" lang="ru-RU" sz="1979" spc="-1" strike="noStrike">
              <a:latin typeface="Arial"/>
            </a:endParaRPr>
          </a:p>
          <a:p>
            <a:pPr marL="236160" indent="-23616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Лень</a:t>
            </a:r>
            <a:endParaRPr b="0" lang="ru-RU" sz="197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504000" y="38016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8000"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Механизмы повторного использования в ООП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62000"/>
          </a:bodyPr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Наследование</a:t>
            </a:r>
            <a:endParaRPr b="0" lang="ru-RU" sz="2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Повторное использование родительского типа и/или реализации</a:t>
            </a:r>
            <a:endParaRPr b="0" lang="ru-RU" sz="24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Определяется статически</a:t>
            </a:r>
            <a:endParaRPr b="0" lang="ru-RU" sz="24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Нарушает инкапсуляцию</a:t>
            </a:r>
            <a:endParaRPr b="0" lang="ru-RU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Композиция</a:t>
            </a:r>
            <a:endParaRPr b="0" lang="ru-RU" sz="2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Повторное использование кода используемых классов</a:t>
            </a:r>
            <a:endParaRPr b="0" lang="ru-RU" sz="24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Определяется динамически</a:t>
            </a:r>
            <a:endParaRPr b="0" lang="ru-RU" sz="24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Решение представляет собой совокупность взаимодействующих объектов и может быть изменено путём замены объекта</a:t>
            </a:r>
            <a:endParaRPr b="0" lang="ru-RU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Шаблоны</a:t>
            </a:r>
            <a:endParaRPr b="0" lang="ru-RU" sz="28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Повторное использование реализации с частичным нарушением типа</a:t>
            </a:r>
            <a:endParaRPr b="0" lang="ru-RU" sz="24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Определяется статически</a:t>
            </a:r>
            <a:endParaRPr b="0" lang="ru-RU" sz="24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Типы и объекты требуют спецификации типов-параметров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1B6F1B74-BD23-4AC3-800E-D4BD681668FB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15</a:t>
            </a:fld>
            <a:endParaRPr b="0" lang="ru-RU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706040" y="691920"/>
            <a:ext cx="680400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50000"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Предлагается следующая общая классификация паттернов </a:t>
            </a:r>
            <a:r>
              <a:rPr b="1" lang="ru-RU" sz="4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по категориям их применения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br>
              <a:rPr sz="4400"/>
            </a:br>
            <a:endParaRPr b="0" lang="ru-RU" sz="4400" spc="-1" strike="noStrike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1654920" y="2201400"/>
            <a:ext cx="6804000" cy="37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Архитектурные паттерны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проектирования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анализа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тестирования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реализации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1706040" y="691920"/>
            <a:ext cx="680400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50000"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Предлагается следующая общая классификация паттернов </a:t>
            </a:r>
            <a:r>
              <a:rPr b="1" lang="ru-RU" sz="4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по категориям их применения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br>
              <a:rPr sz="4400"/>
            </a:br>
            <a:endParaRPr b="0" lang="ru-RU" sz="4400" spc="-1" strike="noStrike"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1706040" y="2289600"/>
            <a:ext cx="5937480" cy="256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Архитектурные паттерны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проектирования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анализа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тестирования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реализации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504000" y="37224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8000"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Что такое паттерны (шаблоны) проектирования?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504000" y="158256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Эффективные способы решения характерных задач проектирования</a:t>
            </a:r>
            <a:endParaRPr b="0" lang="ru-RU" sz="232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Обобщенное описание решения задачи, которое можно использовать в различных ситуациях</a:t>
            </a:r>
            <a:endParaRPr b="0" lang="ru-RU" sz="232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ОО паттерны проектирования часто показывают отношения и взаимодействия между классами и объектами</a:t>
            </a:r>
            <a:endParaRPr b="0" lang="ru-RU" sz="232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Алгоритмы не являются паттернами, т.к. решают задачу вычисления</a:t>
            </a:r>
            <a:r>
              <a:rPr b="0" lang="en-US" sz="1979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 а не программирования</a:t>
            </a:r>
            <a:endParaRPr b="0" lang="ru-RU" sz="197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Польза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Каждый паттерн описывает решение целого класса проблем</a:t>
            </a:r>
            <a:endParaRPr b="0" lang="ru-RU" sz="232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Каждый паттерн имеет известное имя</a:t>
            </a:r>
            <a:endParaRPr b="0" lang="ru-RU" sz="232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облегчается взаимодействие между разработчиками</a:t>
            </a:r>
            <a:endParaRPr b="0" lang="ru-RU" sz="1979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Правильно сформулированный паттерн проектирования позволяет, отыскав удачное решение, пользоваться им снова и снова</a:t>
            </a:r>
            <a:endParaRPr b="0" lang="ru-RU" sz="1979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Шаблоны проектирования не зависят от языка программирования, в отличие от идиом</a:t>
            </a:r>
            <a:endParaRPr b="0" lang="ru-RU" sz="23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A7F332B3-926C-4509-98DB-44412FC4EF10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18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Фреймворки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7000"/>
          </a:bodyPr>
          <a:p>
            <a:pPr marL="228600" indent="-228600">
              <a:lnSpc>
                <a:spcPct val="90000"/>
              </a:lnSpc>
              <a:spcBef>
                <a:spcPts val="1488"/>
              </a:spcBef>
              <a:buClr>
                <a:srgbClr val="4f81bd"/>
              </a:buClr>
              <a:buFont typeface="Arial"/>
              <a:buChar char="•"/>
            </a:pPr>
            <a:r>
              <a:rPr b="1" lang="ru-RU" sz="1979" spc="-1" strike="noStrike">
                <a:solidFill>
                  <a:srgbClr val="4f81bd"/>
                </a:solidFill>
                <a:latin typeface="Arial"/>
                <a:ea typeface="DejaVu Sans"/>
              </a:rPr>
              <a:t>Фреймворк (</a:t>
            </a:r>
            <a:r>
              <a:rPr b="1" lang="en-US" sz="1979" spc="-1" strike="noStrike">
                <a:solidFill>
                  <a:srgbClr val="4f81bd"/>
                </a:solidFill>
                <a:latin typeface="Arial"/>
                <a:ea typeface="DejaVu Sans"/>
              </a:rPr>
              <a:t>Framework</a:t>
            </a:r>
            <a:r>
              <a:rPr b="1" lang="ru-RU" sz="1979" spc="-1" strike="noStrike">
                <a:solidFill>
                  <a:srgbClr val="4f81bd"/>
                </a:solidFill>
                <a:latin typeface="Arial"/>
                <a:ea typeface="DejaVu Sans"/>
              </a:rPr>
              <a:t>, каркас</a:t>
            </a:r>
            <a:r>
              <a:rPr b="1" lang="en-US" sz="1979" spc="-1" strike="noStrike">
                <a:solidFill>
                  <a:srgbClr val="4f81bd"/>
                </a:solidFill>
                <a:latin typeface="Arial"/>
                <a:ea typeface="DejaVu Sans"/>
              </a:rPr>
              <a:t>)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 – это набор взаимодействующих классов, составляющих повторно используемое проектное решение для конкретного класса программ</a:t>
            </a:r>
            <a:endParaRPr b="0" lang="ru-RU" sz="1979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Диктует определенную структуру приложения или модуля</a:t>
            </a:r>
            <a:endParaRPr b="0" lang="ru-RU" sz="1979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Определяет общую структуру,</a:t>
            </a:r>
            <a:br>
              <a:rPr sz="198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 ее разделение на классы </a:t>
            </a:r>
            <a:br>
              <a:rPr sz="198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и объекты, основные </a:t>
            </a:r>
            <a:br>
              <a:rPr sz="198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функции тех и других, </a:t>
            </a:r>
            <a:br>
              <a:rPr sz="198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методы взаимодействия </a:t>
            </a:r>
            <a:br>
              <a:rPr sz="198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потоков и классов, потоки </a:t>
            </a:r>
            <a:br>
              <a:rPr sz="198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управления</a:t>
            </a:r>
            <a:endParaRPr b="0" lang="ru-RU" sz="1979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09987EB-45A1-4A15-AD73-705699FF8537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Фреймворки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vs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28600" indent="-228600">
              <a:lnSpc>
                <a:spcPct val="90000"/>
              </a:lnSpc>
              <a:spcBef>
                <a:spcPts val="264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проектирования более абстрактны, чем фреймворки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264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Как архитектурные элементы паттерны проектирования мельче, чем фреймворки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264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проектирования менее специализированны, чем фреймворки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Описания паттернов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3000"/>
          </a:bodyPr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GoF</a:t>
            </a:r>
            <a:br>
              <a:rPr sz="2800"/>
            </a:br>
            <a:r>
              <a:rPr b="0" lang="en-US" sz="2150" spc="-1" strike="noStrike">
                <a:solidFill>
                  <a:srgbClr val="000000"/>
                </a:solidFill>
                <a:latin typeface="Arial"/>
                <a:ea typeface="DejaVu Sans"/>
              </a:rPr>
              <a:t>Erich Gamma, Richard Helm, Ralph Johnson, and John Vlissides (1995). Design Patterns: Elements of Reusable Object-Oriented Software</a:t>
            </a:r>
            <a:endParaRPr b="0" lang="ru-RU" sz="215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POSA1</a:t>
            </a:r>
            <a:br>
              <a:rPr sz="2800"/>
            </a:br>
            <a:r>
              <a:rPr b="0" lang="en-US" sz="2150" spc="-1" strike="noStrike">
                <a:solidFill>
                  <a:srgbClr val="000000"/>
                </a:solidFill>
                <a:latin typeface="Arial"/>
                <a:ea typeface="DejaVu Sans"/>
              </a:rPr>
              <a:t>Frank Buschmann, Regine Meunier, Hans Rohnert, Peter Sommerlad (1996). Pattern-Oriented Software Architecture, Volume 1: A System of Patterns</a:t>
            </a:r>
            <a:endParaRPr b="0" lang="ru-RU" sz="215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POSA2</a:t>
            </a:r>
            <a:br>
              <a:rPr sz="2800"/>
            </a:br>
            <a:r>
              <a:rPr b="0" lang="en-US" sz="2150" spc="-1" strike="noStrike">
                <a:solidFill>
                  <a:srgbClr val="000000"/>
                </a:solidFill>
                <a:latin typeface="Arial"/>
                <a:ea typeface="DejaVu Sans"/>
              </a:rPr>
              <a:t>Douglas Schmidt, Michael Stal, Hans Rohnert, Frank Buschmann (2000). Pattern-Oriented Software Architecture, Volume 2: Patterns for Concurrent and Networked Objects</a:t>
            </a:r>
            <a:endParaRPr b="0" lang="ru-RU" sz="215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PoEAA</a:t>
            </a:r>
            <a:br>
              <a:rPr sz="2800"/>
            </a:br>
            <a:r>
              <a:rPr b="0" lang="en-US" sz="2150" spc="-1" strike="noStrike">
                <a:solidFill>
                  <a:srgbClr val="000000"/>
                </a:solidFill>
                <a:latin typeface="Arial"/>
                <a:ea typeface="DejaVu Sans"/>
              </a:rPr>
              <a:t>Martin Fowler (2002). Patterns of Enterprise Application Architecture</a:t>
            </a:r>
            <a:endParaRPr b="0" lang="ru-RU" sz="215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…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8F8BB97-05BD-4D7F-9F95-DE4483777CA0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22</a:t>
            </a:fld>
            <a:endParaRPr b="0" lang="ru-RU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Принципы ООП проектирования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Инкапсулируйте, что меняется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Отдавайте композиции предпочтение перед наследованием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Программируйте на уровне интерфейсов, а не реализации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Композиция и делегирование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class Main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def method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@object.method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end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end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Интерфейс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Интерфейс - программная/синтаксическая структура, определяющая отношение между объектами, которые разделяют определённое поведенческое множество и не связаны никак иначе. При проектировании классов, разработка интерфейса тождественна разработке спецификации (множества методов, которые каждый класс, использующий интерфейс, </a:t>
            </a:r>
            <a:r>
              <a:rPr b="0" i="1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должен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 реализовывать).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Интерфейс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В интерфейсе есть только объявления методов.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Можно наследоваться от нескольких интерфейсов.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Класс реализует интерфейс.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Интерфейс способ реализации принципа полиморфизма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Интерфейс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Интерфейсы есть: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Java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JavaScript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PHP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C#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В С++ их нет)))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В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RUBY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их нет)))))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2488680" y="708840"/>
            <a:ext cx="510264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8000"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Классификация паттернов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3030840" y="1900440"/>
            <a:ext cx="5104800" cy="22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36160" indent="-23616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Порождающие </a:t>
            </a:r>
            <a:r>
              <a:rPr b="1" lang="en-US" sz="2320" spc="-1" strike="noStrike">
                <a:solidFill>
                  <a:srgbClr val="000000"/>
                </a:solidFill>
                <a:latin typeface="Arial"/>
                <a:ea typeface="DejaVu Sans"/>
              </a:rPr>
              <a:t>(Creational)</a:t>
            </a:r>
            <a:endParaRPr b="0" lang="ru-RU" sz="2320" spc="-1" strike="noStrike">
              <a:latin typeface="Arial"/>
            </a:endParaRPr>
          </a:p>
          <a:p>
            <a:pPr marL="236160" indent="-23616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Структурные (</a:t>
            </a:r>
            <a:r>
              <a:rPr b="1" lang="en-US" sz="2320" spc="-1" strike="noStrike">
                <a:solidFill>
                  <a:srgbClr val="000000"/>
                </a:solidFill>
                <a:latin typeface="Arial"/>
                <a:ea typeface="DejaVu Sans"/>
              </a:rPr>
              <a:t>Structural</a:t>
            </a:r>
            <a:r>
              <a:rPr b="1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ru-RU" sz="2320" spc="-1" strike="noStrike">
              <a:latin typeface="Arial"/>
            </a:endParaRPr>
          </a:p>
          <a:p>
            <a:pPr marL="236160" indent="-23616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Поведенческие </a:t>
            </a:r>
            <a:r>
              <a:rPr b="1" lang="en-US" sz="2320" spc="-1" strike="noStrike">
                <a:solidFill>
                  <a:srgbClr val="000000"/>
                </a:solidFill>
                <a:latin typeface="Arial"/>
                <a:ea typeface="DejaVu Sans"/>
              </a:rPr>
              <a:t>(Behavioral) </a:t>
            </a:r>
            <a:r>
              <a:rPr b="0" lang="en-US" sz="2320" spc="-1" strike="noStrike">
                <a:solidFill>
                  <a:srgbClr val="000000"/>
                </a:solidFill>
                <a:latin typeface="Arial"/>
                <a:ea typeface="DejaVu Sans"/>
              </a:rPr>
              <a:t> </a:t>
            </a:r>
            <a:endParaRPr b="0" lang="ru-RU" sz="23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75B33A63-EB87-4C64-ACA4-252DF4A49CF6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28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Порождающие паттерны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28600" indent="-228600">
              <a:lnSpc>
                <a:spcPct val="90000"/>
              </a:lnSpc>
              <a:spcBef>
                <a:spcPts val="2316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4f81bd"/>
                </a:solidFill>
                <a:latin typeface="Arial"/>
                <a:ea typeface="DejaVu Sans"/>
              </a:rPr>
              <a:t>Abstract Factory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– Абстрактная фабрика 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2316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4f81bd"/>
                </a:solidFill>
                <a:latin typeface="Arial"/>
                <a:ea typeface="DejaVu Sans"/>
              </a:rPr>
              <a:t>Builder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– Строитель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2316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4f81bd"/>
                </a:solidFill>
                <a:latin typeface="Arial"/>
                <a:ea typeface="DejaVu Sans"/>
              </a:rPr>
              <a:t>Factory Method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– Фабричный метод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2316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4f81bd"/>
                </a:solidFill>
                <a:latin typeface="Arial"/>
                <a:ea typeface="DejaVu Sans"/>
              </a:rPr>
              <a:t>Prototype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– Прототип</a:t>
            </a:r>
            <a:endParaRPr b="0" lang="ru-RU" sz="28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2316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4f81bd"/>
                </a:solidFill>
                <a:latin typeface="Arial"/>
                <a:ea typeface="DejaVu Sans"/>
              </a:rPr>
              <a:t>Singleton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Одиночка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Num" idx="16"/>
          </p:nvPr>
        </p:nvSpPr>
        <p:spPr>
          <a:xfrm>
            <a:off x="7689960" y="5216400"/>
            <a:ext cx="2351520" cy="3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B76FBB7C-7A9A-4CB6-BB73-7D397C2B7107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title"/>
          </p:nvPr>
        </p:nvSpPr>
        <p:spPr>
          <a:xfrm>
            <a:off x="197640" y="0"/>
            <a:ext cx="9678960" cy="112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Структурные паттерны</a:t>
            </a:r>
            <a:endParaRPr b="0" lang="ru-RU" sz="4400" spc="-1" strike="noStrike">
              <a:latin typeface="Arial"/>
            </a:endParaRPr>
          </a:p>
        </p:txBody>
      </p:sp>
      <p:graphicFrame>
        <p:nvGraphicFramePr>
          <p:cNvPr id="414" name="Group 31"/>
          <p:cNvGraphicFramePr/>
          <p:nvPr/>
        </p:nvGraphicFramePr>
        <p:xfrm>
          <a:off x="1408320" y="1353240"/>
          <a:ext cx="7259400" cy="3817080"/>
        </p:xfrm>
        <a:graphic>
          <a:graphicData uri="http://schemas.openxmlformats.org/drawingml/2006/table">
            <a:tbl>
              <a:tblPr/>
              <a:tblGrid>
                <a:gridCol w="1782360"/>
                <a:gridCol w="5477400"/>
              </a:tblGrid>
              <a:tr h="5292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Adapter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Адаптер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Изменение интерфейса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92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Bridge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Мост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Разделение реализации объекта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92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Composite </a:t>
                      </a: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Компоновщик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Сложная структура и состав объекта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796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Decorator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Декоратор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Изменение обязанностей объекта без порождения подкласса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92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Facade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Фасад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Интерфейс к подсистеме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052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Flyweight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Приспособленец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Снижение накладных расходов на хранение объектов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052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Proxy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Заместитель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Способ доступа к объекту, смена его местоположения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Num" idx="17"/>
          </p:nvPr>
        </p:nvSpPr>
        <p:spPr>
          <a:xfrm>
            <a:off x="7689960" y="5216400"/>
            <a:ext cx="2351520" cy="3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3C082C70-8DB2-4BF2-A40F-615CE70FC714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title"/>
          </p:nvPr>
        </p:nvSpPr>
        <p:spPr>
          <a:xfrm>
            <a:off x="197640" y="0"/>
            <a:ext cx="9678960" cy="112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поведения</a:t>
            </a:r>
            <a:endParaRPr b="0" lang="ru-RU" sz="4400" spc="-1" strike="noStrike">
              <a:latin typeface="Arial"/>
            </a:endParaRPr>
          </a:p>
        </p:txBody>
      </p:sp>
      <p:graphicFrame>
        <p:nvGraphicFramePr>
          <p:cNvPr id="417" name="Group 4"/>
          <p:cNvGraphicFramePr/>
          <p:nvPr/>
        </p:nvGraphicFramePr>
        <p:xfrm>
          <a:off x="1408320" y="1353240"/>
          <a:ext cx="7259400" cy="3703680"/>
        </p:xfrm>
        <a:graphic>
          <a:graphicData uri="http://schemas.openxmlformats.org/drawingml/2006/table">
            <a:tbl>
              <a:tblPr/>
              <a:tblGrid>
                <a:gridCol w="1782360"/>
                <a:gridCol w="5477400"/>
              </a:tblGrid>
              <a:tr h="70092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Interpreter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Интерпретатор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Грамматика и интерпретация языка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0092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Iterator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Итератор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Способ обхода элементов агрегата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788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Command </a:t>
                      </a: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Команда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Время и способ выполнения запроса за счет заключения запроса в объект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644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Observer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Наблюдатель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Способ, которым зависимые объекты поддерживают себя в актуальном состоянии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788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Visitor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Посетитель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Операции, которые можно применить к объекту (добавление операций к объектам)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Num" idx="18"/>
          </p:nvPr>
        </p:nvSpPr>
        <p:spPr>
          <a:xfrm>
            <a:off x="7689960" y="5216400"/>
            <a:ext cx="2351520" cy="3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92D8E5F0-9C71-47B9-A8B1-1FF03EA8C662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title"/>
          </p:nvPr>
        </p:nvSpPr>
        <p:spPr>
          <a:xfrm>
            <a:off x="197640" y="0"/>
            <a:ext cx="9678960" cy="112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Паттерны поведения</a:t>
            </a:r>
            <a:endParaRPr b="0" lang="ru-RU" sz="4400" spc="-1" strike="noStrike">
              <a:latin typeface="Arial"/>
            </a:endParaRPr>
          </a:p>
        </p:txBody>
      </p:sp>
      <p:graphicFrame>
        <p:nvGraphicFramePr>
          <p:cNvPr id="420" name="Group 28"/>
          <p:cNvGraphicFramePr/>
          <p:nvPr/>
        </p:nvGraphicFramePr>
        <p:xfrm>
          <a:off x="1408320" y="1353240"/>
          <a:ext cx="7259400" cy="3723840"/>
        </p:xfrm>
        <a:graphic>
          <a:graphicData uri="http://schemas.openxmlformats.org/drawingml/2006/table">
            <a:tbl>
              <a:tblPr/>
              <a:tblGrid>
                <a:gridCol w="2084400"/>
                <a:gridCol w="5175360"/>
              </a:tblGrid>
              <a:tr h="5796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Mediator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Посредник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Способ кооперации взаимодействующих объектов через промежуточный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796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State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Состояние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Варьирование поведения объекта в зависимости от его состояния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796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Strategy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Стратегия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Заключение алгоритма в объект, возможность замены алгоритмов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796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Memento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Хранитель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Закрытая информация, хранящаяся вне объекта, и время ее сохранения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8766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Chain of Responsibility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Цепочка обязанностей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Набор объектов, выполняющих запрос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9200"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4f81bd"/>
                          </a:solidFill>
                          <a:latin typeface="Arial"/>
                          <a:ea typeface="DejaVu Sans"/>
                        </a:rPr>
                        <a:t>Template Method</a:t>
                      </a:r>
                      <a:br>
                        <a:rPr sz="1700"/>
                      </a:br>
                      <a:r>
                        <a:rPr b="0" lang="ru-RU" sz="13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Шаблонный метод</a:t>
                      </a:r>
                      <a:endParaRPr b="0" lang="ru-RU" sz="1300" spc="-1" strike="noStrike">
                        <a:latin typeface="Arial"/>
                      </a:endParaRPr>
                    </a:p>
                  </a:txBody>
                  <a:tcPr anchor="t" marL="75600" marR="7560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75600" rIns="756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  <a:buNone/>
                        <a:tabLst>
                          <a:tab algn="l" pos="0"/>
                        </a:tabLst>
                      </a:pPr>
                      <a:r>
                        <a:rPr b="0" lang="ru-RU" sz="17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Выделение в абстракцию шагов алгоритма</a:t>
                      </a:r>
                      <a:endParaRPr b="0" lang="ru-RU" sz="1700" spc="-1" strike="noStrike">
                        <a:latin typeface="Arial"/>
                      </a:endParaRPr>
                    </a:p>
                  </a:txBody>
                  <a:tcPr anchor="t" marL="75600" marR="7560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Shape 9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28BFF126-6444-4EFD-BE03-48DFD2C2EA5B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22" name="TextShape 10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Singleton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23" name="TextShape 11"/>
          <p:cNvSpPr/>
          <p:nvPr/>
        </p:nvSpPr>
        <p:spPr>
          <a:xfrm>
            <a:off x="1408320" y="1353240"/>
            <a:ext cx="7259040" cy="38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5000"/>
          </a:bodyPr>
          <a:p>
            <a:pPr marL="283680" indent="-283320">
              <a:lnSpc>
                <a:spcPct val="85000"/>
              </a:lnSpc>
              <a:spcBef>
                <a:spcPts val="465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Название и классификация</a:t>
            </a:r>
            <a:br>
              <a:rPr sz="1490"/>
            </a:b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Одиночка – паттерн, порождающий объекты</a:t>
            </a:r>
            <a:endParaRPr b="0" lang="ru-RU" sz="1979" spc="-1" strike="noStrike">
              <a:latin typeface="Arial"/>
            </a:endParaRPr>
          </a:p>
          <a:p>
            <a:pPr marL="283680" indent="-28332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Назначение</a:t>
            </a:r>
            <a:br>
              <a:rPr sz="1490"/>
            </a:b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Гарантирует, что у класса есть только один</a:t>
            </a:r>
            <a:br>
              <a:rPr sz="1490"/>
            </a:b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экземпляр, и предоставляет к нему </a:t>
            </a:r>
            <a:br>
              <a:rPr sz="1490"/>
            </a:b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глобальную точку доступа</a:t>
            </a:r>
            <a:endParaRPr b="0" lang="ru-RU" sz="1979" spc="-1" strike="noStrike">
              <a:latin typeface="Arial"/>
            </a:endParaRPr>
          </a:p>
          <a:p>
            <a:pPr marL="283680" indent="-28332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Применимость</a:t>
            </a:r>
            <a:endParaRPr b="0" lang="ru-RU" sz="2320" spc="-1" strike="noStrike">
              <a:latin typeface="Arial"/>
            </a:endParaRPr>
          </a:p>
          <a:p>
            <a:pPr lvl="1" marL="614520" indent="-23616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Должен быть ровно один экземпляр некоторого класса, легко доступный всем клиентам</a:t>
            </a:r>
            <a:endParaRPr b="0" lang="ru-RU" sz="1979" spc="-1" strike="noStrike">
              <a:latin typeface="Arial"/>
            </a:endParaRPr>
          </a:p>
          <a:p>
            <a:pPr lvl="1" marL="614520" indent="-23616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Единственный экземпляр должен расширяться путем порождения подклассов, и клиентам нужно иметь возможность работать с расширенным экземпляром без модификации своего кода</a:t>
            </a:r>
            <a:endParaRPr b="0" lang="ru-RU" sz="1979" spc="-1" strike="noStrike">
              <a:latin typeface="Arial"/>
            </a:endParaRPr>
          </a:p>
        </p:txBody>
      </p:sp>
      <p:pic>
        <p:nvPicPr>
          <p:cNvPr id="424" name="Рисунок 1" descr=""/>
          <p:cNvPicPr/>
          <p:nvPr/>
        </p:nvPicPr>
        <p:blipFill>
          <a:blip r:embed="rId1"/>
          <a:stretch/>
        </p:blipFill>
        <p:spPr>
          <a:xfrm>
            <a:off x="7097760" y="1287000"/>
            <a:ext cx="1606680" cy="160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Shape 12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3ACCA85A-A6C1-4819-A00B-6E46A33B2FF8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26" name="TextShape 13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Singleton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27" name="TextShape 14"/>
          <p:cNvSpPr/>
          <p:nvPr/>
        </p:nvSpPr>
        <p:spPr>
          <a:xfrm>
            <a:off x="1638000" y="1323000"/>
            <a:ext cx="68036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3680" indent="-283320">
              <a:lnSpc>
                <a:spcPct val="100000"/>
              </a:lnSpc>
              <a:spcBef>
                <a:spcPts val="530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640" spc="-1" strike="noStrike">
                <a:solidFill>
                  <a:srgbClr val="4f81bd"/>
                </a:solidFill>
                <a:latin typeface="Calibri"/>
                <a:ea typeface="DejaVu Sans"/>
              </a:rPr>
              <a:t>Структура</a:t>
            </a:r>
            <a:endParaRPr b="0" lang="ru-RU" sz="264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None/>
            </a:pPr>
            <a:endParaRPr b="0" lang="ru-RU" sz="264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None/>
            </a:pPr>
            <a:endParaRPr b="0" lang="ru-RU" sz="264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None/>
            </a:pPr>
            <a:endParaRPr b="0" lang="ru-RU" sz="2640" spc="-1" strike="noStrike">
              <a:latin typeface="Arial"/>
            </a:endParaRPr>
          </a:p>
          <a:p>
            <a:pPr marL="283680" indent="-283320">
              <a:lnSpc>
                <a:spcPct val="100000"/>
              </a:lnSpc>
              <a:spcBef>
                <a:spcPts val="530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640" spc="-1" strike="noStrike">
                <a:solidFill>
                  <a:srgbClr val="4f81bd"/>
                </a:solidFill>
                <a:latin typeface="Calibri"/>
                <a:ea typeface="DejaVu Sans"/>
              </a:rPr>
              <a:t>Участники</a:t>
            </a:r>
            <a:endParaRPr b="0" lang="ru-RU" sz="2640" spc="-1" strike="noStrike">
              <a:latin typeface="Arial"/>
            </a:endParaRPr>
          </a:p>
          <a:p>
            <a:pPr lvl="1" marL="614520" indent="-236160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Singleton – </a:t>
            </a: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одиночка, Определяет операцию </a:t>
            </a:r>
            <a:r>
              <a:rPr b="1" lang="ru-RU" sz="2320" spc="-1" strike="noStrike">
                <a:solidFill>
                  <a:srgbClr val="4f81bd"/>
                </a:solidFill>
                <a:latin typeface="Courier New"/>
                <a:ea typeface="DejaVu Sans"/>
              </a:rPr>
              <a:t>Instance</a:t>
            </a:r>
            <a:r>
              <a:rPr b="1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 </a:t>
            </a: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, которая позволяет клиентам получать доступ к единственному экземпляру</a:t>
            </a:r>
            <a:endParaRPr b="0" lang="ru-RU" sz="2320" spc="-1" strike="noStrike">
              <a:latin typeface="Arial"/>
            </a:endParaRPr>
          </a:p>
        </p:txBody>
      </p:sp>
      <p:pic>
        <p:nvPicPr>
          <p:cNvPr id="428" name="Picture 2" descr="singl014"/>
          <p:cNvPicPr/>
          <p:nvPr/>
        </p:nvPicPr>
        <p:blipFill>
          <a:blip r:embed="rId1"/>
          <a:stretch/>
        </p:blipFill>
        <p:spPr>
          <a:xfrm>
            <a:off x="2828520" y="1810080"/>
            <a:ext cx="4354200" cy="1500840"/>
          </a:xfrm>
          <a:prstGeom prst="rect">
            <a:avLst/>
          </a:prstGeom>
          <a:ln w="936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Shape 15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Singleton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30" name="Picture 1" descr=""/>
          <p:cNvPicPr/>
          <p:nvPr/>
        </p:nvPicPr>
        <p:blipFill>
          <a:blip r:embed="rId1"/>
          <a:stretch/>
        </p:blipFill>
        <p:spPr>
          <a:xfrm>
            <a:off x="1667160" y="1287000"/>
            <a:ext cx="6709320" cy="396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Shape 16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Singleton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32" name="Picture 3" descr=""/>
          <p:cNvPicPr/>
          <p:nvPr/>
        </p:nvPicPr>
        <p:blipFill>
          <a:blip r:embed="rId1"/>
          <a:stretch/>
        </p:blipFill>
        <p:spPr>
          <a:xfrm>
            <a:off x="1667160" y="1287000"/>
            <a:ext cx="6709320" cy="396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Shape 17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Singleton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34" name="Picture 4" descr=""/>
          <p:cNvPicPr/>
          <p:nvPr/>
        </p:nvPicPr>
        <p:blipFill>
          <a:blip r:embed="rId1"/>
          <a:stretch/>
        </p:blipFill>
        <p:spPr>
          <a:xfrm>
            <a:off x="1799280" y="1555560"/>
            <a:ext cx="6480720" cy="255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Shape 18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Singleton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36" name="Picture 5" descr=""/>
          <p:cNvPicPr/>
          <p:nvPr/>
        </p:nvPicPr>
        <p:blipFill>
          <a:blip r:embed="rId1"/>
          <a:stretch/>
        </p:blipFill>
        <p:spPr>
          <a:xfrm>
            <a:off x="1884600" y="1287000"/>
            <a:ext cx="6433200" cy="399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1638000" y="227160"/>
            <a:ext cx="680436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6000"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ectangle 3"/>
          <p:cNvSpPr/>
          <p:nvPr/>
        </p:nvSpPr>
        <p:spPr>
          <a:xfrm>
            <a:off x="1408320" y="1353240"/>
            <a:ext cx="7259760" cy="38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0" rIns="75600" tIns="37800" bIns="37800" anchor="ctr">
            <a:normAutofit fontScale="82000"/>
          </a:bodyPr>
          <a:p>
            <a:pPr marL="343080" indent="-343080">
              <a:lnSpc>
                <a:spcPct val="85000"/>
              </a:lnSpc>
              <a:spcBef>
                <a:spcPts val="46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Название и классификация</a:t>
            </a:r>
            <a:br>
              <a:rPr sz="232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r>
              <a:rPr b="0" lang="en-US" sz="1979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шаблонный метод, </a:t>
            </a:r>
            <a:r>
              <a:rPr b="0" lang="en-US" sz="1979" spc="-1" strike="noStrike">
                <a:solidFill>
                  <a:srgbClr val="000000"/>
                </a:solidFill>
                <a:latin typeface="Arial"/>
                <a:ea typeface="DejaVu Sans"/>
              </a:rPr>
              <a:t>template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 – паттерн, обеспечивающий поведение объектов</a:t>
            </a:r>
            <a:endParaRPr b="0" lang="ru-RU" sz="1979" spc="-1" strike="noStrike">
              <a:latin typeface="Arial"/>
            </a:endParaRPr>
          </a:p>
          <a:p>
            <a:pPr marL="343080" indent="-34308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Назначение</a:t>
            </a:r>
            <a:br>
              <a:rPr sz="2320"/>
            </a:b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Определяет скелет алгоритма, перекладывая ответственность за некоторые его шаги на подклассы. Паттерн позволяет подклассам переопределять шаги алгоритма, не меняя его общей структуры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ru-RU" sz="1979" spc="-1" strike="noStrike">
              <a:latin typeface="Arial"/>
            </a:endParaRPr>
          </a:p>
          <a:p>
            <a:pPr marL="343080" indent="-34308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Применимость</a:t>
            </a:r>
            <a:endParaRPr b="0" lang="ru-RU" sz="2320" spc="-1" strike="noStrike">
              <a:latin typeface="Arial"/>
            </a:endParaRPr>
          </a:p>
          <a:p>
            <a:pPr lvl="1" marL="743040" indent="-28584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Когда подклассы должны расширять базовый алгоритм, не меняя его структуры</a:t>
            </a:r>
            <a:endParaRPr b="0" lang="ru-RU" sz="1979" spc="-1" strike="noStrike">
              <a:latin typeface="Arial"/>
            </a:endParaRPr>
          </a:p>
          <a:p>
            <a:pPr lvl="1" marL="743040" indent="-28584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Когда у вас есть несколько классов, делающих одно и то же с незначительными отличиями. Если вы редактируете один класс, то приходится вносить такие же правки и в остальные классы</a:t>
            </a:r>
            <a:endParaRPr b="0" lang="ru-RU" sz="1979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CB456B0-3BF9-4F64-96BC-6E9B161C582F}" type="slidenum">
              <a:t>39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593180982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39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Определить алгоритм и реализовать возможность переопределения некоторых шагов алгоритма для подклассов (без изменения общей структуры алгоритма.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4269202045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40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АбстрактныйКласс" определяет абстрактные Операции(), замещаемые в конкретных подклассах для реализации шагов алгоритма, и реализует ШаблонныйМетод(), определяющий "скелет" алгоритма. "КонкретныйКласс" релизует Операции(), выполняющие шаги алгоритма способом, который зависит от подкласса. "КонкретныйКласс" предполагает, что инвариантные шаги алгоритма будут выполнены в "АбстрактномКлассе".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2358024952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41" name="Picture 6" descr=""/>
          <p:cNvPicPr/>
          <p:nvPr/>
        </p:nvPicPr>
        <p:blipFill>
          <a:blip r:embed="rId6"/>
          <a:stretch/>
        </p:blipFill>
        <p:spPr>
          <a:xfrm>
            <a:off x="2662920" y="1337040"/>
            <a:ext cx="4754160" cy="371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3" name="Picture 7" descr=""/>
          <p:cNvPicPr/>
          <p:nvPr/>
        </p:nvPicPr>
        <p:blipFill>
          <a:blip r:embed="rId1"/>
          <a:stretch/>
        </p:blipFill>
        <p:spPr>
          <a:xfrm>
            <a:off x="2098800" y="1071000"/>
            <a:ext cx="5882760" cy="4599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10A0D44-7252-4CDA-B8B8-0DAFCCF9FF54}" type="slidenum">
              <a:t>43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5" name="Picture 8" descr=""/>
          <p:cNvPicPr/>
          <p:nvPr/>
        </p:nvPicPr>
        <p:blipFill>
          <a:blip r:embed="rId1"/>
          <a:stretch/>
        </p:blipFill>
        <p:spPr>
          <a:xfrm>
            <a:off x="2027880" y="1362600"/>
            <a:ext cx="6024600" cy="2945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0E56179-EBB9-4ECF-96ED-C03F8DA2EECA}" type="slidenum">
              <a:t>44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  <Words>1162</Words>
  <Paragraphs>204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2021-01-19T18:14:00Z</dcterms:created>
  <dc:creator>Жук Арсений Сергеевич</dc:creator>
  <dc:description/>
  <dc:language>ru-RU</dc:language>
  <cp:lastModifiedBy/>
  <dcterms:modified xsi:type="dcterms:W3CDTF">2024-09-20T13:54:55Z</dcterms:modified>
  <cp:revision>41</cp:revision>
  <dc:subject/>
  <dc:title>Classy Red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ICV">
    <vt:lpwstr>7450A538B59F47B28A9C5A9612727B88</vt:lpwstr>
  </property>
  <property fmtid="{D5CDD505-2E9C-101B-9397-08002B2CF9AE}" pid="5" name="KSOProductBuildVer">
    <vt:lpwstr>1049-11.2.0.10443</vt:lpwstr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Произвольный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47</vt:i4>
  </property>
</Properties>
</file>